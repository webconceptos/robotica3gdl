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60" r:id="rId5"/>
    <p:sldId id="259" r:id="rId6"/>
    <p:sldId id="262" r:id="rId7"/>
    <p:sldId id="263" r:id="rId8"/>
    <p:sldId id="271" r:id="rId9"/>
    <p:sldId id="264" r:id="rId10"/>
    <p:sldId id="272" r:id="rId11"/>
    <p:sldId id="265" r:id="rId12"/>
    <p:sldId id="266" r:id="rId13"/>
    <p:sldId id="267" r:id="rId14"/>
    <p:sldId id="273" r:id="rId15"/>
    <p:sldId id="268" r:id="rId16"/>
    <p:sldId id="279" r:id="rId17"/>
    <p:sldId id="269" r:id="rId18"/>
    <p:sldId id="275" r:id="rId19"/>
    <p:sldId id="276" r:id="rId20"/>
    <p:sldId id="277" r:id="rId21"/>
    <p:sldId id="278" r:id="rId22"/>
    <p:sldId id="274" r:id="rId23"/>
    <p:sldId id="261" r:id="rId24"/>
    <p:sldId id="280" r:id="rId25"/>
    <p:sldId id="281" r:id="rId26"/>
    <p:sldId id="282" r:id="rId27"/>
    <p:sldId id="270"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0810"/>
    <a:srgbClr val="7109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149" autoAdjust="0"/>
  </p:normalViewPr>
  <p:slideViewPr>
    <p:cSldViewPr snapToGrid="0" snapToObjects="1">
      <p:cViewPr varScale="1">
        <p:scale>
          <a:sx n="60" d="100"/>
          <a:sy n="60" d="100"/>
        </p:scale>
        <p:origin x="12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4051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1, ~30 s):</a:t>
            </a:r>
          </a:p>
          <a:p>
            <a:r>
              <a:t>"Buenas tardes, profesor. Somos el Grupo 2 de la Maestría en Inteligencia Artificial. Hoy presentamos el control de un robot antropomórfico de 3 grados de libertad: partimos de la cinemática que desarrollamos en el trabajo parcial y la extendimos a un modelo dinámico completo -obtenido por Jacobianos-, tres controladores articulares implementados en Simulink, y una capa de planeación autónoma con obstáculos. La exposición va en cuatro bloques cronológicos, uno por etapa del trabajo; yo abro y también cierro."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1, ~30 s):</a:t>
            </a:r>
          </a:p>
          <a:p>
            <a:r>
              <a:t>"El guion tiene cuatro bloques. En el primero cuento de dónde partimos y planteo las tres preguntas que estructuran todo el trabajo. En el segundo, Expositor 2 deriva el modelo dinámico completo: matriz de inercia, Coriolis y gravedad. En el tercero, Expositor 3 presenta los tres controladores, su justificación de estabilidad y los resultados. Y yo cierro en el cuarto bloque con la planeación autónoma con obstáculos y las conclusiones. El turno de preguntas se atiende por bloque."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1, ~15 s):</a:t>
            </a:r>
          </a:p>
          <a:p>
            <a:r>
              <a:t>"Empecemos por el punto de partida y la motivación del trabajo."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1, ~65 s):</a:t>
            </a:r>
          </a:p>
          <a:p>
            <a:r>
              <a:t>"Es importante dejar claro qué heredamos del trabajo parcial y qué es nuevo. A la izquierda, lo que no tocamos: cinemática directa e inversa por parámetros Denavit-Hartenberg, el Jacobiano translacional del efector, el análisis de singularidades, y la geometría del robot. A la derecha, en granate, lo que agregamos para el trabajo final: centros de masa y Jacobianos por eslabón, la matriz de inercia, Coriolis, gravedad, los tres controladores dinámicos en Simulink, y la planeación autónoma con A*. No destruimos la base del parcial: la extendimos."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1, ~80 s):</a:t>
            </a:r>
          </a:p>
          <a:p>
            <a:r>
              <a:t>"El problema central es este: no basta con que el brazo llegue a una posición, tiene que seguir una trayectoria compensando su propia dinámica -inercia, fuerzas de Coriolis y gravedad- con precisión, estabilidad y un torque razonable. Lo resolvemos sobre un robot antropomórfico de 3 grados de libertad, con la misma geometría y los mismos parámetros físicos del paper de Ashagrie y colegas, 2021, el mismo paper del trabajo parcial. Todo el trabajo responde a tres preguntas: ¿cómo derivamos la dinámica sin el lagrangiano? Solo con Jacobianos y coeficientes de Christoffel. ¿Qué controlador es mejor: PID no lineal, PD precompensado, o par calculado? Y ¿cómo integramos una planeación autónoma que evite obstáculos? Estas tres preguntas se responden en los siguientes tres bloques. Con esto cierro esta primera parte."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dirty="0"/>
              <a:t>GUION (Expositor 2, ~15 s):</a:t>
            </a:r>
          </a:p>
          <a:p>
            <a:r>
              <a:rPr dirty="0"/>
              <a:t>"Gracias. </a:t>
            </a:r>
            <a:r>
              <a:rPr dirty="0" err="1"/>
              <a:t>Entro</a:t>
            </a:r>
            <a:r>
              <a:rPr dirty="0"/>
              <a:t> </a:t>
            </a:r>
            <a:r>
              <a:rPr dirty="0" err="1"/>
              <a:t>yo</a:t>
            </a:r>
            <a:r>
              <a:rPr dirty="0"/>
              <a:t> con el </a:t>
            </a:r>
            <a:r>
              <a:rPr dirty="0" err="1"/>
              <a:t>modelo</a:t>
            </a:r>
            <a:r>
              <a:rPr dirty="0"/>
              <a:t> </a:t>
            </a:r>
            <a:r>
              <a:rPr dirty="0" err="1"/>
              <a:t>dinámico</a:t>
            </a:r>
            <a:r>
              <a:rPr dirty="0"/>
              <a:t> del robot. Punto clave </a:t>
            </a:r>
            <a:r>
              <a:rPr dirty="0" err="1"/>
              <a:t>desde</a:t>
            </a:r>
            <a:r>
              <a:rPr dirty="0"/>
              <a:t> </a:t>
            </a:r>
            <a:r>
              <a:rPr dirty="0" err="1"/>
              <a:t>ya</a:t>
            </a:r>
            <a:r>
              <a:rPr dirty="0"/>
              <a:t>: </a:t>
            </a:r>
            <a:r>
              <a:rPr dirty="0" err="1"/>
              <a:t>este</a:t>
            </a:r>
            <a:r>
              <a:rPr dirty="0"/>
              <a:t> </a:t>
            </a:r>
            <a:r>
              <a:rPr dirty="0" err="1"/>
              <a:t>modelo</a:t>
            </a:r>
            <a:r>
              <a:rPr dirty="0"/>
              <a:t> NO se </a:t>
            </a:r>
            <a:r>
              <a:rPr dirty="0" err="1"/>
              <a:t>deriva</a:t>
            </a:r>
            <a:r>
              <a:rPr dirty="0"/>
              <a:t> con el </a:t>
            </a:r>
            <a:r>
              <a:rPr dirty="0" err="1"/>
              <a:t>lagrangiano</a:t>
            </a:r>
            <a:r>
              <a:rPr dirty="0"/>
              <a:t>, </a:t>
            </a:r>
            <a:r>
              <a:rPr dirty="0" err="1"/>
              <a:t>sino</a:t>
            </a:r>
            <a:r>
              <a:rPr dirty="0"/>
              <a:t> con </a:t>
            </a:r>
            <a:r>
              <a:rPr dirty="0" err="1"/>
              <a:t>Jacobianos</a:t>
            </a:r>
            <a:r>
              <a:rPr dirty="0"/>
              <a:t> y </a:t>
            </a:r>
            <a:r>
              <a:rPr dirty="0" err="1"/>
              <a:t>coeficientes</a:t>
            </a:r>
            <a:r>
              <a:rPr dirty="0"/>
              <a:t> de Christoffel, </a:t>
            </a:r>
            <a:r>
              <a:rPr dirty="0" err="1"/>
              <a:t>tal</a:t>
            </a:r>
            <a:r>
              <a:rPr dirty="0"/>
              <a:t> como </a:t>
            </a:r>
            <a:r>
              <a:rPr dirty="0" err="1"/>
              <a:t>pidió</a:t>
            </a:r>
            <a:r>
              <a:rPr dirty="0"/>
              <a:t> el </a:t>
            </a:r>
            <a:r>
              <a:rPr dirty="0" err="1"/>
              <a:t>docente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dirty="0"/>
              <a:t>GUION (Expositor 2, ~90 s):</a:t>
            </a:r>
          </a:p>
          <a:p>
            <a:r>
              <a:rPr dirty="0"/>
              <a:t>"La </a:t>
            </a:r>
            <a:r>
              <a:rPr dirty="0" err="1"/>
              <a:t>energía</a:t>
            </a:r>
            <a:r>
              <a:rPr dirty="0"/>
              <a:t> </a:t>
            </a:r>
            <a:r>
              <a:rPr dirty="0" err="1"/>
              <a:t>cinética</a:t>
            </a:r>
            <a:r>
              <a:rPr dirty="0"/>
              <a:t> del robot se </a:t>
            </a:r>
            <a:r>
              <a:rPr dirty="0" err="1"/>
              <a:t>expresa</a:t>
            </a:r>
            <a:r>
              <a:rPr dirty="0"/>
              <a:t> </a:t>
            </a:r>
            <a:r>
              <a:rPr dirty="0" err="1"/>
              <a:t>mediante</a:t>
            </a:r>
            <a:r>
              <a:rPr dirty="0"/>
              <a:t> </a:t>
            </a:r>
            <a:r>
              <a:rPr dirty="0" err="1"/>
              <a:t>los</a:t>
            </a:r>
            <a:r>
              <a:rPr dirty="0"/>
              <a:t> </a:t>
            </a:r>
            <a:r>
              <a:rPr dirty="0" err="1"/>
              <a:t>Jacobianos</a:t>
            </a:r>
            <a:r>
              <a:rPr dirty="0"/>
              <a:t> </a:t>
            </a:r>
            <a:r>
              <a:rPr dirty="0" err="1"/>
              <a:t>lineales</a:t>
            </a:r>
            <a:r>
              <a:rPr dirty="0"/>
              <a:t> y </a:t>
            </a:r>
            <a:r>
              <a:rPr dirty="0" err="1"/>
              <a:t>angulares</a:t>
            </a:r>
            <a:r>
              <a:rPr dirty="0"/>
              <a:t> del </a:t>
            </a:r>
            <a:r>
              <a:rPr dirty="0" err="1"/>
              <a:t>centro</a:t>
            </a:r>
            <a:r>
              <a:rPr dirty="0"/>
              <a:t> de masa de </a:t>
            </a:r>
            <a:r>
              <a:rPr dirty="0" err="1"/>
              <a:t>cada</a:t>
            </a:r>
            <a:r>
              <a:rPr dirty="0"/>
              <a:t> </a:t>
            </a:r>
            <a:r>
              <a:rPr dirty="0" err="1"/>
              <a:t>eslabón</a:t>
            </a:r>
            <a:r>
              <a:rPr dirty="0"/>
              <a:t>, y de ahí sale la </a:t>
            </a:r>
            <a:r>
              <a:rPr dirty="0" err="1"/>
              <a:t>matriz</a:t>
            </a:r>
            <a:r>
              <a:rPr dirty="0"/>
              <a:t> de </a:t>
            </a:r>
            <a:r>
              <a:rPr dirty="0" err="1"/>
              <a:t>inercia</a:t>
            </a:r>
            <a:r>
              <a:rPr dirty="0"/>
              <a:t> M(q): la </a:t>
            </a:r>
            <a:r>
              <a:rPr dirty="0" err="1"/>
              <a:t>suma</a:t>
            </a:r>
            <a:r>
              <a:rPr dirty="0"/>
              <a:t>, por </a:t>
            </a:r>
            <a:r>
              <a:rPr dirty="0" err="1"/>
              <a:t>cada</a:t>
            </a:r>
            <a:r>
              <a:rPr dirty="0"/>
              <a:t> </a:t>
            </a:r>
            <a:r>
              <a:rPr dirty="0" err="1"/>
              <a:t>eslabón</a:t>
            </a:r>
            <a:r>
              <a:rPr dirty="0"/>
              <a:t>, de </a:t>
            </a:r>
            <a:r>
              <a:rPr dirty="0" err="1"/>
              <a:t>una</a:t>
            </a:r>
            <a:r>
              <a:rPr dirty="0"/>
              <a:t> </a:t>
            </a:r>
            <a:r>
              <a:rPr dirty="0" err="1"/>
              <a:t>contribución</a:t>
            </a:r>
            <a:r>
              <a:rPr dirty="0"/>
              <a:t> </a:t>
            </a:r>
            <a:r>
              <a:rPr dirty="0" err="1"/>
              <a:t>traslacional</a:t>
            </a:r>
            <a:r>
              <a:rPr dirty="0"/>
              <a:t> -masa por el </a:t>
            </a:r>
            <a:r>
              <a:rPr dirty="0" err="1"/>
              <a:t>Jacobiano</a:t>
            </a:r>
            <a:r>
              <a:rPr dirty="0"/>
              <a:t> lineal </a:t>
            </a:r>
            <a:r>
              <a:rPr dirty="0" err="1"/>
              <a:t>transpuesto</a:t>
            </a:r>
            <a:r>
              <a:rPr dirty="0"/>
              <a:t> por el </a:t>
            </a:r>
            <a:r>
              <a:rPr dirty="0" err="1"/>
              <a:t>Jacobiano</a:t>
            </a:r>
            <a:r>
              <a:rPr dirty="0"/>
              <a:t> lineal- más </a:t>
            </a:r>
            <a:r>
              <a:rPr dirty="0" err="1"/>
              <a:t>una</a:t>
            </a:r>
            <a:r>
              <a:rPr dirty="0"/>
              <a:t> </a:t>
            </a:r>
            <a:r>
              <a:rPr dirty="0" err="1"/>
              <a:t>contribución</a:t>
            </a:r>
            <a:r>
              <a:rPr dirty="0"/>
              <a:t> </a:t>
            </a:r>
            <a:r>
              <a:rPr dirty="0" err="1"/>
              <a:t>rotacional</a:t>
            </a:r>
            <a:r>
              <a:rPr dirty="0"/>
              <a:t> -el </a:t>
            </a:r>
            <a:r>
              <a:rPr dirty="0" err="1"/>
              <a:t>Jacobiano</a:t>
            </a:r>
            <a:r>
              <a:rPr dirty="0"/>
              <a:t> angular, la </a:t>
            </a:r>
            <a:r>
              <a:rPr dirty="0" err="1"/>
              <a:t>rotación</a:t>
            </a:r>
            <a:r>
              <a:rPr dirty="0"/>
              <a:t>, el tensor de </a:t>
            </a:r>
            <a:r>
              <a:rPr dirty="0" err="1"/>
              <a:t>inercia</a:t>
            </a:r>
            <a:r>
              <a:rPr dirty="0"/>
              <a:t>, y de </a:t>
            </a:r>
            <a:r>
              <a:rPr dirty="0" err="1"/>
              <a:t>vuelta</a:t>
            </a:r>
            <a:r>
              <a:rPr dirty="0"/>
              <a:t>-. Cada </a:t>
            </a:r>
            <a:r>
              <a:rPr dirty="0" err="1"/>
              <a:t>pieza</a:t>
            </a:r>
            <a:r>
              <a:rPr dirty="0"/>
              <a:t> sale </a:t>
            </a:r>
            <a:r>
              <a:rPr dirty="0" err="1"/>
              <a:t>directo</a:t>
            </a:r>
            <a:r>
              <a:rPr dirty="0"/>
              <a:t> de la </a:t>
            </a:r>
            <a:r>
              <a:rPr dirty="0" err="1"/>
              <a:t>cinemática</a:t>
            </a:r>
            <a:r>
              <a:rPr dirty="0"/>
              <a:t> DH: las </a:t>
            </a:r>
            <a:r>
              <a:rPr dirty="0" err="1"/>
              <a:t>rotaciones</a:t>
            </a:r>
            <a:r>
              <a:rPr dirty="0"/>
              <a:t>, </a:t>
            </a:r>
            <a:r>
              <a:rPr dirty="0" err="1"/>
              <a:t>los</a:t>
            </a:r>
            <a:r>
              <a:rPr dirty="0"/>
              <a:t> </a:t>
            </a:r>
            <a:r>
              <a:rPr dirty="0" err="1"/>
              <a:t>centros</a:t>
            </a:r>
            <a:r>
              <a:rPr dirty="0"/>
              <a:t> de masa, </a:t>
            </a:r>
            <a:r>
              <a:rPr dirty="0" err="1"/>
              <a:t>los</a:t>
            </a:r>
            <a:r>
              <a:rPr dirty="0"/>
              <a:t> </a:t>
            </a:r>
            <a:r>
              <a:rPr dirty="0" err="1"/>
              <a:t>Jacobianos</a:t>
            </a:r>
            <a:r>
              <a:rPr dirty="0"/>
              <a:t>. Un </a:t>
            </a:r>
            <a:r>
              <a:rPr dirty="0" err="1"/>
              <a:t>detalle</a:t>
            </a:r>
            <a:r>
              <a:rPr dirty="0"/>
              <a:t> </a:t>
            </a:r>
            <a:r>
              <a:rPr dirty="0" err="1"/>
              <a:t>que</a:t>
            </a:r>
            <a:r>
              <a:rPr dirty="0"/>
              <a:t> vale la </a:t>
            </a:r>
            <a:r>
              <a:rPr dirty="0" err="1"/>
              <a:t>pena</a:t>
            </a:r>
            <a:r>
              <a:rPr dirty="0"/>
              <a:t> </a:t>
            </a:r>
            <a:r>
              <a:rPr dirty="0" err="1"/>
              <a:t>notar</a:t>
            </a:r>
            <a:r>
              <a:rPr dirty="0"/>
              <a:t>: el </a:t>
            </a:r>
            <a:r>
              <a:rPr dirty="0" err="1"/>
              <a:t>Jacobiano</a:t>
            </a:r>
            <a:r>
              <a:rPr dirty="0"/>
              <a:t> lineal del primer </a:t>
            </a:r>
            <a:r>
              <a:rPr dirty="0" err="1"/>
              <a:t>eslabón</a:t>
            </a:r>
            <a:r>
              <a:rPr dirty="0"/>
              <a:t> es cero, </a:t>
            </a:r>
            <a:r>
              <a:rPr dirty="0" err="1"/>
              <a:t>porque</a:t>
            </a:r>
            <a:r>
              <a:rPr dirty="0"/>
              <a:t> </a:t>
            </a:r>
            <a:r>
              <a:rPr dirty="0" err="1"/>
              <a:t>su</a:t>
            </a:r>
            <a:r>
              <a:rPr dirty="0"/>
              <a:t> </a:t>
            </a:r>
            <a:r>
              <a:rPr dirty="0" err="1"/>
              <a:t>centro</a:t>
            </a:r>
            <a:r>
              <a:rPr dirty="0"/>
              <a:t> de masa </a:t>
            </a:r>
            <a:r>
              <a:rPr dirty="0" err="1"/>
              <a:t>está</a:t>
            </a:r>
            <a:r>
              <a:rPr dirty="0"/>
              <a:t> </a:t>
            </a:r>
            <a:r>
              <a:rPr dirty="0" err="1"/>
              <a:t>sobre</a:t>
            </a:r>
            <a:r>
              <a:rPr dirty="0"/>
              <a:t> el </a:t>
            </a:r>
            <a:r>
              <a:rPr dirty="0" err="1"/>
              <a:t>eje</a:t>
            </a:r>
            <a:r>
              <a:rPr dirty="0"/>
              <a:t> de </a:t>
            </a:r>
            <a:r>
              <a:rPr dirty="0" err="1"/>
              <a:t>giro</a:t>
            </a:r>
            <a:r>
              <a:rPr dirty="0"/>
              <a:t> de la base y no se </a:t>
            </a:r>
            <a:r>
              <a:rPr dirty="0" err="1"/>
              <a:t>traslada</a:t>
            </a:r>
            <a:r>
              <a:rPr dirty="0"/>
              <a:t> al </a:t>
            </a:r>
            <a:r>
              <a:rPr dirty="0" err="1"/>
              <a:t>moverse</a:t>
            </a:r>
            <a:r>
              <a:rPr dirty="0"/>
              <a:t>. Y </a:t>
            </a:r>
            <a:r>
              <a:rPr dirty="0" err="1"/>
              <a:t>los</a:t>
            </a:r>
            <a:r>
              <a:rPr dirty="0"/>
              <a:t> </a:t>
            </a:r>
            <a:r>
              <a:rPr dirty="0" err="1"/>
              <a:t>Jacobianos</a:t>
            </a:r>
            <a:r>
              <a:rPr dirty="0"/>
              <a:t> </a:t>
            </a:r>
            <a:r>
              <a:rPr dirty="0" err="1"/>
              <a:t>angulares</a:t>
            </a:r>
            <a:r>
              <a:rPr dirty="0"/>
              <a:t> </a:t>
            </a:r>
            <a:r>
              <a:rPr dirty="0" err="1"/>
              <a:t>tienen</a:t>
            </a:r>
            <a:r>
              <a:rPr dirty="0"/>
              <a:t> la </a:t>
            </a:r>
            <a:r>
              <a:rPr dirty="0" err="1"/>
              <a:t>estructura</a:t>
            </a:r>
            <a:r>
              <a:rPr dirty="0"/>
              <a:t> triangular </a:t>
            </a:r>
            <a:r>
              <a:rPr dirty="0" err="1"/>
              <a:t>típica</a:t>
            </a:r>
            <a:r>
              <a:rPr dirty="0"/>
              <a:t> de </a:t>
            </a:r>
            <a:r>
              <a:rPr dirty="0" err="1"/>
              <a:t>una</a:t>
            </a:r>
            <a:r>
              <a:rPr dirty="0"/>
              <a:t> </a:t>
            </a:r>
            <a:r>
              <a:rPr dirty="0" err="1"/>
              <a:t>cadena</a:t>
            </a:r>
            <a:r>
              <a:rPr dirty="0"/>
              <a:t> serial: </a:t>
            </a:r>
            <a:r>
              <a:rPr dirty="0" err="1"/>
              <a:t>cada</a:t>
            </a:r>
            <a:r>
              <a:rPr dirty="0"/>
              <a:t> columna es el </a:t>
            </a:r>
            <a:r>
              <a:rPr dirty="0" err="1"/>
              <a:t>eje</a:t>
            </a:r>
            <a:r>
              <a:rPr dirty="0"/>
              <a:t> de </a:t>
            </a:r>
            <a:r>
              <a:rPr dirty="0" err="1"/>
              <a:t>una</a:t>
            </a:r>
            <a:r>
              <a:rPr dirty="0"/>
              <a:t> junta, y las juntas posteriores no </a:t>
            </a:r>
            <a:r>
              <a:rPr dirty="0" err="1"/>
              <a:t>afectan</a:t>
            </a:r>
            <a:r>
              <a:rPr dirty="0"/>
              <a:t> a </a:t>
            </a:r>
            <a:r>
              <a:rPr dirty="0" err="1"/>
              <a:t>los</a:t>
            </a:r>
            <a:r>
              <a:rPr dirty="0"/>
              <a:t> </a:t>
            </a:r>
            <a:r>
              <a:rPr dirty="0" err="1"/>
              <a:t>eslabones</a:t>
            </a:r>
            <a:r>
              <a:rPr dirty="0"/>
              <a:t> </a:t>
            </a:r>
            <a:r>
              <a:rPr dirty="0" err="1"/>
              <a:t>anteriores</a:t>
            </a:r>
            <a:r>
              <a:rPr dirty="0"/>
              <a:t>. El </a:t>
            </a:r>
            <a:r>
              <a:rPr dirty="0" err="1"/>
              <a:t>resultado</a:t>
            </a:r>
            <a:r>
              <a:rPr dirty="0"/>
              <a:t> es </a:t>
            </a:r>
            <a:r>
              <a:rPr dirty="0" err="1"/>
              <a:t>una</a:t>
            </a:r>
            <a:r>
              <a:rPr dirty="0"/>
              <a:t> </a:t>
            </a:r>
            <a:r>
              <a:rPr dirty="0" err="1"/>
              <a:t>matriz</a:t>
            </a:r>
            <a:r>
              <a:rPr dirty="0"/>
              <a:t> 3 por 3, </a:t>
            </a:r>
            <a:r>
              <a:rPr dirty="0" err="1"/>
              <a:t>simétrica</a:t>
            </a:r>
            <a:r>
              <a:rPr dirty="0"/>
              <a:t> y </a:t>
            </a:r>
            <a:r>
              <a:rPr dirty="0" err="1"/>
              <a:t>definida</a:t>
            </a:r>
            <a:r>
              <a:rPr dirty="0"/>
              <a:t> </a:t>
            </a:r>
            <a:r>
              <a:rPr dirty="0" err="1"/>
              <a:t>positiva</a:t>
            </a:r>
            <a:r>
              <a:rPr dirty="0"/>
              <a:t>, </a:t>
            </a:r>
            <a:r>
              <a:rPr dirty="0" err="1"/>
              <a:t>que</a:t>
            </a:r>
            <a:r>
              <a:rPr dirty="0"/>
              <a:t> </a:t>
            </a:r>
            <a:r>
              <a:rPr dirty="0" err="1"/>
              <a:t>vamos</a:t>
            </a:r>
            <a:r>
              <a:rPr dirty="0"/>
              <a:t> a </a:t>
            </a:r>
            <a:r>
              <a:rPr dirty="0" err="1"/>
              <a:t>verificar</a:t>
            </a:r>
            <a:r>
              <a:rPr dirty="0"/>
              <a:t> </a:t>
            </a:r>
            <a:r>
              <a:rPr dirty="0" err="1"/>
              <a:t>numéricamente</a:t>
            </a:r>
            <a:r>
              <a:rPr dirty="0"/>
              <a:t> en un </a:t>
            </a:r>
            <a:r>
              <a:rPr dirty="0" err="1"/>
              <a:t>momento</a:t>
            </a:r>
            <a:r>
              <a:rPr dirty="0"/>
              <a:t>."</a:t>
            </a:r>
          </a:p>
          <a:p>
            <a:endParaRPr dirty="0"/>
          </a:p>
          <a:p>
            <a:r>
              <a:rPr dirty="0"/>
              <a:t>PREGUNTA PROBABLE DEL DOCENTE:</a:t>
            </a:r>
          </a:p>
          <a:p>
            <a:r>
              <a:rPr dirty="0"/>
              <a:t>P: "¿Por </a:t>
            </a:r>
            <a:r>
              <a:rPr dirty="0" err="1"/>
              <a:t>qué</a:t>
            </a:r>
            <a:r>
              <a:rPr dirty="0"/>
              <a:t> </a:t>
            </a:r>
            <a:r>
              <a:rPr dirty="0" err="1"/>
              <a:t>Jacobianos</a:t>
            </a:r>
            <a:r>
              <a:rPr dirty="0"/>
              <a:t> y no Lagrange?"</a:t>
            </a:r>
          </a:p>
          <a:p>
            <a:r>
              <a:rPr dirty="0"/>
              <a:t>R: </a:t>
            </a:r>
            <a:r>
              <a:rPr dirty="0" err="1"/>
              <a:t>Indicación</a:t>
            </a:r>
            <a:r>
              <a:rPr dirty="0"/>
              <a:t> </a:t>
            </a:r>
            <a:r>
              <a:rPr dirty="0" err="1"/>
              <a:t>explícita</a:t>
            </a:r>
            <a:r>
              <a:rPr dirty="0"/>
              <a:t> del </a:t>
            </a:r>
            <a:r>
              <a:rPr dirty="0" err="1"/>
              <a:t>docente</a:t>
            </a:r>
            <a:r>
              <a:rPr dirty="0"/>
              <a:t>; </a:t>
            </a:r>
            <a:r>
              <a:rPr dirty="0" err="1"/>
              <a:t>además</a:t>
            </a:r>
            <a:r>
              <a:rPr dirty="0"/>
              <a:t> </a:t>
            </a:r>
            <a:r>
              <a:rPr dirty="0" err="1"/>
              <a:t>permite</a:t>
            </a:r>
            <a:r>
              <a:rPr dirty="0"/>
              <a:t> </a:t>
            </a:r>
            <a:r>
              <a:rPr dirty="0" err="1"/>
              <a:t>verificar</a:t>
            </a:r>
            <a:r>
              <a:rPr dirty="0"/>
              <a:t> </a:t>
            </a:r>
            <a:r>
              <a:rPr dirty="0" err="1"/>
              <a:t>cada</a:t>
            </a:r>
            <a:r>
              <a:rPr dirty="0"/>
              <a:t> </a:t>
            </a:r>
            <a:r>
              <a:rPr dirty="0" err="1"/>
              <a:t>término</a:t>
            </a:r>
            <a:r>
              <a:rPr dirty="0"/>
              <a:t> por </a:t>
            </a:r>
            <a:r>
              <a:rPr dirty="0" err="1"/>
              <a:t>separado</a:t>
            </a:r>
            <a:r>
              <a:rPr dirty="0"/>
              <a:t> y </a:t>
            </a:r>
            <a:r>
              <a:rPr dirty="0" err="1"/>
              <a:t>detectar</a:t>
            </a:r>
            <a:r>
              <a:rPr dirty="0"/>
              <a:t> </a:t>
            </a:r>
            <a:r>
              <a:rPr dirty="0" err="1"/>
              <a:t>errores</a:t>
            </a:r>
            <a:r>
              <a:rPr dirty="0"/>
              <a:t> -por </a:t>
            </a:r>
            <a:r>
              <a:rPr dirty="0" err="1"/>
              <a:t>ejemplo</a:t>
            </a:r>
            <a:r>
              <a:rPr dirty="0"/>
              <a:t>, </a:t>
            </a:r>
            <a:r>
              <a:rPr dirty="0" err="1"/>
              <a:t>así</a:t>
            </a:r>
            <a:r>
              <a:rPr dirty="0"/>
              <a:t> se </a:t>
            </a:r>
            <a:r>
              <a:rPr dirty="0" err="1"/>
              <a:t>detectó</a:t>
            </a:r>
            <a:r>
              <a:rPr dirty="0"/>
              <a:t> </a:t>
            </a:r>
            <a:r>
              <a:rPr dirty="0" err="1"/>
              <a:t>una</a:t>
            </a:r>
            <a:r>
              <a:rPr dirty="0"/>
              <a:t> </a:t>
            </a:r>
            <a:r>
              <a:rPr dirty="0" err="1"/>
              <a:t>matriz</a:t>
            </a:r>
            <a:r>
              <a:rPr dirty="0"/>
              <a:t> de </a:t>
            </a:r>
            <a:r>
              <a:rPr dirty="0" err="1"/>
              <a:t>rotación</a:t>
            </a:r>
            <a:r>
              <a:rPr dirty="0"/>
              <a:t> mal </a:t>
            </a:r>
            <a:r>
              <a:rPr dirty="0" err="1"/>
              <a:t>orientada</a:t>
            </a:r>
            <a:r>
              <a:rPr dirty="0"/>
              <a:t>-, algo más </a:t>
            </a:r>
            <a:r>
              <a:rPr dirty="0" err="1"/>
              <a:t>difícil</a:t>
            </a:r>
            <a:r>
              <a:rPr dirty="0"/>
              <a:t> con </a:t>
            </a:r>
            <a:r>
              <a:rPr dirty="0" err="1"/>
              <a:t>una</a:t>
            </a:r>
            <a:r>
              <a:rPr dirty="0"/>
              <a:t> </a:t>
            </a:r>
            <a:r>
              <a:rPr dirty="0" err="1"/>
              <a:t>única</a:t>
            </a:r>
            <a:r>
              <a:rPr dirty="0"/>
              <a:t> </a:t>
            </a:r>
            <a:r>
              <a:rPr dirty="0" err="1"/>
              <a:t>expresión</a:t>
            </a:r>
            <a:r>
              <a:rPr dirty="0"/>
              <a:t> </a:t>
            </a:r>
            <a:r>
              <a:rPr dirty="0" err="1"/>
              <a:t>lagrangiana</a:t>
            </a:r>
            <a:r>
              <a:rPr dirty="0"/>
              <a:t> </a:t>
            </a:r>
            <a:r>
              <a:rPr dirty="0" err="1"/>
              <a:t>cerrada</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s-PE"/>
          </a:p>
        </p:txBody>
      </p:sp>
      <p:sp>
        <p:nvSpPr>
          <p:cNvPr id="3" name="Notes Placeholder 2"/>
          <p:cNvSpPr>
            <a:spLocks noGrp="1"/>
          </p:cNvSpPr>
          <p:nvPr>
            <p:ph type="body" sz="quarter" idx="3"/>
          </p:nvPr>
        </p:nvSpPr>
        <p:spPr/>
        <p:txBody>
          <a:bodyPr/>
          <a:lstStyle/>
          <a:p>
            <a:r>
              <a:t>GUION (Expositor 2, ~55 s):</a:t>
            </a:r>
          </a:p>
          <a:p>
            <a:r>
              <a:t>"Esto que acabo de explicar no se queda en la pizarra: aquí está el código real, tal como corre en MATLAB. Es la función inertia_matrix_3dof, dentro del mismo archivo de dinámica. Recibe los Jacobianos y las rotaciones de la cinemática, arma la suma de las tres contribuciones traslacionales y las tres rotacionales, y al final hay una simetrización numérica que solo limpia ruido de redondeo -la matriz ya es simétrica por construcción-. Es código numérico puro, sin el toolbox simbólico, porque así lo exige un bloque MATLAB Function de Simulink."</a:t>
            </a:r>
          </a:p>
        </p:txBody>
      </p:sp>
      <p:sp>
        <p:nvSpPr>
          <p:cNvPr id="4" name="Slide Number Placeholder 3"/>
          <p:cNvSpPr>
            <a:spLocks noGrp="1"/>
          </p:cNvSpPr>
          <p:nvPr>
            <p:ph type="sldNum" sz="quarter" idx="5"/>
          </p:nvPr>
        </p:nvSpPr>
        <p:spPr/>
        <p:txBody>
          <a:bodyPr/>
          <a:lstStyle/>
          <a:p>
            <a:endParaRPr lang="es-P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2, ~80 s):</a:t>
            </a:r>
          </a:p>
          <a:p>
            <a:r>
              <a:t>"La matriz de Coriolis se obtiene de M(q) con los coeficientes de Christoffel, con n igual a 3: cada término c-i-j-k combina derivadas parciales de M, y C sale de sumar esos coeficientes multiplicados por la velocidad articular. El vector de gravedad es el gradiente de la energía potencial, y en este robot tiene una forma cerrada simple: G uno es exactamente cero -la junta de base no cambia la altura de ningún centro de masa-, G dos y G tres dependen del coseno de q dos y de q dos más q tres. Y aquí hay una propiedad clave para el bloque de control: la matriz M punto menos dos C es antisimétrica. No es un detalle formal, es justamente lo que permite demostrar la estabilidad de Lyapunov de los controladores, y ya la verificamos numéricamente en el código."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s-PE"/>
          </a:p>
        </p:txBody>
      </p:sp>
      <p:sp>
        <p:nvSpPr>
          <p:cNvPr id="3" name="Notes Placeholder 2"/>
          <p:cNvSpPr>
            <a:spLocks noGrp="1"/>
          </p:cNvSpPr>
          <p:nvPr>
            <p:ph type="body" sz="quarter" idx="3"/>
          </p:nvPr>
        </p:nvSpPr>
        <p:spPr/>
        <p:txBody>
          <a:bodyPr/>
          <a:lstStyle/>
          <a:p>
            <a:r>
              <a:t>GUION (Expositor 2, ~55 s):</a:t>
            </a:r>
          </a:p>
          <a:p>
            <a:r>
              <a:t>"Y aquí, otra vez, el código real: la función coriolis_matrix_3dof. Es un triple bucle sobre los índices i, j, k que implementa exactamente la fórmula de Christoffel que acabo de mostrar. La derivada de M respecto a cada q se obtiene por diferencias finitas centradas, con un paso de una millonésima, porque Simulink no admite código simbólico dentro de un bloque MATLAB Function. Esta versión numérica coincide con la versión simbólica con un error del orden de diez a la menos diez."</a:t>
            </a:r>
          </a:p>
        </p:txBody>
      </p:sp>
      <p:sp>
        <p:nvSpPr>
          <p:cNvPr id="4" name="Slide Number Placeholder 3"/>
          <p:cNvSpPr>
            <a:spLocks noGrp="1"/>
          </p:cNvSpPr>
          <p:nvPr>
            <p:ph type="sldNum" sz="quarter" idx="5"/>
          </p:nvPr>
        </p:nvSpPr>
        <p:spPr/>
        <p:txBody>
          <a:bodyPr/>
          <a:lstStyle/>
          <a:p>
            <a:endParaRPr lang="es-P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dirty="0"/>
              <a:t>GUION (Expositor 2, ~70 s):</a:t>
            </a:r>
          </a:p>
          <a:p>
            <a:r>
              <a:rPr dirty="0"/>
              <a:t>"Para </a:t>
            </a:r>
            <a:r>
              <a:rPr dirty="0" err="1"/>
              <a:t>cerrar</a:t>
            </a:r>
            <a:r>
              <a:rPr dirty="0"/>
              <a:t> mi </a:t>
            </a:r>
            <a:r>
              <a:rPr dirty="0" err="1"/>
              <a:t>bloque</a:t>
            </a:r>
            <a:r>
              <a:rPr dirty="0"/>
              <a:t>, la </a:t>
            </a:r>
            <a:r>
              <a:rPr dirty="0" err="1"/>
              <a:t>validación</a:t>
            </a:r>
            <a:r>
              <a:rPr dirty="0"/>
              <a:t>. En un punto de </a:t>
            </a:r>
            <a:r>
              <a:rPr dirty="0" err="1"/>
              <a:t>prueba</a:t>
            </a:r>
            <a:r>
              <a:rPr dirty="0"/>
              <a:t> </a:t>
            </a:r>
            <a:r>
              <a:rPr dirty="0" err="1"/>
              <a:t>arbitrario</a:t>
            </a:r>
            <a:r>
              <a:rPr dirty="0"/>
              <a:t>, M sale </a:t>
            </a:r>
            <a:r>
              <a:rPr dirty="0" err="1"/>
              <a:t>simétrica</a:t>
            </a:r>
            <a:r>
              <a:rPr dirty="0"/>
              <a:t>, con </a:t>
            </a:r>
            <a:r>
              <a:rPr dirty="0" err="1"/>
              <a:t>los</a:t>
            </a:r>
            <a:r>
              <a:rPr dirty="0"/>
              <a:t> </a:t>
            </a:r>
            <a:r>
              <a:rPr dirty="0" err="1"/>
              <a:t>tres</a:t>
            </a:r>
            <a:r>
              <a:rPr dirty="0"/>
              <a:t> </a:t>
            </a:r>
            <a:r>
              <a:rPr dirty="0" err="1"/>
              <a:t>autovalores</a:t>
            </a:r>
            <a:r>
              <a:rPr dirty="0"/>
              <a:t> </a:t>
            </a:r>
            <a:r>
              <a:rPr dirty="0" err="1"/>
              <a:t>positivos</a:t>
            </a:r>
            <a:r>
              <a:rPr dirty="0"/>
              <a:t>: cero coma cero once, cero coma </a:t>
            </a:r>
            <a:r>
              <a:rPr dirty="0" err="1"/>
              <a:t>veintitrés</a:t>
            </a:r>
            <a:r>
              <a:rPr dirty="0"/>
              <a:t>, cero coma </a:t>
            </a:r>
            <a:r>
              <a:rPr dirty="0" err="1"/>
              <a:t>treinta</a:t>
            </a:r>
            <a:r>
              <a:rPr dirty="0"/>
              <a:t> y cinco. Eso </a:t>
            </a:r>
            <a:r>
              <a:rPr dirty="0" err="1"/>
              <a:t>confirma</a:t>
            </a:r>
            <a:r>
              <a:rPr dirty="0"/>
              <a:t> </a:t>
            </a:r>
            <a:r>
              <a:rPr dirty="0" err="1"/>
              <a:t>que</a:t>
            </a:r>
            <a:r>
              <a:rPr dirty="0"/>
              <a:t> es </a:t>
            </a:r>
            <a:r>
              <a:rPr dirty="0" err="1"/>
              <a:t>definida</a:t>
            </a:r>
            <a:r>
              <a:rPr dirty="0"/>
              <a:t> </a:t>
            </a:r>
            <a:r>
              <a:rPr dirty="0" err="1"/>
              <a:t>positiva</a:t>
            </a:r>
            <a:r>
              <a:rPr dirty="0"/>
              <a:t>, la </a:t>
            </a:r>
            <a:r>
              <a:rPr dirty="0" err="1"/>
              <a:t>condición</a:t>
            </a:r>
            <a:r>
              <a:rPr dirty="0"/>
              <a:t> </a:t>
            </a:r>
            <a:r>
              <a:rPr dirty="0" err="1"/>
              <a:t>física</a:t>
            </a:r>
            <a:r>
              <a:rPr dirty="0"/>
              <a:t> </a:t>
            </a:r>
            <a:r>
              <a:rPr dirty="0" err="1"/>
              <a:t>que</a:t>
            </a:r>
            <a:r>
              <a:rPr dirty="0"/>
              <a:t> </a:t>
            </a:r>
            <a:r>
              <a:rPr dirty="0" err="1"/>
              <a:t>tiene</a:t>
            </a:r>
            <a:r>
              <a:rPr dirty="0"/>
              <a:t> </a:t>
            </a:r>
            <a:r>
              <a:rPr dirty="0" err="1"/>
              <a:t>que</a:t>
            </a:r>
            <a:r>
              <a:rPr dirty="0"/>
              <a:t> </a:t>
            </a:r>
            <a:r>
              <a:rPr dirty="0" err="1"/>
              <a:t>cumplir</a:t>
            </a:r>
            <a:r>
              <a:rPr dirty="0"/>
              <a:t>. G uno sale </a:t>
            </a:r>
            <a:r>
              <a:rPr dirty="0" err="1"/>
              <a:t>exactamente</a:t>
            </a:r>
            <a:r>
              <a:rPr dirty="0"/>
              <a:t> cero, como </a:t>
            </a:r>
            <a:r>
              <a:rPr dirty="0" err="1"/>
              <a:t>predijimos</a:t>
            </a:r>
            <a:r>
              <a:rPr dirty="0"/>
              <a:t>. Y la </a:t>
            </a:r>
            <a:r>
              <a:rPr dirty="0" err="1"/>
              <a:t>versión</a:t>
            </a:r>
            <a:r>
              <a:rPr dirty="0"/>
              <a:t> </a:t>
            </a:r>
            <a:r>
              <a:rPr dirty="0" err="1"/>
              <a:t>simbólica</a:t>
            </a:r>
            <a:r>
              <a:rPr dirty="0"/>
              <a:t> de C coincide con la </a:t>
            </a:r>
            <a:r>
              <a:rPr dirty="0" err="1"/>
              <a:t>numérica</a:t>
            </a:r>
            <a:r>
              <a:rPr dirty="0"/>
              <a:t> en el </a:t>
            </a:r>
            <a:r>
              <a:rPr dirty="0" err="1"/>
              <a:t>orden</a:t>
            </a:r>
            <a:r>
              <a:rPr dirty="0"/>
              <a:t> de </a:t>
            </a:r>
            <a:r>
              <a:rPr dirty="0" err="1"/>
              <a:t>diez</a:t>
            </a:r>
            <a:r>
              <a:rPr dirty="0"/>
              <a:t> a la </a:t>
            </a:r>
            <a:r>
              <a:rPr dirty="0" err="1"/>
              <a:t>menos</a:t>
            </a:r>
            <a:r>
              <a:rPr dirty="0"/>
              <a:t> </a:t>
            </a:r>
            <a:r>
              <a:rPr dirty="0" err="1"/>
              <a:t>diez</a:t>
            </a:r>
            <a:r>
              <a:rPr dirty="0"/>
              <a:t>. La </a:t>
            </a:r>
            <a:r>
              <a:rPr dirty="0" err="1"/>
              <a:t>figura</a:t>
            </a:r>
            <a:r>
              <a:rPr dirty="0"/>
              <a:t> de la </a:t>
            </a:r>
            <a:r>
              <a:rPr dirty="0" err="1"/>
              <a:t>derecha</a:t>
            </a:r>
            <a:r>
              <a:rPr dirty="0"/>
              <a:t> es la </a:t>
            </a:r>
            <a:r>
              <a:rPr dirty="0" err="1"/>
              <a:t>dinámica</a:t>
            </a:r>
            <a:r>
              <a:rPr dirty="0"/>
              <a:t> libre, sin </a:t>
            </a:r>
            <a:r>
              <a:rPr dirty="0" err="1"/>
              <a:t>ningún</a:t>
            </a:r>
            <a:r>
              <a:rPr dirty="0"/>
              <a:t> </a:t>
            </a:r>
            <a:r>
              <a:rPr dirty="0" err="1"/>
              <a:t>controlador</a:t>
            </a:r>
            <a:r>
              <a:rPr dirty="0"/>
              <a:t>: el robot </a:t>
            </a:r>
            <a:r>
              <a:rPr dirty="0" err="1"/>
              <a:t>oscila</a:t>
            </a:r>
            <a:r>
              <a:rPr dirty="0"/>
              <a:t> sin </a:t>
            </a:r>
            <a:r>
              <a:rPr dirty="0" err="1"/>
              <a:t>amortiguarse</a:t>
            </a:r>
            <a:r>
              <a:rPr dirty="0"/>
              <a:t>, como un </a:t>
            </a:r>
            <a:r>
              <a:rPr dirty="0" err="1"/>
              <a:t>péndulo</a:t>
            </a:r>
            <a:r>
              <a:rPr dirty="0"/>
              <a:t> doble, y </a:t>
            </a:r>
            <a:r>
              <a:rPr dirty="0" err="1"/>
              <a:t>noten</a:t>
            </a:r>
            <a:r>
              <a:rPr dirty="0"/>
              <a:t> </a:t>
            </a:r>
            <a:r>
              <a:rPr dirty="0" err="1"/>
              <a:t>que</a:t>
            </a:r>
            <a:r>
              <a:rPr dirty="0"/>
              <a:t> q uno también se </a:t>
            </a:r>
            <a:r>
              <a:rPr dirty="0" err="1"/>
              <a:t>mueve</a:t>
            </a:r>
            <a:r>
              <a:rPr dirty="0"/>
              <a:t> </a:t>
            </a:r>
            <a:r>
              <a:rPr dirty="0" err="1"/>
              <a:t>aunque</a:t>
            </a:r>
            <a:r>
              <a:rPr dirty="0"/>
              <a:t> G uno sea cero y </a:t>
            </a:r>
            <a:r>
              <a:rPr dirty="0" err="1"/>
              <a:t>parta</a:t>
            </a:r>
            <a:r>
              <a:rPr dirty="0"/>
              <a:t> del </a:t>
            </a:r>
            <a:r>
              <a:rPr dirty="0" err="1"/>
              <a:t>reposo</a:t>
            </a:r>
            <a:r>
              <a:rPr dirty="0"/>
              <a:t> -</a:t>
            </a:r>
            <a:r>
              <a:rPr dirty="0" err="1"/>
              <a:t>eso</a:t>
            </a:r>
            <a:r>
              <a:rPr dirty="0"/>
              <a:t> es el </a:t>
            </a:r>
            <a:r>
              <a:rPr dirty="0" err="1"/>
              <a:t>acoplamiento</a:t>
            </a:r>
            <a:r>
              <a:rPr dirty="0"/>
              <a:t> de Coriolis, </a:t>
            </a:r>
            <a:r>
              <a:rPr dirty="0" err="1"/>
              <a:t>que</a:t>
            </a:r>
            <a:r>
              <a:rPr dirty="0"/>
              <a:t> </a:t>
            </a:r>
            <a:r>
              <a:rPr dirty="0" err="1"/>
              <a:t>transmite</a:t>
            </a:r>
            <a:r>
              <a:rPr dirty="0"/>
              <a:t> el </a:t>
            </a:r>
            <a:r>
              <a:rPr dirty="0" err="1"/>
              <a:t>movimiento</a:t>
            </a:r>
            <a:r>
              <a:rPr dirty="0"/>
              <a:t> de q dos y q </a:t>
            </a:r>
            <a:r>
              <a:rPr dirty="0" err="1"/>
              <a:t>tres</a:t>
            </a:r>
            <a:r>
              <a:rPr dirty="0"/>
              <a:t> </a:t>
            </a:r>
            <a:r>
              <a:rPr dirty="0" err="1"/>
              <a:t>hacia</a:t>
            </a:r>
            <a:r>
              <a:rPr dirty="0"/>
              <a:t> q uno-. Con el </a:t>
            </a:r>
            <a:r>
              <a:rPr dirty="0" err="1"/>
              <a:t>modelo</a:t>
            </a:r>
            <a:r>
              <a:rPr dirty="0"/>
              <a:t> </a:t>
            </a:r>
            <a:r>
              <a:rPr dirty="0" err="1"/>
              <a:t>validado</a:t>
            </a:r>
            <a:r>
              <a:rPr dirty="0"/>
              <a:t>, le paso el </a:t>
            </a:r>
            <a:r>
              <a:rPr dirty="0" err="1"/>
              <a:t>turno</a:t>
            </a:r>
            <a:r>
              <a:rPr dirty="0"/>
              <a:t> a Expositor 3 para </a:t>
            </a:r>
            <a:r>
              <a:rPr dirty="0" err="1"/>
              <a:t>los</a:t>
            </a:r>
            <a:r>
              <a:rPr dirty="0"/>
              <a:t> </a:t>
            </a:r>
            <a:r>
              <a:rPr dirty="0" err="1"/>
              <a:t>controladores</a:t>
            </a:r>
            <a:r>
              <a:rPr dirty="0"/>
              <a:t>."</a:t>
            </a:r>
          </a:p>
          <a:p>
            <a:endParaRPr dirty="0"/>
          </a:p>
          <a:p>
            <a:r>
              <a:rPr dirty="0"/>
              <a:t>PREGUNTA PROBABLE DEL DOCENTE:</a:t>
            </a:r>
          </a:p>
          <a:p>
            <a:r>
              <a:rPr dirty="0"/>
              <a:t>P: "¿Por </a:t>
            </a:r>
            <a:r>
              <a:rPr dirty="0" err="1"/>
              <a:t>qué</a:t>
            </a:r>
            <a:r>
              <a:rPr dirty="0"/>
              <a:t> q1 se </a:t>
            </a:r>
            <a:r>
              <a:rPr dirty="0" err="1"/>
              <a:t>mueve</a:t>
            </a:r>
            <a:r>
              <a:rPr dirty="0"/>
              <a:t> </a:t>
            </a:r>
            <a:r>
              <a:rPr dirty="0" err="1"/>
              <a:t>si</a:t>
            </a:r>
            <a:r>
              <a:rPr dirty="0"/>
              <a:t> G1=0 y </a:t>
            </a:r>
            <a:r>
              <a:rPr dirty="0" err="1"/>
              <a:t>parte</a:t>
            </a:r>
            <a:r>
              <a:rPr dirty="0"/>
              <a:t> del </a:t>
            </a:r>
            <a:r>
              <a:rPr dirty="0" err="1"/>
              <a:t>reposo</a:t>
            </a:r>
            <a:r>
              <a:rPr dirty="0"/>
              <a:t>?"</a:t>
            </a:r>
          </a:p>
          <a:p>
            <a:r>
              <a:rPr dirty="0"/>
              <a:t>R: Por el </a:t>
            </a:r>
            <a:r>
              <a:rPr dirty="0" err="1"/>
              <a:t>acoplamiento</a:t>
            </a:r>
            <a:r>
              <a:rPr dirty="0"/>
              <a:t> de Coriolis -</a:t>
            </a:r>
            <a:r>
              <a:rPr dirty="0" err="1"/>
              <a:t>términos</a:t>
            </a:r>
            <a:r>
              <a:rPr dirty="0"/>
              <a:t> C(1,2) y C(1,3)-, </a:t>
            </a:r>
            <a:r>
              <a:rPr dirty="0" err="1"/>
              <a:t>conservación</a:t>
            </a:r>
            <a:r>
              <a:rPr dirty="0"/>
              <a:t> de </a:t>
            </a:r>
            <a:r>
              <a:rPr dirty="0" err="1"/>
              <a:t>momento</a:t>
            </a:r>
            <a:r>
              <a:rPr dirty="0"/>
              <a:t> angular; el </a:t>
            </a:r>
            <a:r>
              <a:rPr dirty="0" err="1"/>
              <a:t>método</a:t>
            </a:r>
            <a:r>
              <a:rPr dirty="0"/>
              <a:t> de </a:t>
            </a:r>
            <a:r>
              <a:rPr dirty="0" err="1"/>
              <a:t>Jacobianos</a:t>
            </a:r>
            <a:r>
              <a:rPr dirty="0"/>
              <a:t> lo </a:t>
            </a:r>
            <a:r>
              <a:rPr dirty="0" err="1"/>
              <a:t>captura</a:t>
            </a:r>
            <a:r>
              <a:rPr dirty="0"/>
              <a:t> </a:t>
            </a:r>
            <a:r>
              <a:rPr dirty="0" err="1"/>
              <a:t>correctamente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3, ~15 s):</a:t>
            </a:r>
          </a:p>
          <a:p>
            <a:r>
              <a:t>"Gracias. Con el modelo dinámico ya disponible, presento los tres controladores, su justificación de estabilidad, la implementación en Simulink, y los resultados."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3, ~100 s):</a:t>
            </a:r>
          </a:p>
          <a:p>
            <a:r>
              <a:t>"Tenemos tres leyes de control. El PID no lineal regula posición y compensa gravedad explícitamente. El PD con precompensación evalúa el modelo dinámico en la trayectoria deseada. Y el par calculado lo evalúa en el estado real medido del robot -esa es la diferencia clave-. Si sustituyen la ley del par calculado en la ecuación de la dinámica, C(q,q̇)q̇ y G(q) se cancelan exactamente, y como M(q) es invertible, queda una ecuación de error lineal: e dos puntos más Kd por e punto más Kp por e, igual a cero. Es lineal, desacoplada por articulación, y exponencialmente estable. Esa cancelación exacta es la razón matemática de que el par calculado converja más rápido y con menos torque. El PID, en cambio, se demuestra estable con una función de Lyapunov que usa justamente la antisimetría de M punto menos dos C que vimos en el bloque anterior. Y el PD precompensado solo cancela de forma aproximada, porque evalúa el modelo en la trayectoria deseada, no en el estado real."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s-PE"/>
          </a:p>
        </p:txBody>
      </p:sp>
      <p:sp>
        <p:nvSpPr>
          <p:cNvPr id="3" name="Notes Placeholder 2"/>
          <p:cNvSpPr>
            <a:spLocks noGrp="1"/>
          </p:cNvSpPr>
          <p:nvPr>
            <p:ph type="body" sz="quarter" idx="3"/>
          </p:nvPr>
        </p:nvSpPr>
        <p:spPr/>
        <p:txBody>
          <a:bodyPr/>
          <a:lstStyle/>
          <a:p>
            <a:r>
              <a:t>GUION (Expositor 3, ~55 s):</a:t>
            </a:r>
          </a:p>
          <a:p>
            <a:r>
              <a:t>"Y aquí el código real del bloque que corre dentro de Simulink: mlfb_par_calculado. Calcula el error y su derivada, llama a tres funciones locales que replican exactamente M, C y G que ya vimos, arma la ley de control, y devuelve el torque. Los otros dos controladores, PID no lineal y PD precompensado, son archivos hermanos con la misma estructura."</a:t>
            </a:r>
          </a:p>
        </p:txBody>
      </p:sp>
      <p:sp>
        <p:nvSpPr>
          <p:cNvPr id="4" name="Slide Number Placeholder 3"/>
          <p:cNvSpPr>
            <a:spLocks noGrp="1"/>
          </p:cNvSpPr>
          <p:nvPr>
            <p:ph type="sldNum" sz="quarter" idx="5"/>
          </p:nvPr>
        </p:nvSpPr>
        <p:spPr/>
        <p:txBody>
          <a:bodyPr/>
          <a:lstStyle/>
          <a:p>
            <a:endParaRPr lang="es-P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dirty="0"/>
              <a:t>GUION (Expositor 3, ~70 s):</a:t>
            </a:r>
          </a:p>
          <a:p>
            <a:r>
              <a:rPr dirty="0"/>
              <a:t>"</a:t>
            </a:r>
            <a:r>
              <a:rPr dirty="0" err="1"/>
              <a:t>Así</a:t>
            </a:r>
            <a:r>
              <a:rPr dirty="0"/>
              <a:t> lo </a:t>
            </a:r>
            <a:r>
              <a:rPr dirty="0" err="1"/>
              <a:t>llevamos</a:t>
            </a:r>
            <a:r>
              <a:rPr dirty="0"/>
              <a:t> a Simulink, como </a:t>
            </a:r>
            <a:r>
              <a:rPr dirty="0" err="1"/>
              <a:t>pidió</a:t>
            </a:r>
            <a:r>
              <a:rPr dirty="0"/>
              <a:t> el </a:t>
            </a:r>
            <a:r>
              <a:rPr dirty="0" err="1"/>
              <a:t>docente</a:t>
            </a:r>
            <a:r>
              <a:rPr dirty="0"/>
              <a:t>. Cada </a:t>
            </a:r>
            <a:r>
              <a:rPr dirty="0" err="1"/>
              <a:t>controlador</a:t>
            </a:r>
            <a:r>
              <a:rPr dirty="0"/>
              <a:t> es un </a:t>
            </a:r>
            <a:r>
              <a:rPr dirty="0" err="1"/>
              <a:t>subsistema</a:t>
            </a:r>
            <a:r>
              <a:rPr dirty="0"/>
              <a:t> </a:t>
            </a:r>
            <a:r>
              <a:rPr dirty="0" err="1"/>
              <a:t>independiente</a:t>
            </a:r>
            <a:r>
              <a:rPr dirty="0"/>
              <a:t>, </a:t>
            </a:r>
            <a:r>
              <a:rPr dirty="0" err="1"/>
              <a:t>pero</a:t>
            </a:r>
            <a:r>
              <a:rPr dirty="0"/>
              <a:t> </a:t>
            </a:r>
            <a:r>
              <a:rPr dirty="0" err="1"/>
              <a:t>los</a:t>
            </a:r>
            <a:r>
              <a:rPr dirty="0"/>
              <a:t> </a:t>
            </a:r>
            <a:r>
              <a:rPr dirty="0" err="1"/>
              <a:t>tres</a:t>
            </a:r>
            <a:r>
              <a:rPr dirty="0"/>
              <a:t> </a:t>
            </a:r>
            <a:r>
              <a:rPr dirty="0" err="1"/>
              <a:t>comparten</a:t>
            </a:r>
            <a:r>
              <a:rPr dirty="0"/>
              <a:t> la </a:t>
            </a:r>
            <a:r>
              <a:rPr dirty="0" err="1"/>
              <a:t>misma</a:t>
            </a:r>
            <a:r>
              <a:rPr dirty="0"/>
              <a:t> </a:t>
            </a:r>
            <a:r>
              <a:rPr dirty="0" err="1"/>
              <a:t>trayectoria</a:t>
            </a:r>
            <a:r>
              <a:rPr dirty="0"/>
              <a:t> </a:t>
            </a:r>
            <a:r>
              <a:rPr dirty="0" err="1"/>
              <a:t>deseada</a:t>
            </a:r>
            <a:r>
              <a:rPr dirty="0"/>
              <a:t>, para </a:t>
            </a:r>
            <a:r>
              <a:rPr dirty="0" err="1"/>
              <a:t>que</a:t>
            </a:r>
            <a:r>
              <a:rPr dirty="0"/>
              <a:t> la </a:t>
            </a:r>
            <a:r>
              <a:rPr dirty="0" err="1"/>
              <a:t>comparación</a:t>
            </a:r>
            <a:r>
              <a:rPr dirty="0"/>
              <a:t> sea </a:t>
            </a:r>
            <a:r>
              <a:rPr dirty="0" err="1"/>
              <a:t>justa</a:t>
            </a:r>
            <a:r>
              <a:rPr dirty="0"/>
              <a:t>. La </a:t>
            </a:r>
            <a:r>
              <a:rPr dirty="0" err="1"/>
              <a:t>cadena</a:t>
            </a:r>
            <a:r>
              <a:rPr dirty="0"/>
              <a:t> es: la </a:t>
            </a:r>
            <a:r>
              <a:rPr dirty="0" err="1"/>
              <a:t>trayectoria</a:t>
            </a:r>
            <a:r>
              <a:rPr dirty="0"/>
              <a:t> </a:t>
            </a:r>
            <a:r>
              <a:rPr dirty="0" err="1"/>
              <a:t>entra</a:t>
            </a:r>
            <a:r>
              <a:rPr dirty="0"/>
              <a:t> por un </a:t>
            </a:r>
            <a:r>
              <a:rPr dirty="0" err="1"/>
              <a:t>bloque</a:t>
            </a:r>
            <a:r>
              <a:rPr dirty="0"/>
              <a:t> From Workspace, el </a:t>
            </a:r>
            <a:r>
              <a:rPr dirty="0" err="1"/>
              <a:t>controlador</a:t>
            </a:r>
            <a:r>
              <a:rPr dirty="0"/>
              <a:t> -un </a:t>
            </a:r>
            <a:r>
              <a:rPr dirty="0" err="1"/>
              <a:t>bloque</a:t>
            </a:r>
            <a:r>
              <a:rPr dirty="0"/>
              <a:t> MATLAB Function- </a:t>
            </a:r>
            <a:r>
              <a:rPr dirty="0" err="1"/>
              <a:t>calcula</a:t>
            </a:r>
            <a:r>
              <a:rPr dirty="0"/>
              <a:t> el torque, </a:t>
            </a:r>
            <a:r>
              <a:rPr dirty="0" err="1"/>
              <a:t>pasa</a:t>
            </a:r>
            <a:r>
              <a:rPr dirty="0"/>
              <a:t> por </a:t>
            </a:r>
            <a:r>
              <a:rPr dirty="0" err="1"/>
              <a:t>una</a:t>
            </a:r>
            <a:r>
              <a:rPr dirty="0"/>
              <a:t> </a:t>
            </a:r>
            <a:r>
              <a:rPr dirty="0" err="1"/>
              <a:t>saturación</a:t>
            </a:r>
            <a:r>
              <a:rPr dirty="0"/>
              <a:t> de más </a:t>
            </a:r>
            <a:r>
              <a:rPr dirty="0" err="1"/>
              <a:t>menos</a:t>
            </a:r>
            <a:r>
              <a:rPr dirty="0"/>
              <a:t> 80, 80 y 60 newton-metro, </a:t>
            </a:r>
            <a:r>
              <a:rPr dirty="0" err="1"/>
              <a:t>entra</a:t>
            </a:r>
            <a:r>
              <a:rPr dirty="0"/>
              <a:t> a la planta </a:t>
            </a:r>
            <a:r>
              <a:rPr dirty="0" err="1"/>
              <a:t>dinámica</a:t>
            </a:r>
            <a:r>
              <a:rPr dirty="0"/>
              <a:t> -</a:t>
            </a:r>
            <a:r>
              <a:rPr dirty="0" err="1"/>
              <a:t>otro</a:t>
            </a:r>
            <a:r>
              <a:rPr dirty="0"/>
              <a:t> MATLAB Function </a:t>
            </a:r>
            <a:r>
              <a:rPr dirty="0" err="1"/>
              <a:t>que</a:t>
            </a:r>
            <a:r>
              <a:rPr dirty="0"/>
              <a:t> </a:t>
            </a:r>
            <a:r>
              <a:rPr dirty="0" err="1"/>
              <a:t>resuelve</a:t>
            </a:r>
            <a:r>
              <a:rPr dirty="0"/>
              <a:t> q̈=M⁻¹(τ−</a:t>
            </a:r>
            <a:r>
              <a:rPr dirty="0" err="1"/>
              <a:t>Cq</a:t>
            </a:r>
            <a:r>
              <a:rPr dirty="0"/>
              <a:t>̇−G)-, y dos </a:t>
            </a:r>
            <a:r>
              <a:rPr dirty="0" err="1"/>
              <a:t>integradores</a:t>
            </a:r>
            <a:r>
              <a:rPr dirty="0"/>
              <a:t> en </a:t>
            </a:r>
            <a:r>
              <a:rPr dirty="0" err="1"/>
              <a:t>cascada</a:t>
            </a:r>
            <a:r>
              <a:rPr dirty="0"/>
              <a:t> </a:t>
            </a:r>
            <a:r>
              <a:rPr dirty="0" err="1"/>
              <a:t>devuelven</a:t>
            </a:r>
            <a:r>
              <a:rPr dirty="0"/>
              <a:t> la </a:t>
            </a:r>
            <a:r>
              <a:rPr dirty="0" err="1"/>
              <a:t>velocidad</a:t>
            </a:r>
            <a:r>
              <a:rPr dirty="0"/>
              <a:t> y la </a:t>
            </a:r>
            <a:r>
              <a:rPr dirty="0" err="1"/>
              <a:t>posición</a:t>
            </a:r>
            <a:r>
              <a:rPr dirty="0"/>
              <a:t>, </a:t>
            </a:r>
            <a:r>
              <a:rPr dirty="0" err="1"/>
              <a:t>que</a:t>
            </a:r>
            <a:r>
              <a:rPr dirty="0"/>
              <a:t> se </a:t>
            </a:r>
            <a:r>
              <a:rPr dirty="0" err="1"/>
              <a:t>realimentan</a:t>
            </a:r>
            <a:r>
              <a:rPr dirty="0"/>
              <a:t> al </a:t>
            </a:r>
            <a:r>
              <a:rPr dirty="0" err="1"/>
              <a:t>controlador</a:t>
            </a:r>
            <a:r>
              <a:rPr dirty="0"/>
              <a:t>. La imagen es el Scope real, </a:t>
            </a:r>
            <a:r>
              <a:rPr dirty="0" err="1"/>
              <a:t>corriendo</a:t>
            </a:r>
            <a:r>
              <a:rPr dirty="0"/>
              <a:t> en Simulink: las </a:t>
            </a:r>
            <a:r>
              <a:rPr dirty="0" err="1"/>
              <a:t>tres</a:t>
            </a:r>
            <a:r>
              <a:rPr dirty="0"/>
              <a:t> </a:t>
            </a:r>
            <a:r>
              <a:rPr dirty="0" err="1"/>
              <a:t>articulaciones</a:t>
            </a:r>
            <a:r>
              <a:rPr dirty="0"/>
              <a:t> </a:t>
            </a:r>
            <a:r>
              <a:rPr dirty="0" err="1"/>
              <a:t>convergen</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3, ~15 s): “Aquí el detalle del error por cada articulación -paso rápido-: el PID deja ese rizado que mencioné, PD y par calculado se estabilizan más cerca de cero.”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dirty="0"/>
              <a:t>GUION (Expositor 3, ~100 s):</a:t>
            </a:r>
          </a:p>
          <a:p>
            <a:r>
              <a:rPr dirty="0"/>
              <a:t>"Los </a:t>
            </a:r>
            <a:r>
              <a:rPr dirty="0" err="1"/>
              <a:t>tres</a:t>
            </a:r>
            <a:r>
              <a:rPr dirty="0"/>
              <a:t> </a:t>
            </a:r>
            <a:r>
              <a:rPr dirty="0" err="1"/>
              <a:t>controladores</a:t>
            </a:r>
            <a:r>
              <a:rPr dirty="0"/>
              <a:t>, </a:t>
            </a:r>
            <a:r>
              <a:rPr dirty="0" err="1"/>
              <a:t>misma</a:t>
            </a:r>
            <a:r>
              <a:rPr dirty="0"/>
              <a:t> </a:t>
            </a:r>
            <a:r>
              <a:rPr dirty="0" err="1"/>
              <a:t>trayectoria</a:t>
            </a:r>
            <a:r>
              <a:rPr dirty="0"/>
              <a:t>, </a:t>
            </a:r>
            <a:r>
              <a:rPr dirty="0" err="1"/>
              <a:t>misma</a:t>
            </a:r>
            <a:r>
              <a:rPr dirty="0"/>
              <a:t> </a:t>
            </a:r>
            <a:r>
              <a:rPr dirty="0" err="1"/>
              <a:t>condición</a:t>
            </a:r>
            <a:r>
              <a:rPr dirty="0"/>
              <a:t> </a:t>
            </a:r>
            <a:r>
              <a:rPr dirty="0" err="1"/>
              <a:t>inicial</a:t>
            </a:r>
            <a:r>
              <a:rPr dirty="0"/>
              <a:t>. El error </a:t>
            </a:r>
            <a:r>
              <a:rPr dirty="0" err="1"/>
              <a:t>máximo</a:t>
            </a:r>
            <a:r>
              <a:rPr dirty="0"/>
              <a:t> es </a:t>
            </a:r>
            <a:r>
              <a:rPr dirty="0" err="1"/>
              <a:t>igual</a:t>
            </a:r>
            <a:r>
              <a:rPr dirty="0"/>
              <a:t> en </a:t>
            </a:r>
            <a:r>
              <a:rPr dirty="0" err="1"/>
              <a:t>los</a:t>
            </a:r>
            <a:r>
              <a:rPr dirty="0"/>
              <a:t> </a:t>
            </a:r>
            <a:r>
              <a:rPr dirty="0" err="1"/>
              <a:t>tres</a:t>
            </a:r>
            <a:r>
              <a:rPr dirty="0"/>
              <a:t> </a:t>
            </a:r>
            <a:r>
              <a:rPr dirty="0" err="1"/>
              <a:t>porque</a:t>
            </a:r>
            <a:r>
              <a:rPr dirty="0"/>
              <a:t> </a:t>
            </a:r>
            <a:r>
              <a:rPr dirty="0" err="1"/>
              <a:t>ocurre</a:t>
            </a:r>
            <a:r>
              <a:rPr dirty="0"/>
              <a:t> en el </a:t>
            </a:r>
            <a:r>
              <a:rPr dirty="0" err="1"/>
              <a:t>instante</a:t>
            </a:r>
            <a:r>
              <a:rPr dirty="0"/>
              <a:t> cero, antes de </a:t>
            </a:r>
            <a:r>
              <a:rPr dirty="0" err="1"/>
              <a:t>que</a:t>
            </a:r>
            <a:r>
              <a:rPr dirty="0"/>
              <a:t> </a:t>
            </a:r>
            <a:r>
              <a:rPr dirty="0" err="1"/>
              <a:t>cualquier</a:t>
            </a:r>
            <a:r>
              <a:rPr dirty="0"/>
              <a:t> </a:t>
            </a:r>
            <a:r>
              <a:rPr dirty="0" err="1"/>
              <a:t>controlador</a:t>
            </a:r>
            <a:r>
              <a:rPr dirty="0"/>
              <a:t> </a:t>
            </a:r>
            <a:r>
              <a:rPr dirty="0" err="1"/>
              <a:t>actúe</a:t>
            </a:r>
            <a:r>
              <a:rPr dirty="0"/>
              <a:t> -</a:t>
            </a:r>
            <a:r>
              <a:rPr dirty="0" err="1"/>
              <a:t>depende</a:t>
            </a:r>
            <a:r>
              <a:rPr dirty="0"/>
              <a:t> solo de la </a:t>
            </a:r>
            <a:r>
              <a:rPr dirty="0" err="1"/>
              <a:t>condición</a:t>
            </a:r>
            <a:r>
              <a:rPr dirty="0"/>
              <a:t> </a:t>
            </a:r>
            <a:r>
              <a:rPr dirty="0" err="1"/>
              <a:t>inicial</a:t>
            </a:r>
            <a:r>
              <a:rPr dirty="0"/>
              <a:t>, no del </a:t>
            </a:r>
            <a:r>
              <a:rPr dirty="0" err="1"/>
              <a:t>controlador</a:t>
            </a:r>
            <a:r>
              <a:rPr dirty="0"/>
              <a:t>-. A </a:t>
            </a:r>
            <a:r>
              <a:rPr dirty="0" err="1"/>
              <a:t>partir</a:t>
            </a:r>
            <a:r>
              <a:rPr dirty="0"/>
              <a:t> de ahí, el par </a:t>
            </a:r>
            <a:r>
              <a:rPr dirty="0" err="1"/>
              <a:t>calculado</a:t>
            </a:r>
            <a:r>
              <a:rPr dirty="0"/>
              <a:t> </a:t>
            </a:r>
            <a:r>
              <a:rPr dirty="0" err="1"/>
              <a:t>gana</a:t>
            </a:r>
            <a:r>
              <a:rPr dirty="0"/>
              <a:t> en dos </a:t>
            </a:r>
            <a:r>
              <a:rPr dirty="0" err="1"/>
              <a:t>métricas</a:t>
            </a:r>
            <a:r>
              <a:rPr dirty="0"/>
              <a:t> </a:t>
            </a:r>
            <a:r>
              <a:rPr dirty="0" err="1"/>
              <a:t>concretas</a:t>
            </a:r>
            <a:r>
              <a:rPr dirty="0"/>
              <a:t>: </a:t>
            </a:r>
            <a:r>
              <a:rPr dirty="0" err="1"/>
              <a:t>tiempo</a:t>
            </a:r>
            <a:r>
              <a:rPr dirty="0"/>
              <a:t> de </a:t>
            </a:r>
            <a:r>
              <a:rPr dirty="0" err="1"/>
              <a:t>estabilización</a:t>
            </a:r>
            <a:r>
              <a:rPr dirty="0"/>
              <a:t>, 0.70 s contra 1.89 s del PID; y torque </a:t>
            </a:r>
            <a:r>
              <a:rPr dirty="0" err="1"/>
              <a:t>máximo</a:t>
            </a:r>
            <a:r>
              <a:rPr dirty="0"/>
              <a:t>, 10.03 N·m contra 18 a 20 de </a:t>
            </a:r>
            <a:r>
              <a:rPr dirty="0" err="1"/>
              <a:t>los</a:t>
            </a:r>
            <a:r>
              <a:rPr dirty="0"/>
              <a:t> </a:t>
            </a:r>
            <a:r>
              <a:rPr dirty="0" err="1"/>
              <a:t>otros</a:t>
            </a:r>
            <a:r>
              <a:rPr dirty="0"/>
              <a:t> dos. El torque RMS, en </a:t>
            </a:r>
            <a:r>
              <a:rPr dirty="0" err="1"/>
              <a:t>cambio</a:t>
            </a:r>
            <a:r>
              <a:rPr dirty="0"/>
              <a:t>, es </a:t>
            </a:r>
            <a:r>
              <a:rPr dirty="0" err="1"/>
              <a:t>prácticamente</a:t>
            </a:r>
            <a:r>
              <a:rPr dirty="0"/>
              <a:t> </a:t>
            </a:r>
            <a:r>
              <a:rPr dirty="0" err="1"/>
              <a:t>igual</a:t>
            </a:r>
            <a:r>
              <a:rPr dirty="0"/>
              <a:t> en </a:t>
            </a:r>
            <a:r>
              <a:rPr dirty="0" err="1"/>
              <a:t>los</a:t>
            </a:r>
            <a:r>
              <a:rPr dirty="0"/>
              <a:t> </a:t>
            </a:r>
            <a:r>
              <a:rPr dirty="0" err="1"/>
              <a:t>tres</a:t>
            </a:r>
            <a:r>
              <a:rPr dirty="0"/>
              <a:t>, entre 4.2 y 4.3 N·m -no es ahí </a:t>
            </a:r>
            <a:r>
              <a:rPr dirty="0" err="1"/>
              <a:t>donde</a:t>
            </a:r>
            <a:r>
              <a:rPr dirty="0"/>
              <a:t> </a:t>
            </a:r>
            <a:r>
              <a:rPr dirty="0" err="1"/>
              <a:t>está</a:t>
            </a:r>
            <a:r>
              <a:rPr dirty="0"/>
              <a:t> la </a:t>
            </a:r>
            <a:r>
              <a:rPr dirty="0" err="1"/>
              <a:t>ventaja</a:t>
            </a:r>
            <a:r>
              <a:rPr dirty="0"/>
              <a:t> del par </a:t>
            </a:r>
            <a:r>
              <a:rPr dirty="0" err="1"/>
              <a:t>calculado</a:t>
            </a:r>
            <a:r>
              <a:rPr dirty="0"/>
              <a:t>, </a:t>
            </a:r>
            <a:r>
              <a:rPr dirty="0" err="1"/>
              <a:t>sino</a:t>
            </a:r>
            <a:r>
              <a:rPr dirty="0"/>
              <a:t> en el </a:t>
            </a:r>
            <a:r>
              <a:rPr dirty="0" err="1"/>
              <a:t>pico</a:t>
            </a:r>
            <a:r>
              <a:rPr dirty="0"/>
              <a:t> del </a:t>
            </a:r>
            <a:r>
              <a:rPr dirty="0" err="1"/>
              <a:t>transitorio</a:t>
            </a:r>
            <a:r>
              <a:rPr dirty="0"/>
              <a:t> y en la </a:t>
            </a:r>
            <a:r>
              <a:rPr dirty="0" err="1"/>
              <a:t>velocidad</a:t>
            </a:r>
            <a:r>
              <a:rPr dirty="0"/>
              <a:t> de </a:t>
            </a:r>
            <a:r>
              <a:rPr dirty="0" err="1"/>
              <a:t>convergencia</a:t>
            </a:r>
            <a:r>
              <a:rPr dirty="0"/>
              <a:t>-. Todo </a:t>
            </a:r>
            <a:r>
              <a:rPr dirty="0" err="1"/>
              <a:t>esto</a:t>
            </a:r>
            <a:r>
              <a:rPr dirty="0"/>
              <a:t> lo </a:t>
            </a:r>
            <a:r>
              <a:rPr dirty="0" err="1"/>
              <a:t>validamos</a:t>
            </a:r>
            <a:r>
              <a:rPr dirty="0"/>
              <a:t> también en MATLAB puro, sin Simulink, con </a:t>
            </a:r>
            <a:r>
              <a:rPr dirty="0" err="1"/>
              <a:t>menos</a:t>
            </a:r>
            <a:r>
              <a:rPr dirty="0"/>
              <a:t> de 1% de </a:t>
            </a:r>
            <a:r>
              <a:rPr dirty="0" err="1"/>
              <a:t>diferencia</a:t>
            </a:r>
            <a:r>
              <a:rPr dirty="0"/>
              <a:t>."</a:t>
            </a:r>
          </a:p>
          <a:p>
            <a:endParaRPr dirty="0"/>
          </a:p>
          <a:p>
            <a:r>
              <a:rPr dirty="0"/>
              <a:t>PREGUNTAS PROBABLES DEL DOCENTE:</a:t>
            </a:r>
          </a:p>
          <a:p>
            <a:r>
              <a:rPr dirty="0"/>
              <a:t>P1: "¿Por </a:t>
            </a:r>
            <a:r>
              <a:rPr dirty="0" err="1"/>
              <a:t>qué</a:t>
            </a:r>
            <a:r>
              <a:rPr dirty="0"/>
              <a:t> el error </a:t>
            </a:r>
            <a:r>
              <a:rPr dirty="0" err="1"/>
              <a:t>máximo</a:t>
            </a:r>
            <a:r>
              <a:rPr dirty="0"/>
              <a:t> es </a:t>
            </a:r>
            <a:r>
              <a:rPr dirty="0" err="1"/>
              <a:t>idéntico</a:t>
            </a:r>
            <a:r>
              <a:rPr dirty="0"/>
              <a:t> en </a:t>
            </a:r>
            <a:r>
              <a:rPr dirty="0" err="1"/>
              <a:t>los</a:t>
            </a:r>
            <a:r>
              <a:rPr dirty="0"/>
              <a:t> </a:t>
            </a:r>
            <a:r>
              <a:rPr dirty="0" err="1"/>
              <a:t>tres</a:t>
            </a:r>
            <a:r>
              <a:rPr dirty="0"/>
              <a:t> </a:t>
            </a:r>
            <a:r>
              <a:rPr dirty="0" err="1"/>
              <a:t>controladores</a:t>
            </a:r>
            <a:r>
              <a:rPr dirty="0"/>
              <a:t>?"</a:t>
            </a:r>
          </a:p>
          <a:p>
            <a:r>
              <a:rPr dirty="0"/>
              <a:t>R1: </a:t>
            </a:r>
            <a:r>
              <a:rPr dirty="0" err="1"/>
              <a:t>Ocurre</a:t>
            </a:r>
            <a:r>
              <a:rPr dirty="0"/>
              <a:t> en t=0, antes de </a:t>
            </a:r>
            <a:r>
              <a:rPr dirty="0" err="1"/>
              <a:t>que</a:t>
            </a:r>
            <a:r>
              <a:rPr dirty="0"/>
              <a:t> </a:t>
            </a:r>
            <a:r>
              <a:rPr dirty="0" err="1"/>
              <a:t>actúe</a:t>
            </a:r>
            <a:r>
              <a:rPr dirty="0"/>
              <a:t> </a:t>
            </a:r>
            <a:r>
              <a:rPr dirty="0" err="1"/>
              <a:t>cualquier</a:t>
            </a:r>
            <a:r>
              <a:rPr dirty="0"/>
              <a:t> </a:t>
            </a:r>
            <a:r>
              <a:rPr dirty="0" err="1"/>
              <a:t>controlador</a:t>
            </a:r>
            <a:r>
              <a:rPr dirty="0"/>
              <a:t>; </a:t>
            </a:r>
            <a:r>
              <a:rPr dirty="0" err="1"/>
              <a:t>depende</a:t>
            </a:r>
            <a:r>
              <a:rPr dirty="0"/>
              <a:t> solo de la </a:t>
            </a:r>
            <a:r>
              <a:rPr dirty="0" err="1"/>
              <a:t>condición</a:t>
            </a:r>
            <a:r>
              <a:rPr dirty="0"/>
              <a:t> </a:t>
            </a:r>
            <a:r>
              <a:rPr dirty="0" err="1"/>
              <a:t>inicial</a:t>
            </a:r>
            <a:r>
              <a:rPr dirty="0"/>
              <a:t> </a:t>
            </a:r>
            <a:r>
              <a:rPr dirty="0" err="1"/>
              <a:t>impuesta</a:t>
            </a:r>
            <a:r>
              <a:rPr dirty="0"/>
              <a:t>.</a:t>
            </a:r>
          </a:p>
          <a:p>
            <a:r>
              <a:rPr dirty="0"/>
              <a:t>P2: "¿Por </a:t>
            </a:r>
            <a:r>
              <a:rPr dirty="0" err="1"/>
              <a:t>qué</a:t>
            </a:r>
            <a:r>
              <a:rPr dirty="0"/>
              <a:t> el PID </a:t>
            </a:r>
            <a:r>
              <a:rPr dirty="0" err="1"/>
              <a:t>difiere</a:t>
            </a:r>
            <a:r>
              <a:rPr dirty="0"/>
              <a:t> en </a:t>
            </a:r>
            <a:r>
              <a:rPr dirty="0" err="1"/>
              <a:t>tiempo</a:t>
            </a:r>
            <a:r>
              <a:rPr dirty="0"/>
              <a:t> de </a:t>
            </a:r>
            <a:r>
              <a:rPr dirty="0" err="1"/>
              <a:t>estabilización</a:t>
            </a:r>
            <a:r>
              <a:rPr dirty="0"/>
              <a:t> entre Simulink y MATLAB puro?"</a:t>
            </a:r>
          </a:p>
          <a:p>
            <a:r>
              <a:rPr dirty="0"/>
              <a:t>R2: El PID no </a:t>
            </a:r>
            <a:r>
              <a:rPr dirty="0" err="1"/>
              <a:t>incorpora</a:t>
            </a:r>
            <a:r>
              <a:rPr dirty="0"/>
              <a:t> anti-windup; </a:t>
            </a:r>
            <a:r>
              <a:rPr dirty="0" err="1"/>
              <a:t>esa</a:t>
            </a:r>
            <a:r>
              <a:rPr dirty="0"/>
              <a:t> no </a:t>
            </a:r>
            <a:r>
              <a:rPr dirty="0" err="1"/>
              <a:t>linealidad</a:t>
            </a:r>
            <a:r>
              <a:rPr dirty="0"/>
              <a:t> lo </a:t>
            </a:r>
            <a:r>
              <a:rPr dirty="0" err="1"/>
              <a:t>hace</a:t>
            </a:r>
            <a:r>
              <a:rPr dirty="0"/>
              <a:t> sensible a </a:t>
            </a:r>
            <a:r>
              <a:rPr dirty="0" err="1"/>
              <a:t>diferencias</a:t>
            </a:r>
            <a:r>
              <a:rPr dirty="0"/>
              <a:t> </a:t>
            </a:r>
            <a:r>
              <a:rPr dirty="0" err="1"/>
              <a:t>mínimas</a:t>
            </a:r>
            <a:r>
              <a:rPr dirty="0"/>
              <a:t> entre dos </a:t>
            </a:r>
            <a:r>
              <a:rPr dirty="0" err="1"/>
              <a:t>integraciones</a:t>
            </a:r>
            <a:r>
              <a:rPr dirty="0"/>
              <a:t> </a:t>
            </a:r>
            <a:r>
              <a:rPr dirty="0" err="1"/>
              <a:t>numéricas</a:t>
            </a:r>
            <a:r>
              <a:rPr dirty="0"/>
              <a:t> </a:t>
            </a:r>
            <a:r>
              <a:rPr dirty="0" err="1"/>
              <a:t>equivalentes</a:t>
            </a:r>
            <a:r>
              <a:rPr dirty="0"/>
              <a:t>. Queda como </a:t>
            </a:r>
            <a:r>
              <a:rPr dirty="0" err="1"/>
              <a:t>recomendación</a:t>
            </a:r>
            <a:r>
              <a:rPr dirty="0"/>
              <a:t>/</a:t>
            </a:r>
            <a:r>
              <a:rPr dirty="0" err="1"/>
              <a:t>pregunta</a:t>
            </a:r>
            <a:r>
              <a:rPr dirty="0"/>
              <a:t> al </a:t>
            </a:r>
            <a:r>
              <a:rPr dirty="0" err="1"/>
              <a:t>docente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3, ~15 s): “Esta es la evidencia completa de la validación cruzada en MATLAB puro: seguimiento articular de las tres juntas, prácticamente idéntico a Simulink.”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3, ~15 s): “El error articular comparado y la trayectoria cartesiana del efector, también en MATLAB puro -mismos números que ya vimos, menos de 1% de diferencia-.”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3, ~15 s): “Y el torque por controlador y por articulación en esa misma validación cruzada. Sigo con la implementación en Simulink.”</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3, ~15 s): “Los tres Scopes reales de Simulink, uno por controlador: en los tres, las tres articulaciones convergen.”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s-PE"/>
          </a:p>
        </p:txBody>
      </p:sp>
      <p:sp>
        <p:nvSpPr>
          <p:cNvPr id="3" name="Notes Placeholder 2"/>
          <p:cNvSpPr>
            <a:spLocks noGrp="1"/>
          </p:cNvSpPr>
          <p:nvPr>
            <p:ph type="body" sz="quarter" idx="3"/>
          </p:nvPr>
        </p:nvSpPr>
        <p:spPr/>
        <p:txBody>
          <a:bodyPr/>
          <a:lstStyle/>
          <a:p>
            <a:r>
              <a:t>GUION (Expositor 1, ~15 s):</a:t>
            </a:r>
          </a:p>
          <a:p>
            <a:r>
              <a:t>"Gracias. Cierro yo con la planeación autónoma y las conclusiones."</a:t>
            </a:r>
          </a:p>
        </p:txBody>
      </p:sp>
      <p:sp>
        <p:nvSpPr>
          <p:cNvPr id="4" name="Slide Number Placeholder 3"/>
          <p:cNvSpPr>
            <a:spLocks noGrp="1"/>
          </p:cNvSpPr>
          <p:nvPr>
            <p:ph type="sldNum" sz="quarter" idx="5"/>
          </p:nvPr>
        </p:nvSpPr>
        <p:spPr/>
        <p:txBody>
          <a:bodyPr/>
          <a:lstStyle/>
          <a:p>
            <a:endParaRPr lang="es-P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dirty="0"/>
              <a:t>GUION (Expositor 1, ~80 s):</a:t>
            </a:r>
          </a:p>
          <a:p>
            <a:r>
              <a:rPr dirty="0"/>
              <a:t>"</a:t>
            </a:r>
            <a:r>
              <a:rPr dirty="0" err="1"/>
              <a:t>Cerramos</a:t>
            </a:r>
            <a:r>
              <a:rPr dirty="0"/>
              <a:t> el </a:t>
            </a:r>
            <a:r>
              <a:rPr dirty="0" err="1"/>
              <a:t>círculo</a:t>
            </a:r>
            <a:r>
              <a:rPr dirty="0"/>
              <a:t>: </a:t>
            </a:r>
            <a:r>
              <a:rPr dirty="0" err="1"/>
              <a:t>los</a:t>
            </a:r>
            <a:r>
              <a:rPr dirty="0"/>
              <a:t> </a:t>
            </a:r>
            <a:r>
              <a:rPr dirty="0" err="1"/>
              <a:t>tres</a:t>
            </a:r>
            <a:r>
              <a:rPr dirty="0"/>
              <a:t> </a:t>
            </a:r>
            <a:r>
              <a:rPr dirty="0" err="1"/>
              <a:t>controladores</a:t>
            </a:r>
            <a:r>
              <a:rPr dirty="0"/>
              <a:t> </a:t>
            </a:r>
            <a:r>
              <a:rPr dirty="0" err="1"/>
              <a:t>que</a:t>
            </a:r>
            <a:r>
              <a:rPr dirty="0"/>
              <a:t> </a:t>
            </a:r>
            <a:r>
              <a:rPr dirty="0" err="1"/>
              <a:t>acaban</a:t>
            </a:r>
            <a:r>
              <a:rPr dirty="0"/>
              <a:t> de </a:t>
            </a:r>
            <a:r>
              <a:rPr dirty="0" err="1"/>
              <a:t>ver</a:t>
            </a:r>
            <a:r>
              <a:rPr dirty="0"/>
              <a:t> </a:t>
            </a:r>
            <a:r>
              <a:rPr dirty="0" err="1"/>
              <a:t>ahora</a:t>
            </a:r>
            <a:r>
              <a:rPr dirty="0"/>
              <a:t> </a:t>
            </a:r>
            <a:r>
              <a:rPr dirty="0" err="1"/>
              <a:t>siguen</a:t>
            </a:r>
            <a:r>
              <a:rPr dirty="0"/>
              <a:t> </a:t>
            </a:r>
            <a:r>
              <a:rPr dirty="0" err="1"/>
              <a:t>una</a:t>
            </a:r>
            <a:r>
              <a:rPr dirty="0"/>
              <a:t> </a:t>
            </a:r>
            <a:r>
              <a:rPr dirty="0" err="1"/>
              <a:t>trayectoria</a:t>
            </a:r>
            <a:r>
              <a:rPr dirty="0"/>
              <a:t> </a:t>
            </a:r>
            <a:r>
              <a:rPr dirty="0" err="1"/>
              <a:t>autónoma</a:t>
            </a:r>
            <a:r>
              <a:rPr dirty="0"/>
              <a:t>, no solo un </a:t>
            </a:r>
            <a:r>
              <a:rPr dirty="0" err="1"/>
              <a:t>tramo</a:t>
            </a:r>
            <a:r>
              <a:rPr dirty="0"/>
              <a:t> punto a punto. El </a:t>
            </a:r>
            <a:r>
              <a:rPr dirty="0" err="1"/>
              <a:t>flujo</a:t>
            </a:r>
            <a:r>
              <a:rPr dirty="0"/>
              <a:t> es </a:t>
            </a:r>
            <a:r>
              <a:rPr dirty="0" err="1"/>
              <a:t>este</a:t>
            </a:r>
            <a:r>
              <a:rPr dirty="0"/>
              <a:t>: un </a:t>
            </a:r>
            <a:r>
              <a:rPr dirty="0" err="1"/>
              <a:t>mapa</a:t>
            </a:r>
            <a:r>
              <a:rPr dirty="0"/>
              <a:t> </a:t>
            </a:r>
            <a:r>
              <a:rPr dirty="0" err="1"/>
              <a:t>cartesiano</a:t>
            </a:r>
            <a:r>
              <a:rPr dirty="0"/>
              <a:t> en el plano X-Z con dos </a:t>
            </a:r>
            <a:r>
              <a:rPr dirty="0" err="1"/>
              <a:t>obstáculos</a:t>
            </a:r>
            <a:r>
              <a:rPr dirty="0"/>
              <a:t> circulares, el </a:t>
            </a:r>
            <a:r>
              <a:rPr dirty="0" err="1"/>
              <a:t>algoritmo</a:t>
            </a:r>
            <a:r>
              <a:rPr dirty="0"/>
              <a:t> A* con </a:t>
            </a:r>
            <a:r>
              <a:rPr dirty="0" err="1"/>
              <a:t>conectividad</a:t>
            </a:r>
            <a:r>
              <a:rPr dirty="0"/>
              <a:t> de 8 </a:t>
            </a:r>
            <a:r>
              <a:rPr dirty="0" err="1"/>
              <a:t>vecinos</a:t>
            </a:r>
            <a:r>
              <a:rPr dirty="0"/>
              <a:t> </a:t>
            </a:r>
            <a:r>
              <a:rPr dirty="0" err="1"/>
              <a:t>encuentra</a:t>
            </a:r>
            <a:r>
              <a:rPr dirty="0"/>
              <a:t> la </a:t>
            </a:r>
            <a:r>
              <a:rPr dirty="0" err="1"/>
              <a:t>ruta</a:t>
            </a:r>
            <a:r>
              <a:rPr dirty="0"/>
              <a:t> </a:t>
            </a:r>
            <a:r>
              <a:rPr dirty="0" err="1"/>
              <a:t>óptima</a:t>
            </a:r>
            <a:r>
              <a:rPr dirty="0"/>
              <a:t> libre de </a:t>
            </a:r>
            <a:r>
              <a:rPr dirty="0" err="1"/>
              <a:t>colisión</a:t>
            </a:r>
            <a:r>
              <a:rPr dirty="0"/>
              <a:t>, </a:t>
            </a:r>
            <a:r>
              <a:rPr dirty="0" err="1"/>
              <a:t>esos</a:t>
            </a:r>
            <a:r>
              <a:rPr dirty="0"/>
              <a:t> 13 waypoints son </a:t>
            </a:r>
            <a:r>
              <a:rPr dirty="0" err="1"/>
              <a:t>todos</a:t>
            </a:r>
            <a:r>
              <a:rPr dirty="0"/>
              <a:t> </a:t>
            </a:r>
            <a:r>
              <a:rPr dirty="0" err="1"/>
              <a:t>alcanzables</a:t>
            </a:r>
            <a:r>
              <a:rPr dirty="0"/>
              <a:t> por </a:t>
            </a:r>
            <a:r>
              <a:rPr dirty="0" err="1"/>
              <a:t>cinemática</a:t>
            </a:r>
            <a:r>
              <a:rPr dirty="0"/>
              <a:t> </a:t>
            </a:r>
            <a:r>
              <a:rPr dirty="0" err="1"/>
              <a:t>inversa</a:t>
            </a:r>
            <a:r>
              <a:rPr dirty="0"/>
              <a:t>, se </a:t>
            </a:r>
            <a:r>
              <a:rPr dirty="0" err="1"/>
              <a:t>suavizan</a:t>
            </a:r>
            <a:r>
              <a:rPr dirty="0"/>
              <a:t> con </a:t>
            </a:r>
            <a:r>
              <a:rPr dirty="0" err="1"/>
              <a:t>una</a:t>
            </a:r>
            <a:r>
              <a:rPr dirty="0"/>
              <a:t> </a:t>
            </a:r>
            <a:r>
              <a:rPr dirty="0" err="1"/>
              <a:t>interpolación</a:t>
            </a:r>
            <a:r>
              <a:rPr dirty="0"/>
              <a:t> </a:t>
            </a:r>
            <a:r>
              <a:rPr dirty="0" err="1"/>
              <a:t>pchip</a:t>
            </a:r>
            <a:r>
              <a:rPr dirty="0"/>
              <a:t>, y </a:t>
            </a:r>
            <a:r>
              <a:rPr dirty="0" err="1"/>
              <a:t>esa</a:t>
            </a:r>
            <a:r>
              <a:rPr dirty="0"/>
              <a:t> </a:t>
            </a:r>
            <a:r>
              <a:rPr dirty="0" err="1"/>
              <a:t>trayectoria</a:t>
            </a:r>
            <a:r>
              <a:rPr dirty="0"/>
              <a:t> articular la </a:t>
            </a:r>
            <a:r>
              <a:rPr dirty="0" err="1"/>
              <a:t>siguen</a:t>
            </a:r>
            <a:r>
              <a:rPr dirty="0"/>
              <a:t> </a:t>
            </a:r>
            <a:r>
              <a:rPr dirty="0" err="1"/>
              <a:t>los</a:t>
            </a:r>
            <a:r>
              <a:rPr dirty="0"/>
              <a:t> </a:t>
            </a:r>
            <a:r>
              <a:rPr dirty="0" err="1"/>
              <a:t>mismos</a:t>
            </a:r>
            <a:r>
              <a:rPr dirty="0"/>
              <a:t> </a:t>
            </a:r>
            <a:r>
              <a:rPr dirty="0" err="1"/>
              <a:t>tres</a:t>
            </a:r>
            <a:r>
              <a:rPr dirty="0"/>
              <a:t> </a:t>
            </a:r>
            <a:r>
              <a:rPr dirty="0" err="1"/>
              <a:t>controladores</a:t>
            </a:r>
            <a:r>
              <a:rPr dirty="0"/>
              <a:t> </a:t>
            </a:r>
            <a:r>
              <a:rPr dirty="0" err="1"/>
              <a:t>que</a:t>
            </a:r>
            <a:r>
              <a:rPr dirty="0"/>
              <a:t> </a:t>
            </a:r>
            <a:r>
              <a:rPr dirty="0" err="1"/>
              <a:t>ya</a:t>
            </a:r>
            <a:r>
              <a:rPr dirty="0"/>
              <a:t> </a:t>
            </a:r>
            <a:r>
              <a:rPr dirty="0" err="1"/>
              <a:t>vimos</a:t>
            </a:r>
            <a:r>
              <a:rPr dirty="0"/>
              <a:t> -no </a:t>
            </a:r>
            <a:r>
              <a:rPr dirty="0" err="1"/>
              <a:t>hicimos</a:t>
            </a:r>
            <a:r>
              <a:rPr dirty="0"/>
              <a:t> </a:t>
            </a:r>
            <a:r>
              <a:rPr dirty="0" err="1"/>
              <a:t>ningún</a:t>
            </a:r>
            <a:r>
              <a:rPr dirty="0"/>
              <a:t> </a:t>
            </a:r>
            <a:r>
              <a:rPr dirty="0" err="1"/>
              <a:t>controlador</a:t>
            </a:r>
            <a:r>
              <a:rPr dirty="0"/>
              <a:t> nuevo para </a:t>
            </a:r>
            <a:r>
              <a:rPr dirty="0" err="1"/>
              <a:t>esto</a:t>
            </a:r>
            <a:r>
              <a:rPr dirty="0"/>
              <a:t>-."</a:t>
            </a:r>
          </a:p>
          <a:p>
            <a:endParaRPr dirty="0"/>
          </a:p>
          <a:p>
            <a:r>
              <a:rPr dirty="0"/>
              <a:t>PREGUNTA PROBABLE DEL DOCENTE:</a:t>
            </a:r>
          </a:p>
          <a:p>
            <a:r>
              <a:rPr dirty="0"/>
              <a:t>P: "¿La </a:t>
            </a:r>
            <a:r>
              <a:rPr dirty="0" err="1"/>
              <a:t>planeación</a:t>
            </a:r>
            <a:r>
              <a:rPr dirty="0"/>
              <a:t> A* </a:t>
            </a:r>
            <a:r>
              <a:rPr dirty="0" err="1"/>
              <a:t>puede</a:t>
            </a:r>
            <a:r>
              <a:rPr dirty="0"/>
              <a:t> </a:t>
            </a:r>
            <a:r>
              <a:rPr dirty="0" err="1"/>
              <a:t>ejecutarse</a:t>
            </a:r>
            <a:r>
              <a:rPr dirty="0"/>
              <a:t> </a:t>
            </a:r>
            <a:r>
              <a:rPr dirty="0" err="1"/>
              <a:t>dentro</a:t>
            </a:r>
            <a:r>
              <a:rPr dirty="0"/>
              <a:t> de Simulink o solo en MATLAB?"</a:t>
            </a:r>
          </a:p>
          <a:p>
            <a:r>
              <a:rPr dirty="0"/>
              <a:t>R: Se </a:t>
            </a:r>
            <a:r>
              <a:rPr dirty="0" err="1"/>
              <a:t>planifica</a:t>
            </a:r>
            <a:r>
              <a:rPr dirty="0"/>
              <a:t> en MATLAB y se entrega la </a:t>
            </a:r>
            <a:r>
              <a:rPr dirty="0" err="1"/>
              <a:t>trayectoria</a:t>
            </a:r>
            <a:r>
              <a:rPr dirty="0"/>
              <a:t> articular </a:t>
            </a:r>
            <a:r>
              <a:rPr dirty="0" err="1"/>
              <a:t>deseada</a:t>
            </a:r>
            <a:r>
              <a:rPr dirty="0"/>
              <a:t> qd(t) a Simulink. Queda como </a:t>
            </a:r>
            <a:r>
              <a:rPr dirty="0" err="1"/>
              <a:t>pregunta</a:t>
            </a:r>
            <a:r>
              <a:rPr dirty="0"/>
              <a:t> </a:t>
            </a:r>
            <a:r>
              <a:rPr dirty="0" err="1"/>
              <a:t>abierta</a:t>
            </a:r>
            <a:r>
              <a:rPr dirty="0"/>
              <a:t> al </a:t>
            </a:r>
            <a:r>
              <a:rPr dirty="0" err="1"/>
              <a:t>docente</a:t>
            </a:r>
            <a:r>
              <a:rPr dirty="0"/>
              <a:t> </a:t>
            </a:r>
            <a:r>
              <a:rPr dirty="0" err="1"/>
              <a:t>si</a:t>
            </a:r>
            <a:r>
              <a:rPr dirty="0"/>
              <a:t> </a:t>
            </a:r>
            <a:r>
              <a:rPr dirty="0" err="1"/>
              <a:t>desea</a:t>
            </a:r>
            <a:r>
              <a:rPr dirty="0"/>
              <a:t> </a:t>
            </a:r>
            <a:r>
              <a:rPr dirty="0" err="1"/>
              <a:t>que</a:t>
            </a:r>
            <a:r>
              <a:rPr dirty="0"/>
              <a:t> el </a:t>
            </a:r>
            <a:r>
              <a:rPr dirty="0" err="1"/>
              <a:t>propio</a:t>
            </a:r>
            <a:r>
              <a:rPr dirty="0"/>
              <a:t> Simulink </a:t>
            </a:r>
            <a:r>
              <a:rPr dirty="0" err="1"/>
              <a:t>ejecute</a:t>
            </a:r>
            <a:r>
              <a:rPr dirty="0"/>
              <a:t> el </a:t>
            </a:r>
            <a:r>
              <a:rPr dirty="0" err="1"/>
              <a:t>algoritmo</a:t>
            </a:r>
            <a:r>
              <a:rPr dirty="0"/>
              <a:t> de </a:t>
            </a:r>
            <a:r>
              <a:rPr dirty="0" err="1"/>
              <a:t>búsqueda</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1, ~15 s): “El seguimiento articular completo con la ruta A*, para las tres juntas y los tres controladores ya vistos.”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1, ~15 s): “Error articular y trayectoria cartesiana del efector siguiendo la ruta con obstáculos.”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rPr lang="es-PE" dirty="0"/>
              <a:t>GUION (Expositor 1, ~15 s): “Y el torque correspondiente: el par calculado vuelve a ser el más eficiente, con el pico más bajo.”</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a:p>
        </p:txBody>
      </p:sp>
      <p:sp>
        <p:nvSpPr>
          <p:cNvPr id="3" name="Notes Placeholder 2"/>
          <p:cNvSpPr>
            <a:spLocks noGrp="1"/>
          </p:cNvSpPr>
          <p:nvPr>
            <p:ph type="body" idx="1"/>
          </p:nvPr>
        </p:nvSpPr>
        <p:spPr/>
        <p:txBody>
          <a:bodyPr/>
          <a:lstStyle/>
          <a:p>
            <a:r>
              <a:t>GUION (Expositor 1 - cierre, ~80 s):</a:t>
            </a:r>
          </a:p>
          <a:p>
            <a:r>
              <a:t>"Para cerrar. Obtuvimos un modelo dinámico completo por Jacobianos y Christoffel, sin lagrangiano, verificado simétrico y definido positivo. Los tres controladores están validados en Simulink y en MATLAB puro, con menos de 1% de diferencia, y cada uno con su propia justificación de estabilidad. El par calculado es el más eficiente: reduce la dinámica de error a una ecuación lineal, y gana en tiempo de estabilización y en torque máximo -el torque RMS es prácticamente igual en los tres, por eso no aparece entre las cifras de cierre-. Y la planeación autónoma con A* se integró sin perder precisión de seguimiento, reusando los mismos controladores. Pasamos de la cinemática del parcial a un control articular con sustento matemático completo. Muchas gracias, quedamos abiertos a sus preguntas."</a:t>
            </a:r>
          </a:p>
          <a:p>
            <a:endParaRPr/>
          </a:p>
          <a:p>
            <a:r>
              <a:t>Recordar: todo está versionado y es reproducible en el repositorio.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15088" y="20313"/>
            <a:ext cx="12191695" cy="6858000"/>
          </a:xfrm>
          <a:prstGeom prst="rect">
            <a:avLst/>
          </a:prstGeom>
          <a:solidFill>
            <a:srgbClr val="600810"/>
          </a:solidFill>
          <a:ln/>
        </p:spPr>
        <p:txBody>
          <a:bodyPr/>
          <a:lstStyle/>
          <a:p>
            <a:endParaRPr/>
          </a:p>
        </p:txBody>
      </p:sp>
      <p:pic>
        <p:nvPicPr>
          <p:cNvPr id="9" name="Image 0" descr="/tmp/tesis_v6/img/logo_uni.png">
            <a:extLst>
              <a:ext uri="{FF2B5EF4-FFF2-40B4-BE49-F238E27FC236}">
                <a16:creationId xmlns:a16="http://schemas.microsoft.com/office/drawing/2014/main" id="{DB14F3E5-1F2A-B5A5-30DF-08DB1DE3A128}"/>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Effect>
                      <a14:brightnessContrast bright="20000"/>
                    </a14:imgEffect>
                  </a14:imgLayer>
                </a14:imgProps>
              </a:ext>
            </a:extLst>
          </a:blip>
          <a:stretch>
            <a:fillRect/>
          </a:stretch>
        </p:blipFill>
        <p:spPr>
          <a:xfrm>
            <a:off x="4026738" y="274321"/>
            <a:ext cx="3779519" cy="4754879"/>
          </a:xfrm>
          <a:prstGeom prst="rect">
            <a:avLst/>
          </a:prstGeom>
        </p:spPr>
      </p:pic>
      <p:sp>
        <p:nvSpPr>
          <p:cNvPr id="3" name="Text 1"/>
          <p:cNvSpPr/>
          <p:nvPr/>
        </p:nvSpPr>
        <p:spPr>
          <a:xfrm>
            <a:off x="822960" y="914400"/>
            <a:ext cx="10515600" cy="365760"/>
          </a:xfrm>
          <a:prstGeom prst="rect">
            <a:avLst/>
          </a:prstGeom>
          <a:noFill/>
          <a:ln/>
        </p:spPr>
        <p:txBody>
          <a:bodyPr wrap="square" rtlCol="0" anchor="ctr"/>
          <a:lstStyle/>
          <a:p>
            <a:pPr marL="0" indent="0" algn="ctr">
              <a:buNone/>
            </a:pPr>
            <a:r>
              <a:rPr lang="en-US" sz="2000" b="1" kern="0" spc="200" dirty="0">
                <a:solidFill>
                  <a:srgbClr val="E8C8CB"/>
                </a:solidFill>
                <a:latin typeface="Arial" panose="020B0604020202020204" pitchFamily="34" charset="0"/>
                <a:ea typeface="Calibri" pitchFamily="34" charset="-122"/>
                <a:cs typeface="Arial" panose="020B0604020202020204" pitchFamily="34" charset="0"/>
              </a:rPr>
              <a:t>UNIVERSIDAD NACIONAL DE INGENIERÍA</a:t>
            </a:r>
          </a:p>
          <a:p>
            <a:pPr marL="0" indent="0" algn="ctr">
              <a:buNone/>
            </a:pPr>
            <a:r>
              <a:rPr lang="es-ES" sz="1250" b="1" kern="0" spc="200" dirty="0">
                <a:solidFill>
                  <a:srgbClr val="E8C8CB"/>
                </a:solidFill>
                <a:latin typeface="Calibri" pitchFamily="34" charset="0"/>
                <a:ea typeface="Calibri" pitchFamily="34" charset="-122"/>
                <a:cs typeface="Calibri" pitchFamily="34" charset="-120"/>
              </a:rPr>
              <a:t>UNIDAD DE POSTGRADO FACULTAD DE INGENIERIA INDUSTRIAL Y DE SISTEMAS</a:t>
            </a:r>
            <a:endParaRPr lang="en-US" sz="1250" b="1" kern="0" spc="200" dirty="0">
              <a:solidFill>
                <a:srgbClr val="E8C8CB"/>
              </a:solidFill>
              <a:latin typeface="Calibri" pitchFamily="34" charset="0"/>
              <a:ea typeface="Calibri" pitchFamily="34" charset="-122"/>
              <a:cs typeface="Calibri" pitchFamily="34" charset="-120"/>
            </a:endParaRPr>
          </a:p>
          <a:p>
            <a:pPr marL="0" indent="0" algn="ctr">
              <a:buNone/>
            </a:pPr>
            <a:r>
              <a:rPr lang="en-US" sz="1250" b="1" kern="0" spc="200" dirty="0">
                <a:solidFill>
                  <a:srgbClr val="E8C8CB"/>
                </a:solidFill>
                <a:latin typeface="Calibri" pitchFamily="34" charset="0"/>
                <a:ea typeface="Calibri" pitchFamily="34" charset="-122"/>
                <a:cs typeface="Calibri" pitchFamily="34" charset="-120"/>
              </a:rPr>
              <a:t>MAESTRÍA EN INTELIGENCIA ARTIFICIAL</a:t>
            </a:r>
            <a:endParaRPr lang="en-US" sz="1250" dirty="0"/>
          </a:p>
        </p:txBody>
      </p:sp>
      <p:sp>
        <p:nvSpPr>
          <p:cNvPr id="4" name="Text 2"/>
          <p:cNvSpPr/>
          <p:nvPr/>
        </p:nvSpPr>
        <p:spPr>
          <a:xfrm>
            <a:off x="2236863" y="2692385"/>
            <a:ext cx="7359268" cy="914400"/>
          </a:xfrm>
          <a:prstGeom prst="rect">
            <a:avLst/>
          </a:prstGeom>
          <a:noFill/>
          <a:ln/>
        </p:spPr>
        <p:txBody>
          <a:bodyPr wrap="square" rtlCol="0" anchor="ctr"/>
          <a:lstStyle/>
          <a:p>
            <a:pPr marL="0" indent="0" algn="ctr">
              <a:buNone/>
            </a:pPr>
            <a:r>
              <a:rPr lang="en-US" sz="2800" dirty="0">
                <a:solidFill>
                  <a:srgbClr val="FFFFFF"/>
                </a:solidFill>
                <a:latin typeface="Arial Black" panose="020B0A04020102020204" pitchFamily="34" charset="0"/>
                <a:ea typeface="Cambria" pitchFamily="34" charset="-122"/>
                <a:cs typeface="Cambria" pitchFamily="34" charset="-120"/>
              </a:rPr>
              <a:t>CONTROL DE UN ROBOT ANTROPOMÓRFICO DE 3 GDL</a:t>
            </a:r>
            <a:endParaRPr lang="en-US" sz="2800" dirty="0">
              <a:latin typeface="Arial Black" panose="020B0A04020102020204" pitchFamily="34" charset="0"/>
            </a:endParaRPr>
          </a:p>
        </p:txBody>
      </p:sp>
      <p:sp>
        <p:nvSpPr>
          <p:cNvPr id="5" name="Text 3"/>
          <p:cNvSpPr/>
          <p:nvPr/>
        </p:nvSpPr>
        <p:spPr>
          <a:xfrm>
            <a:off x="1295400" y="3449313"/>
            <a:ext cx="9601200" cy="640080"/>
          </a:xfrm>
          <a:prstGeom prst="rect">
            <a:avLst/>
          </a:prstGeom>
          <a:noFill/>
          <a:ln/>
        </p:spPr>
        <p:txBody>
          <a:bodyPr wrap="square" rtlCol="0" anchor="ctr"/>
          <a:lstStyle/>
          <a:p>
            <a:pPr marL="0" indent="0" algn="ctr">
              <a:buNone/>
            </a:pPr>
            <a:r>
              <a:rPr lang="en-US" sz="1500" i="1" dirty="0">
                <a:solidFill>
                  <a:srgbClr val="F0D5D8"/>
                </a:solidFill>
                <a:latin typeface="Calibri" pitchFamily="34" charset="0"/>
                <a:ea typeface="Calibri" pitchFamily="34" charset="-122"/>
                <a:cs typeface="Calibri" pitchFamily="34" charset="-120"/>
              </a:rPr>
              <a:t>Modelo dinámico por Jacobianos, controladores articulares en Simulink y planeación autónoma con obstáculos</a:t>
            </a:r>
            <a:endParaRPr lang="en-US" sz="1500" dirty="0"/>
          </a:p>
        </p:txBody>
      </p:sp>
      <p:sp>
        <p:nvSpPr>
          <p:cNvPr id="6" name="Text 4"/>
          <p:cNvSpPr/>
          <p:nvPr/>
        </p:nvSpPr>
        <p:spPr>
          <a:xfrm>
            <a:off x="2698582" y="5453349"/>
            <a:ext cx="3382178" cy="903384"/>
          </a:xfrm>
          <a:prstGeom prst="rect">
            <a:avLst/>
          </a:prstGeom>
          <a:noFill/>
          <a:ln/>
        </p:spPr>
        <p:txBody>
          <a:bodyPr wrap="square" rtlCol="0" anchor="ctr"/>
          <a:lstStyle/>
          <a:p>
            <a:pPr marL="0" indent="0">
              <a:lnSpc>
                <a:spcPct val="150000"/>
              </a:lnSpc>
              <a:buNone/>
            </a:pPr>
            <a:r>
              <a:rPr lang="en-US" sz="1200" dirty="0">
                <a:solidFill>
                  <a:srgbClr val="FFFFFF"/>
                </a:solidFill>
                <a:latin typeface="Arial" panose="020B0604020202020204" pitchFamily="34" charset="0"/>
                <a:ea typeface="Calibri" pitchFamily="34" charset="-122"/>
                <a:cs typeface="Arial" panose="020B0604020202020204" pitchFamily="34" charset="0"/>
              </a:rPr>
              <a:t>Fernando García Atúncar  </a:t>
            </a:r>
          </a:p>
          <a:p>
            <a:pPr marL="0" indent="0">
              <a:lnSpc>
                <a:spcPct val="150000"/>
              </a:lnSpc>
              <a:buNone/>
            </a:pPr>
            <a:r>
              <a:rPr lang="en-US" sz="1200" dirty="0">
                <a:solidFill>
                  <a:srgbClr val="FFFFFF"/>
                </a:solidFill>
                <a:latin typeface="Arial" panose="020B0604020202020204" pitchFamily="34" charset="0"/>
                <a:ea typeface="Calibri" pitchFamily="34" charset="-122"/>
                <a:cs typeface="Arial" panose="020B0604020202020204" pitchFamily="34" charset="0"/>
              </a:rPr>
              <a:t>Carlos Gerardo Quispe Reynoso   </a:t>
            </a:r>
          </a:p>
          <a:p>
            <a:pPr marL="0" indent="0">
              <a:lnSpc>
                <a:spcPct val="150000"/>
              </a:lnSpc>
              <a:buNone/>
            </a:pPr>
            <a:r>
              <a:rPr lang="en-US" sz="1200" dirty="0">
                <a:solidFill>
                  <a:srgbClr val="FFFFFF"/>
                </a:solidFill>
                <a:latin typeface="Arial" panose="020B0604020202020204" pitchFamily="34" charset="0"/>
                <a:ea typeface="Calibri" pitchFamily="34" charset="-122"/>
                <a:cs typeface="Arial" panose="020B0604020202020204" pitchFamily="34" charset="0"/>
              </a:rPr>
              <a:t>Gabriela Graciela Villegas Vásquez</a:t>
            </a:r>
            <a:endParaRPr lang="en-US" sz="1200" dirty="0">
              <a:latin typeface="Arial" panose="020B0604020202020204" pitchFamily="34" charset="0"/>
              <a:cs typeface="Arial" panose="020B0604020202020204" pitchFamily="34" charset="0"/>
            </a:endParaRPr>
          </a:p>
        </p:txBody>
      </p:sp>
      <p:sp>
        <p:nvSpPr>
          <p:cNvPr id="7" name="Text 5"/>
          <p:cNvSpPr/>
          <p:nvPr/>
        </p:nvSpPr>
        <p:spPr>
          <a:xfrm>
            <a:off x="7768544" y="5303520"/>
            <a:ext cx="4117003" cy="1188720"/>
          </a:xfrm>
          <a:prstGeom prst="rect">
            <a:avLst/>
          </a:prstGeom>
          <a:noFill/>
          <a:ln/>
        </p:spPr>
        <p:txBody>
          <a:bodyPr wrap="square" rtlCol="0" anchor="ctr"/>
          <a:lstStyle/>
          <a:p>
            <a:pPr>
              <a:lnSpc>
                <a:spcPct val="150000"/>
              </a:lnSpc>
            </a:pPr>
            <a:r>
              <a:rPr lang="en-US" sz="1200" dirty="0">
                <a:solidFill>
                  <a:srgbClr val="FFFFFF"/>
                </a:solidFill>
                <a:latin typeface="Arial" panose="020B0604020202020204" pitchFamily="34" charset="0"/>
                <a:ea typeface="Calibri" pitchFamily="34" charset="-122"/>
                <a:cs typeface="Arial" panose="020B0604020202020204" pitchFamily="34" charset="0"/>
              </a:rPr>
              <a:t>Curso: Robótica y Sistemas Autónomos     </a:t>
            </a:r>
          </a:p>
          <a:p>
            <a:pPr>
              <a:lnSpc>
                <a:spcPct val="150000"/>
              </a:lnSpc>
            </a:pPr>
            <a:r>
              <a:rPr lang="en-US" sz="1200" dirty="0">
                <a:solidFill>
                  <a:srgbClr val="FFFFFF"/>
                </a:solidFill>
                <a:latin typeface="Arial" panose="020B0604020202020204" pitchFamily="34" charset="0"/>
                <a:ea typeface="Calibri" pitchFamily="34" charset="-122"/>
                <a:cs typeface="Arial" panose="020B0604020202020204" pitchFamily="34" charset="0"/>
              </a:rPr>
              <a:t>Docente: Ing. Wilson Dennis Reyes Vásquez     </a:t>
            </a:r>
          </a:p>
          <a:p>
            <a:pPr>
              <a:lnSpc>
                <a:spcPct val="150000"/>
              </a:lnSpc>
            </a:pPr>
            <a:r>
              <a:rPr lang="en-US" sz="1200" dirty="0">
                <a:solidFill>
                  <a:srgbClr val="FFFFFF"/>
                </a:solidFill>
                <a:latin typeface="Arial" panose="020B0604020202020204" pitchFamily="34" charset="0"/>
                <a:ea typeface="Calibri" pitchFamily="34" charset="-122"/>
                <a:cs typeface="Arial" panose="020B0604020202020204" pitchFamily="34" charset="0"/>
              </a:rPr>
              <a:t>Ciclo académico: 2026 - 1</a:t>
            </a:r>
          </a:p>
        </p:txBody>
      </p:sp>
      <p:sp>
        <p:nvSpPr>
          <p:cNvPr id="11" name="Shape 0">
            <a:extLst>
              <a:ext uri="{FF2B5EF4-FFF2-40B4-BE49-F238E27FC236}">
                <a16:creationId xmlns:a16="http://schemas.microsoft.com/office/drawing/2014/main" id="{02D8E5AB-802D-9D65-B0C7-9A5700ECA4A7}"/>
              </a:ext>
            </a:extLst>
          </p:cNvPr>
          <p:cNvSpPr/>
          <p:nvPr/>
        </p:nvSpPr>
        <p:spPr>
          <a:xfrm>
            <a:off x="9079992" y="-1463040"/>
            <a:ext cx="4754880" cy="4754880"/>
          </a:xfrm>
          <a:prstGeom prst="ellipse">
            <a:avLst/>
          </a:prstGeom>
          <a:solidFill>
            <a:srgbClr val="990011">
              <a:alpha val="38000"/>
            </a:srgbClr>
          </a:solidFill>
          <a:ln/>
        </p:spPr>
        <p:txBody>
          <a:bodyPr/>
          <a:lstStyle/>
          <a:p>
            <a:endParaRPr lang="es-PE" noProof="0" dirty="0"/>
          </a:p>
        </p:txBody>
      </p:sp>
      <p:sp>
        <p:nvSpPr>
          <p:cNvPr id="13" name="Shape 1">
            <a:extLst>
              <a:ext uri="{FF2B5EF4-FFF2-40B4-BE49-F238E27FC236}">
                <a16:creationId xmlns:a16="http://schemas.microsoft.com/office/drawing/2014/main" id="{3C06BDC0-F4FD-E8E8-ADF4-824198BCCC2E}"/>
              </a:ext>
            </a:extLst>
          </p:cNvPr>
          <p:cNvSpPr/>
          <p:nvPr/>
        </p:nvSpPr>
        <p:spPr>
          <a:xfrm>
            <a:off x="-1645920" y="4480560"/>
            <a:ext cx="4206240" cy="4206240"/>
          </a:xfrm>
          <a:prstGeom prst="ellipse">
            <a:avLst/>
          </a:prstGeom>
          <a:solidFill>
            <a:srgbClr val="990011">
              <a:alpha val="28000"/>
            </a:srgbClr>
          </a:solidFill>
          <a:ln/>
        </p:spPr>
        <p:txBody>
          <a:bodyPr/>
          <a:lstStyle/>
          <a:p>
            <a:endParaRPr lang="es-PE"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CONTENIDO DE LA SUSTENTACIÓN</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Guion de la exposición</a:t>
            </a:r>
            <a:endParaRPr lang="en-US" sz="2700" dirty="0"/>
          </a:p>
        </p:txBody>
      </p:sp>
      <p:sp>
        <p:nvSpPr>
          <p:cNvPr id="4" name="Shape 2"/>
          <p:cNvSpPr/>
          <p:nvPr/>
        </p:nvSpPr>
        <p:spPr>
          <a:xfrm>
            <a:off x="548640" y="1783080"/>
            <a:ext cx="822960" cy="980000"/>
          </a:xfrm>
          <a:prstGeom prst="roundRect">
            <a:avLst>
              <a:gd name="adj" fmla="val 6667"/>
            </a:avLst>
          </a:prstGeom>
          <a:solidFill>
            <a:srgbClr val="990011"/>
          </a:solidFill>
          <a:ln/>
        </p:spPr>
        <p:txBody>
          <a:bodyPr/>
          <a:lstStyle/>
          <a:p>
            <a:endParaRPr/>
          </a:p>
        </p:txBody>
      </p:sp>
      <p:sp>
        <p:nvSpPr>
          <p:cNvPr id="5" name="Text 3"/>
          <p:cNvSpPr/>
          <p:nvPr/>
        </p:nvSpPr>
        <p:spPr>
          <a:xfrm>
            <a:off x="548640" y="1783080"/>
            <a:ext cx="822960" cy="9800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6" name="Shape 4"/>
          <p:cNvSpPr/>
          <p:nvPr/>
        </p:nvSpPr>
        <p:spPr>
          <a:xfrm>
            <a:off x="1508760" y="1783080"/>
            <a:ext cx="10104120" cy="980000"/>
          </a:xfrm>
          <a:prstGeom prst="roundRect">
            <a:avLst>
              <a:gd name="adj" fmla="val 5217"/>
            </a:avLst>
          </a:prstGeom>
          <a:solidFill>
            <a:srgbClr val="FCF6F5"/>
          </a:solidFill>
          <a:ln w="12700">
            <a:solidFill>
              <a:srgbClr val="D9C7C6"/>
            </a:solidFill>
            <a:prstDash val="solid"/>
          </a:ln>
        </p:spPr>
        <p:txBody>
          <a:bodyPr/>
          <a:lstStyle/>
          <a:p>
            <a:endParaRPr/>
          </a:p>
        </p:txBody>
      </p:sp>
      <p:sp>
        <p:nvSpPr>
          <p:cNvPr id="7" name="Text 5"/>
          <p:cNvSpPr/>
          <p:nvPr/>
        </p:nvSpPr>
        <p:spPr>
          <a:xfrm>
            <a:off x="1737360" y="1929384"/>
            <a:ext cx="9601200" cy="384048"/>
          </a:xfrm>
          <a:prstGeom prst="rect">
            <a:avLst/>
          </a:prstGeom>
          <a:noFill/>
          <a:ln/>
        </p:spPr>
        <p:txBody>
          <a:bodyPr wrap="square" lIns="0" tIns="0" rIns="0" bIns="0" rtlCol="0" anchor="ctr"/>
          <a:lstStyle/>
          <a:p>
            <a:pPr marL="0" indent="0">
              <a:buNone/>
            </a:pPr>
            <a:r>
              <a:rPr lang="en-US" sz="1700" b="1" dirty="0">
                <a:solidFill>
                  <a:srgbClr val="990011"/>
                </a:solidFill>
                <a:latin typeface="Calibri" pitchFamily="34" charset="0"/>
                <a:ea typeface="Calibri" pitchFamily="34" charset="-122"/>
                <a:cs typeface="Calibri" pitchFamily="34" charset="-120"/>
              </a:rPr>
              <a:t>Punto de partida y motivación</a:t>
            </a:r>
            <a:endParaRPr lang="en-US" sz="1700" dirty="0"/>
          </a:p>
        </p:txBody>
      </p:sp>
      <p:sp>
        <p:nvSpPr>
          <p:cNvPr id="8" name="Text 6"/>
          <p:cNvSpPr/>
          <p:nvPr/>
        </p:nvSpPr>
        <p:spPr>
          <a:xfrm>
            <a:off x="1737360" y="2331720"/>
            <a:ext cx="9601200" cy="384048"/>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Expositor 1 — de dónde parte el trabajo (cinemática del parcial) y las tres preguntas guía</a:t>
            </a:r>
            <a:endParaRPr lang="en-US" sz="1250" dirty="0"/>
          </a:p>
        </p:txBody>
      </p:sp>
      <p:sp>
        <p:nvSpPr>
          <p:cNvPr id="9" name="Shape 7"/>
          <p:cNvSpPr/>
          <p:nvPr/>
        </p:nvSpPr>
        <p:spPr>
          <a:xfrm>
            <a:off x="548640" y="2953580"/>
            <a:ext cx="822960" cy="980000"/>
          </a:xfrm>
          <a:prstGeom prst="roundRect">
            <a:avLst>
              <a:gd name="adj" fmla="val 6667"/>
            </a:avLst>
          </a:prstGeom>
          <a:solidFill>
            <a:srgbClr val="990011"/>
          </a:solidFill>
          <a:ln/>
        </p:spPr>
        <p:txBody>
          <a:bodyPr/>
          <a:lstStyle/>
          <a:p>
            <a:endParaRPr/>
          </a:p>
        </p:txBody>
      </p:sp>
      <p:sp>
        <p:nvSpPr>
          <p:cNvPr id="10" name="Text 8"/>
          <p:cNvSpPr/>
          <p:nvPr/>
        </p:nvSpPr>
        <p:spPr>
          <a:xfrm>
            <a:off x="548640" y="2953580"/>
            <a:ext cx="822960" cy="9800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11" name="Shape 9"/>
          <p:cNvSpPr/>
          <p:nvPr/>
        </p:nvSpPr>
        <p:spPr>
          <a:xfrm>
            <a:off x="1508760" y="2953580"/>
            <a:ext cx="10104120" cy="980000"/>
          </a:xfrm>
          <a:prstGeom prst="roundRect">
            <a:avLst>
              <a:gd name="adj" fmla="val 5217"/>
            </a:avLst>
          </a:prstGeom>
          <a:solidFill>
            <a:srgbClr val="FCF6F5"/>
          </a:solidFill>
          <a:ln w="12700">
            <a:solidFill>
              <a:srgbClr val="D9C7C6"/>
            </a:solidFill>
            <a:prstDash val="solid"/>
          </a:ln>
        </p:spPr>
        <p:txBody>
          <a:bodyPr/>
          <a:lstStyle/>
          <a:p>
            <a:endParaRPr/>
          </a:p>
        </p:txBody>
      </p:sp>
      <p:sp>
        <p:nvSpPr>
          <p:cNvPr id="12" name="Text 10"/>
          <p:cNvSpPr/>
          <p:nvPr/>
        </p:nvSpPr>
        <p:spPr>
          <a:xfrm>
            <a:off x="1737360" y="3099884"/>
            <a:ext cx="9601200" cy="384048"/>
          </a:xfrm>
          <a:prstGeom prst="rect">
            <a:avLst/>
          </a:prstGeom>
          <a:noFill/>
          <a:ln/>
        </p:spPr>
        <p:txBody>
          <a:bodyPr wrap="square" lIns="0" tIns="0" rIns="0" bIns="0" rtlCol="0" anchor="ctr"/>
          <a:lstStyle/>
          <a:p>
            <a:pPr marL="0" indent="0">
              <a:buNone/>
            </a:pPr>
            <a:r>
              <a:rPr lang="en-US" sz="1700" b="1" dirty="0">
                <a:solidFill>
                  <a:srgbClr val="990011"/>
                </a:solidFill>
                <a:latin typeface="Calibri" pitchFamily="34" charset="0"/>
                <a:ea typeface="Calibri" pitchFamily="34" charset="-122"/>
                <a:cs typeface="Calibri" pitchFamily="34" charset="-120"/>
              </a:rPr>
              <a:t>Modelo dinámico por Jacobianos</a:t>
            </a:r>
            <a:endParaRPr lang="en-US" sz="1700" dirty="0"/>
          </a:p>
        </p:txBody>
      </p:sp>
      <p:sp>
        <p:nvSpPr>
          <p:cNvPr id="13" name="Text 11"/>
          <p:cNvSpPr/>
          <p:nvPr/>
        </p:nvSpPr>
        <p:spPr>
          <a:xfrm>
            <a:off x="1737360" y="3502220"/>
            <a:ext cx="9601200" cy="384048"/>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Expositor 2 — M(q), Coriolis (Christoffel), G(q) y validación numérica</a:t>
            </a:r>
            <a:endParaRPr lang="en-US" sz="1250" dirty="0"/>
          </a:p>
        </p:txBody>
      </p:sp>
      <p:sp>
        <p:nvSpPr>
          <p:cNvPr id="14" name="Shape 12"/>
          <p:cNvSpPr/>
          <p:nvPr/>
        </p:nvSpPr>
        <p:spPr>
          <a:xfrm>
            <a:off x="548640" y="4124080"/>
            <a:ext cx="822960" cy="980000"/>
          </a:xfrm>
          <a:prstGeom prst="roundRect">
            <a:avLst>
              <a:gd name="adj" fmla="val 6667"/>
            </a:avLst>
          </a:prstGeom>
          <a:solidFill>
            <a:srgbClr val="990011"/>
          </a:solidFill>
          <a:ln/>
        </p:spPr>
        <p:txBody>
          <a:bodyPr/>
          <a:lstStyle/>
          <a:p>
            <a:endParaRPr/>
          </a:p>
        </p:txBody>
      </p:sp>
      <p:sp>
        <p:nvSpPr>
          <p:cNvPr id="20" name="Shape 12"/>
          <p:cNvSpPr/>
          <p:nvPr/>
        </p:nvSpPr>
        <p:spPr>
          <a:xfrm>
            <a:off x="548640" y="5294580"/>
            <a:ext cx="822960" cy="980000"/>
          </a:xfrm>
          <a:prstGeom prst="roundRect">
            <a:avLst>
              <a:gd name="adj" fmla="val 6667"/>
            </a:avLst>
          </a:prstGeom>
          <a:solidFill>
            <a:srgbClr val="990011"/>
          </a:solidFill>
          <a:ln/>
        </p:spPr>
        <p:txBody>
          <a:bodyPr/>
          <a:lstStyle/>
          <a:p>
            <a:endParaRPr/>
          </a:p>
        </p:txBody>
      </p:sp>
      <p:sp>
        <p:nvSpPr>
          <p:cNvPr id="15" name="Text 13"/>
          <p:cNvSpPr/>
          <p:nvPr/>
        </p:nvSpPr>
        <p:spPr>
          <a:xfrm>
            <a:off x="548640" y="4124080"/>
            <a:ext cx="822960" cy="9800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21" name="Text 13"/>
          <p:cNvSpPr/>
          <p:nvPr/>
        </p:nvSpPr>
        <p:spPr>
          <a:xfrm>
            <a:off x="548640" y="5294580"/>
            <a:ext cx="822960" cy="9800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16" name="Shape 14"/>
          <p:cNvSpPr/>
          <p:nvPr/>
        </p:nvSpPr>
        <p:spPr>
          <a:xfrm>
            <a:off x="1508760" y="4124080"/>
            <a:ext cx="10104120" cy="980000"/>
          </a:xfrm>
          <a:prstGeom prst="roundRect">
            <a:avLst>
              <a:gd name="adj" fmla="val 5217"/>
            </a:avLst>
          </a:prstGeom>
          <a:solidFill>
            <a:srgbClr val="FCF6F5"/>
          </a:solidFill>
          <a:ln w="12700">
            <a:solidFill>
              <a:srgbClr val="D9C7C6"/>
            </a:solidFill>
            <a:prstDash val="solid"/>
          </a:ln>
        </p:spPr>
        <p:txBody>
          <a:bodyPr/>
          <a:lstStyle/>
          <a:p>
            <a:endParaRPr/>
          </a:p>
        </p:txBody>
      </p:sp>
      <p:sp>
        <p:nvSpPr>
          <p:cNvPr id="22" name="Shape 14"/>
          <p:cNvSpPr/>
          <p:nvPr/>
        </p:nvSpPr>
        <p:spPr>
          <a:xfrm>
            <a:off x="1508760" y="5294580"/>
            <a:ext cx="10104120" cy="980000"/>
          </a:xfrm>
          <a:prstGeom prst="roundRect">
            <a:avLst>
              <a:gd name="adj" fmla="val 5217"/>
            </a:avLst>
          </a:prstGeom>
          <a:solidFill>
            <a:srgbClr val="FCF6F5"/>
          </a:solidFill>
          <a:ln w="12700">
            <a:solidFill>
              <a:srgbClr val="D9C7C6"/>
            </a:solidFill>
            <a:prstDash val="solid"/>
          </a:ln>
        </p:spPr>
        <p:txBody>
          <a:bodyPr/>
          <a:lstStyle/>
          <a:p>
            <a:endParaRPr/>
          </a:p>
        </p:txBody>
      </p:sp>
      <p:sp>
        <p:nvSpPr>
          <p:cNvPr id="17" name="Text 15"/>
          <p:cNvSpPr/>
          <p:nvPr/>
        </p:nvSpPr>
        <p:spPr>
          <a:xfrm>
            <a:off x="1737360" y="4270384"/>
            <a:ext cx="9601200" cy="384048"/>
          </a:xfrm>
          <a:prstGeom prst="rect">
            <a:avLst/>
          </a:prstGeom>
          <a:noFill/>
          <a:ln/>
        </p:spPr>
        <p:txBody>
          <a:bodyPr wrap="square" lIns="0" tIns="0" rIns="0" bIns="0" rtlCol="0" anchor="ctr"/>
          <a:lstStyle/>
          <a:p>
            <a:pPr marL="0" indent="0">
              <a:buNone/>
            </a:pPr>
            <a:r>
              <a:rPr lang="en-US" sz="1700" b="1" dirty="0">
                <a:solidFill>
                  <a:srgbClr val="990011"/>
                </a:solidFill>
                <a:latin typeface="Calibri" pitchFamily="34" charset="0"/>
                <a:ea typeface="Calibri" pitchFamily="34" charset="-122"/>
                <a:cs typeface="Calibri" pitchFamily="34" charset="-120"/>
              </a:rPr>
              <a:t>Control e implementación</a:t>
            </a:r>
            <a:endParaRPr lang="en-US" sz="1700" dirty="0"/>
          </a:p>
        </p:txBody>
      </p:sp>
      <p:sp>
        <p:nvSpPr>
          <p:cNvPr id="23" name="Text 15"/>
          <p:cNvSpPr/>
          <p:nvPr/>
        </p:nvSpPr>
        <p:spPr>
          <a:xfrm>
            <a:off x="1737360" y="5440884"/>
            <a:ext cx="9601200" cy="384048"/>
          </a:xfrm>
          <a:prstGeom prst="rect">
            <a:avLst/>
          </a:prstGeom>
          <a:noFill/>
          <a:ln/>
        </p:spPr>
        <p:txBody>
          <a:bodyPr wrap="square" lIns="0" tIns="0" rIns="0" bIns="0" rtlCol="0" anchor="ctr"/>
          <a:lstStyle/>
          <a:p>
            <a:pPr marL="0" indent="0">
              <a:buNone/>
            </a:pPr>
            <a:r>
              <a:rPr lang="en-US" sz="1700" b="1" dirty="0">
                <a:solidFill>
                  <a:srgbClr val="990011"/>
                </a:solidFill>
                <a:latin typeface="Calibri" pitchFamily="34" charset="0"/>
                <a:ea typeface="Calibri" pitchFamily="34" charset="-122"/>
                <a:cs typeface="Calibri" pitchFamily="34" charset="-120"/>
              </a:rPr>
              <a:t>Planeación autónoma y conclusiones</a:t>
            </a:r>
            <a:endParaRPr lang="en-US" sz="1700" dirty="0"/>
          </a:p>
        </p:txBody>
      </p:sp>
      <p:sp>
        <p:nvSpPr>
          <p:cNvPr id="18" name="Text 16"/>
          <p:cNvSpPr/>
          <p:nvPr/>
        </p:nvSpPr>
        <p:spPr>
          <a:xfrm>
            <a:off x="1737360" y="4672720"/>
            <a:ext cx="9601200" cy="384048"/>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Expositor 3 — controladores, prueba de estabilidad, Simulink y resultados</a:t>
            </a:r>
            <a:endParaRPr lang="en-US" sz="1250" dirty="0"/>
          </a:p>
        </p:txBody>
      </p:sp>
      <p:sp>
        <p:nvSpPr>
          <p:cNvPr id="24" name="Text 16"/>
          <p:cNvSpPr/>
          <p:nvPr/>
        </p:nvSpPr>
        <p:spPr>
          <a:xfrm>
            <a:off x="1737360" y="5843220"/>
            <a:ext cx="9601200" cy="384048"/>
          </a:xfrm>
          <a:prstGeom prst="rect">
            <a:avLst/>
          </a:prstGeom>
          <a:noFill/>
          <a:ln/>
        </p:spPr>
        <p:txBody>
          <a:bodyPr wrap="square" lIns="0" tIns="0" rIns="0" bIns="0" rtlCol="0" anchor="ctr"/>
          <a:lstStyle/>
          <a:p>
            <a:pPr marL="0" indent="0">
              <a:buNone/>
            </a:pPr>
            <a:r>
              <a:rPr lang="en-US" sz="1250" dirty="0">
                <a:solidFill>
                  <a:srgbClr val="6E6E6E"/>
                </a:solidFill>
                <a:latin typeface="Calibri" pitchFamily="34" charset="0"/>
                <a:ea typeface="Calibri" pitchFamily="34" charset="-122"/>
                <a:cs typeface="Calibri" pitchFamily="34" charset="-120"/>
              </a:rPr>
              <a:t>Expositor 1 — ruta A* con los controladores ya vistos, y cierre</a:t>
            </a:r>
            <a:endParaRPr lang="en-US" sz="1250" dirty="0"/>
          </a:p>
        </p:txBody>
      </p:sp>
      <p:sp>
        <p:nvSpPr>
          <p:cNvPr id="19" name="Text 17"/>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990011"/>
        </a:solidFill>
        <a:effectLst/>
      </p:bgPr>
    </p:bg>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82EE99BA-E09F-84FD-C799-46AB9812306B}"/>
              </a:ext>
            </a:extLst>
          </p:cNvPr>
          <p:cNvSpPr/>
          <p:nvPr/>
        </p:nvSpPr>
        <p:spPr>
          <a:xfrm>
            <a:off x="-15088" y="20313"/>
            <a:ext cx="12191695" cy="6858000"/>
          </a:xfrm>
          <a:prstGeom prst="rect">
            <a:avLst/>
          </a:prstGeom>
          <a:solidFill>
            <a:srgbClr val="600810"/>
          </a:solidFill>
          <a:ln/>
        </p:spPr>
        <p:txBody>
          <a:bodyPr/>
          <a:lstStyle/>
          <a:p>
            <a:endParaRPr/>
          </a:p>
        </p:txBody>
      </p:sp>
      <p:sp>
        <p:nvSpPr>
          <p:cNvPr id="3" name="Text 1"/>
          <p:cNvSpPr/>
          <p:nvPr/>
        </p:nvSpPr>
        <p:spPr>
          <a:xfrm>
            <a:off x="822960" y="2286000"/>
            <a:ext cx="10058400" cy="457200"/>
          </a:xfrm>
          <a:prstGeom prst="rect">
            <a:avLst/>
          </a:prstGeom>
          <a:noFill/>
          <a:ln/>
        </p:spPr>
        <p:txBody>
          <a:bodyPr wrap="square" rtlCol="0" anchor="ctr"/>
          <a:lstStyle/>
          <a:p>
            <a:pPr marL="0" indent="0">
              <a:buNone/>
            </a:pPr>
            <a:r>
              <a:rPr lang="en-US" sz="1500" b="1" kern="0" spc="400" dirty="0">
                <a:solidFill>
                  <a:srgbClr val="E8C8CB"/>
                </a:solidFill>
                <a:latin typeface="Calibri" pitchFamily="34" charset="0"/>
                <a:ea typeface="Calibri" pitchFamily="34" charset="-122"/>
                <a:cs typeface="Calibri" pitchFamily="34" charset="-120"/>
              </a:rPr>
              <a:t>BLOQUE 1</a:t>
            </a:r>
            <a:endParaRPr lang="en-US" sz="1500" dirty="0"/>
          </a:p>
        </p:txBody>
      </p:sp>
      <p:sp>
        <p:nvSpPr>
          <p:cNvPr id="4" name="Text 2"/>
          <p:cNvSpPr/>
          <p:nvPr/>
        </p:nvSpPr>
        <p:spPr>
          <a:xfrm>
            <a:off x="822960" y="2834640"/>
            <a:ext cx="105156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Punto de partida y motivación</a:t>
            </a:r>
            <a:endParaRPr lang="en-US" sz="3400" dirty="0"/>
          </a:p>
        </p:txBody>
      </p:sp>
      <p:sp>
        <p:nvSpPr>
          <p:cNvPr id="5" name="Text 3"/>
          <p:cNvSpPr/>
          <p:nvPr/>
        </p:nvSpPr>
        <p:spPr>
          <a:xfrm>
            <a:off x="822960" y="4206240"/>
            <a:ext cx="10058400" cy="457200"/>
          </a:xfrm>
          <a:prstGeom prst="rect">
            <a:avLst/>
          </a:prstGeom>
          <a:noFill/>
          <a:ln/>
        </p:spPr>
        <p:txBody>
          <a:bodyPr wrap="square" rtlCol="0" anchor="ctr"/>
          <a:lstStyle/>
          <a:p>
            <a:pPr marL="0" indent="0">
              <a:buNone/>
            </a:pPr>
            <a:r>
              <a:rPr lang="en-US" sz="1600" i="1" dirty="0">
                <a:solidFill>
                  <a:srgbClr val="F0D5D8"/>
                </a:solidFill>
                <a:latin typeface="Calibri" pitchFamily="34" charset="0"/>
                <a:ea typeface="Calibri" pitchFamily="34" charset="-122"/>
                <a:cs typeface="Calibri" pitchFamily="34" charset="-120"/>
              </a:rPr>
              <a:t>Expositor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1 · PUNTO DE PARTIDA</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Del trabajo parcial al trabajo final: trazabilidad</a:t>
            </a:r>
            <a:endParaRPr lang="en-US" sz="2700" dirty="0"/>
          </a:p>
        </p:txBody>
      </p:sp>
      <p:sp>
        <p:nvSpPr>
          <p:cNvPr id="4" name="Shape 2"/>
          <p:cNvSpPr/>
          <p:nvPr/>
        </p:nvSpPr>
        <p:spPr>
          <a:xfrm>
            <a:off x="548640" y="1737360"/>
            <a:ext cx="5486400" cy="4297680"/>
          </a:xfrm>
          <a:prstGeom prst="roundRect">
            <a:avLst>
              <a:gd name="adj" fmla="val 1277"/>
            </a:avLst>
          </a:prstGeom>
          <a:solidFill>
            <a:srgbClr val="FCF6F5"/>
          </a:solidFill>
          <a:ln w="12700">
            <a:solidFill>
              <a:srgbClr val="D9C7C6"/>
            </a:solidFill>
            <a:prstDash val="solid"/>
          </a:ln>
        </p:spPr>
        <p:txBody>
          <a:bodyPr/>
          <a:lstStyle/>
          <a:p>
            <a:endParaRPr/>
          </a:p>
        </p:txBody>
      </p:sp>
      <p:sp>
        <p:nvSpPr>
          <p:cNvPr id="5" name="Text 3"/>
          <p:cNvSpPr/>
          <p:nvPr/>
        </p:nvSpPr>
        <p:spPr>
          <a:xfrm>
            <a:off x="731520" y="1874520"/>
            <a:ext cx="5120640" cy="365760"/>
          </a:xfrm>
          <a:prstGeom prst="rect">
            <a:avLst/>
          </a:prstGeom>
          <a:noFill/>
          <a:ln/>
        </p:spPr>
        <p:txBody>
          <a:bodyPr wrap="square" lIns="0" tIns="0" rIns="0" bIns="0" rtlCol="0" anchor="ctr"/>
          <a:lstStyle/>
          <a:p>
            <a:pPr marL="0" indent="0">
              <a:buNone/>
            </a:pPr>
            <a:r>
              <a:rPr lang="en-US" sz="1500" b="1" dirty="0">
                <a:solidFill>
                  <a:srgbClr val="990011"/>
                </a:solidFill>
                <a:latin typeface="Calibri" pitchFamily="34" charset="0"/>
                <a:ea typeface="Calibri" pitchFamily="34" charset="-122"/>
                <a:cs typeface="Calibri" pitchFamily="34" charset="-120"/>
              </a:rPr>
              <a:t>Heredado del parcial (sin cambios)</a:t>
            </a:r>
            <a:endParaRPr lang="en-US" sz="1500" dirty="0"/>
          </a:p>
        </p:txBody>
      </p:sp>
      <p:sp>
        <p:nvSpPr>
          <p:cNvPr id="6" name="Text 4"/>
          <p:cNvSpPr/>
          <p:nvPr/>
        </p:nvSpPr>
        <p:spPr>
          <a:xfrm>
            <a:off x="777240" y="2331720"/>
            <a:ext cx="5074920" cy="3566160"/>
          </a:xfrm>
          <a:prstGeom prst="rect">
            <a:avLst/>
          </a:prstGeom>
          <a:noFill/>
          <a:ln/>
        </p:spPr>
        <p:txBody>
          <a:bodyPr wrap="square" rtlCol="0" anchor="t"/>
          <a:lstStyle/>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Cinemática directa e inversa por DH (fk_3dof, ik_3dof)</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Jacobiano translacional del efector</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Análisis de singularidades</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Geometría L1=0.15, L2=0.50, L3=0.50 m</a:t>
            </a:r>
            <a:endParaRPr lang="en-US" sz="1300" dirty="0"/>
          </a:p>
          <a:p>
            <a:pPr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Control cinemático por pseudoinversa amortiguada</a:t>
            </a:r>
            <a:endParaRPr lang="en-US" sz="1300" dirty="0"/>
          </a:p>
        </p:txBody>
      </p:sp>
      <p:sp>
        <p:nvSpPr>
          <p:cNvPr id="7" name="Shape 5"/>
          <p:cNvSpPr/>
          <p:nvPr/>
        </p:nvSpPr>
        <p:spPr>
          <a:xfrm>
            <a:off x="6172200" y="1737360"/>
            <a:ext cx="5486400" cy="4297680"/>
          </a:xfrm>
          <a:prstGeom prst="roundRect">
            <a:avLst>
              <a:gd name="adj" fmla="val 1277"/>
            </a:avLst>
          </a:prstGeom>
          <a:solidFill>
            <a:srgbClr val="600810"/>
          </a:solidFill>
          <a:ln/>
        </p:spPr>
        <p:txBody>
          <a:bodyPr/>
          <a:lstStyle/>
          <a:p>
            <a:endParaRPr/>
          </a:p>
        </p:txBody>
      </p:sp>
      <p:sp>
        <p:nvSpPr>
          <p:cNvPr id="8" name="Text 6"/>
          <p:cNvSpPr/>
          <p:nvPr/>
        </p:nvSpPr>
        <p:spPr>
          <a:xfrm>
            <a:off x="6355080" y="1874520"/>
            <a:ext cx="512064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Agregado para el trabajo final</a:t>
            </a:r>
            <a:endParaRPr lang="en-US" sz="1500" dirty="0"/>
          </a:p>
        </p:txBody>
      </p:sp>
      <p:sp>
        <p:nvSpPr>
          <p:cNvPr id="9" name="Text 7"/>
          <p:cNvSpPr/>
          <p:nvPr/>
        </p:nvSpPr>
        <p:spPr>
          <a:xfrm>
            <a:off x="6400800" y="2331720"/>
            <a:ext cx="5074920" cy="3566160"/>
          </a:xfrm>
          <a:prstGeom prst="rect">
            <a:avLst/>
          </a:prstGeom>
          <a:noFill/>
          <a:ln/>
        </p:spPr>
        <p:txBody>
          <a:bodyPr wrap="square"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Centros de masa y Jacobianos Jvᵢ, Jwᵢ por eslabón</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Matriz de inercia M(q) por Jacobianos</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Coriolis C(q,q̇) por Christoffel (n = 3)</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Gravedad G(q) desde energía potencial</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3 controladores dinámicos en Simulink</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Planeación autónoma A* con obstáculos</a:t>
            </a:r>
            <a:endParaRPr lang="en-US" sz="1300" dirty="0"/>
          </a:p>
        </p:txBody>
      </p:sp>
      <p:sp>
        <p:nvSpPr>
          <p:cNvPr id="10" name="Text 8"/>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1 · INTRODUCCIÓN</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Alcanzar la posición no basta: hay que vencer la dinámica</a:t>
            </a:r>
            <a:endParaRPr lang="en-US" sz="2700" dirty="0"/>
          </a:p>
        </p:txBody>
      </p:sp>
      <p:sp>
        <p:nvSpPr>
          <p:cNvPr id="4" name="Text 2"/>
          <p:cNvSpPr/>
          <p:nvPr/>
        </p:nvSpPr>
        <p:spPr>
          <a:xfrm>
            <a:off x="548640" y="1600200"/>
            <a:ext cx="6400800" cy="1463040"/>
          </a:xfrm>
          <a:prstGeom prst="rect">
            <a:avLst/>
          </a:prstGeom>
          <a:noFill/>
          <a:ln/>
        </p:spPr>
        <p:txBody>
          <a:bodyPr wrap="square" lIns="0" tIns="0" rIns="0" bIns="0" rtlCol="0" anchor="t"/>
          <a:lstStyle/>
          <a:p>
            <a:pPr marL="0" indent="0" algn="l">
              <a:lnSpc>
                <a:spcPct val="105000"/>
              </a:lnSpc>
              <a:buNone/>
            </a:pPr>
            <a:r>
              <a:rPr lang="en-US" sz="1450" dirty="0">
                <a:solidFill>
                  <a:srgbClr val="2B2B2B"/>
                </a:solidFill>
                <a:latin typeface="Calibri" pitchFamily="34" charset="0"/>
                <a:ea typeface="Calibri" pitchFamily="34" charset="-122"/>
                <a:cs typeface="Calibri" pitchFamily="34" charset="-120"/>
              </a:rPr>
              <a:t>Un manipulador debe seguir una trayectoria compensando su propia dinámica —inercia, Coriolis y gravedad— con precisión, estabilidad y torque razonable. Este trabajo lo resuelve sobre un robot antropomórfico de 3 GDL, partiendo de la base cinemática del parcial (Ashagrie et al., 2021).</a:t>
            </a:r>
            <a:endParaRPr lang="en-US" sz="1450" dirty="0"/>
          </a:p>
        </p:txBody>
      </p:sp>
      <p:sp>
        <p:nvSpPr>
          <p:cNvPr id="5" name="Shape 3"/>
          <p:cNvSpPr/>
          <p:nvPr/>
        </p:nvSpPr>
        <p:spPr>
          <a:xfrm>
            <a:off x="548640" y="3291840"/>
            <a:ext cx="6400800" cy="868680"/>
          </a:xfrm>
          <a:prstGeom prst="roundRect">
            <a:avLst>
              <a:gd name="adj" fmla="val 6316"/>
            </a:avLst>
          </a:prstGeom>
          <a:solidFill>
            <a:srgbClr val="FCF6F5"/>
          </a:solidFill>
          <a:ln w="12700">
            <a:solidFill>
              <a:srgbClr val="D9C7C6"/>
            </a:solidFill>
            <a:prstDash val="solid"/>
          </a:ln>
        </p:spPr>
        <p:txBody>
          <a:bodyPr/>
          <a:lstStyle/>
          <a:p>
            <a:endParaRPr/>
          </a:p>
        </p:txBody>
      </p:sp>
      <p:sp>
        <p:nvSpPr>
          <p:cNvPr id="6" name="Text 4"/>
          <p:cNvSpPr/>
          <p:nvPr/>
        </p:nvSpPr>
        <p:spPr>
          <a:xfrm>
            <a:off x="731520" y="3401568"/>
            <a:ext cx="6035040" cy="365760"/>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¿Cómo derivar la dinámica sin Lagrange?</a:t>
            </a:r>
            <a:endParaRPr lang="en-US" sz="1350" dirty="0"/>
          </a:p>
        </p:txBody>
      </p:sp>
      <p:sp>
        <p:nvSpPr>
          <p:cNvPr id="7" name="Text 5"/>
          <p:cNvSpPr/>
          <p:nvPr/>
        </p:nvSpPr>
        <p:spPr>
          <a:xfrm>
            <a:off x="731520" y="3749040"/>
            <a:ext cx="6035040" cy="347472"/>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Solo con Jacobianos y coeficientes de Christoffel.</a:t>
            </a:r>
            <a:endParaRPr lang="en-US" sz="1150" dirty="0"/>
          </a:p>
        </p:txBody>
      </p:sp>
      <p:sp>
        <p:nvSpPr>
          <p:cNvPr id="8" name="Shape 6"/>
          <p:cNvSpPr/>
          <p:nvPr/>
        </p:nvSpPr>
        <p:spPr>
          <a:xfrm>
            <a:off x="548640" y="4279392"/>
            <a:ext cx="6400800" cy="868680"/>
          </a:xfrm>
          <a:prstGeom prst="roundRect">
            <a:avLst>
              <a:gd name="adj" fmla="val 6316"/>
            </a:avLst>
          </a:prstGeom>
          <a:solidFill>
            <a:srgbClr val="FCF6F5"/>
          </a:solidFill>
          <a:ln w="12700">
            <a:solidFill>
              <a:srgbClr val="D9C7C6"/>
            </a:solidFill>
            <a:prstDash val="solid"/>
          </a:ln>
        </p:spPr>
        <p:txBody>
          <a:bodyPr/>
          <a:lstStyle/>
          <a:p>
            <a:endParaRPr/>
          </a:p>
        </p:txBody>
      </p:sp>
      <p:sp>
        <p:nvSpPr>
          <p:cNvPr id="9" name="Text 7"/>
          <p:cNvSpPr/>
          <p:nvPr/>
        </p:nvSpPr>
        <p:spPr>
          <a:xfrm>
            <a:off x="731520" y="4389120"/>
            <a:ext cx="6035040" cy="365760"/>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¿Qué controlador es mejor?</a:t>
            </a:r>
            <a:endParaRPr lang="en-US" sz="1350" dirty="0"/>
          </a:p>
        </p:txBody>
      </p:sp>
      <p:sp>
        <p:nvSpPr>
          <p:cNvPr id="10" name="Text 8"/>
          <p:cNvSpPr/>
          <p:nvPr/>
        </p:nvSpPr>
        <p:spPr>
          <a:xfrm>
            <a:off x="731520" y="4736592"/>
            <a:ext cx="6035040" cy="347472"/>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PID no lineal vs. PD precompensado vs. par calculado, misma dinámica.</a:t>
            </a:r>
            <a:endParaRPr lang="en-US" sz="1150" dirty="0"/>
          </a:p>
        </p:txBody>
      </p:sp>
      <p:sp>
        <p:nvSpPr>
          <p:cNvPr id="11" name="Shape 9"/>
          <p:cNvSpPr/>
          <p:nvPr/>
        </p:nvSpPr>
        <p:spPr>
          <a:xfrm>
            <a:off x="548640" y="5266944"/>
            <a:ext cx="6400800" cy="868680"/>
          </a:xfrm>
          <a:prstGeom prst="roundRect">
            <a:avLst>
              <a:gd name="adj" fmla="val 6316"/>
            </a:avLst>
          </a:prstGeom>
          <a:solidFill>
            <a:srgbClr val="FCF6F5"/>
          </a:solidFill>
          <a:ln w="12700">
            <a:solidFill>
              <a:srgbClr val="D9C7C6"/>
            </a:solidFill>
            <a:prstDash val="solid"/>
          </a:ln>
        </p:spPr>
        <p:txBody>
          <a:bodyPr/>
          <a:lstStyle/>
          <a:p>
            <a:endParaRPr/>
          </a:p>
        </p:txBody>
      </p:sp>
      <p:sp>
        <p:nvSpPr>
          <p:cNvPr id="12" name="Text 10"/>
          <p:cNvSpPr/>
          <p:nvPr/>
        </p:nvSpPr>
        <p:spPr>
          <a:xfrm>
            <a:off x="731520" y="5376672"/>
            <a:ext cx="6035040" cy="365760"/>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¿Cómo integrar planeación autónoma?</a:t>
            </a:r>
            <a:endParaRPr lang="en-US" sz="1350" dirty="0"/>
          </a:p>
        </p:txBody>
      </p:sp>
      <p:sp>
        <p:nvSpPr>
          <p:cNvPr id="13" name="Text 11"/>
          <p:cNvSpPr/>
          <p:nvPr/>
        </p:nvSpPr>
        <p:spPr>
          <a:xfrm>
            <a:off x="731520" y="5724144"/>
            <a:ext cx="6035040" cy="347472"/>
          </a:xfrm>
          <a:prstGeom prst="rect">
            <a:avLst/>
          </a:prstGeom>
          <a:noFill/>
          <a:ln/>
        </p:spPr>
        <p:txBody>
          <a:bodyPr wrap="square" lIns="0" tIns="0" rIns="0" bIns="0" rtlCol="0" anchor="ctr"/>
          <a:lstStyle/>
          <a:p>
            <a:pPr marL="0" indent="0">
              <a:buNone/>
            </a:pPr>
            <a:r>
              <a:rPr lang="en-US" sz="1150" dirty="0">
                <a:solidFill>
                  <a:srgbClr val="6E6E6E"/>
                </a:solidFill>
                <a:latin typeface="Calibri" pitchFamily="34" charset="0"/>
                <a:ea typeface="Calibri" pitchFamily="34" charset="-122"/>
                <a:cs typeface="Calibri" pitchFamily="34" charset="-120"/>
              </a:rPr>
              <a:t>Ruta A* con obstáculos → trayectoria articular.</a:t>
            </a:r>
            <a:endParaRPr lang="en-US" sz="1150" dirty="0"/>
          </a:p>
        </p:txBody>
      </p:sp>
      <p:sp>
        <p:nvSpPr>
          <p:cNvPr id="14" name="Shape 12"/>
          <p:cNvSpPr/>
          <p:nvPr/>
        </p:nvSpPr>
        <p:spPr>
          <a:xfrm>
            <a:off x="7223760" y="1600200"/>
            <a:ext cx="4434840" cy="4480560"/>
          </a:xfrm>
          <a:prstGeom prst="roundRect">
            <a:avLst>
              <a:gd name="adj" fmla="val 1237"/>
            </a:avLst>
          </a:prstGeom>
          <a:solidFill>
            <a:srgbClr val="FCF6F5"/>
          </a:solidFill>
          <a:ln w="12700">
            <a:solidFill>
              <a:srgbClr val="D9C7C6"/>
            </a:solidFill>
            <a:prstDash val="solid"/>
          </a:ln>
        </p:spPr>
        <p:txBody>
          <a:bodyPr/>
          <a:lstStyle/>
          <a:p>
            <a:endParaRPr/>
          </a:p>
        </p:txBody>
      </p:sp>
      <p:pic>
        <p:nvPicPr>
          <p:cNvPr id="15" name="Image 0" descr="/tmp/deck/assets/robot.png"/>
          <p:cNvPicPr>
            <a:picLocks noChangeAspect="1"/>
          </p:cNvPicPr>
          <p:nvPr/>
        </p:nvPicPr>
        <p:blipFill>
          <a:blip r:embed="rId3"/>
          <a:srcRect/>
          <a:stretch/>
        </p:blipFill>
        <p:spPr>
          <a:xfrm>
            <a:off x="7360920" y="1737360"/>
            <a:ext cx="4160520" cy="4023360"/>
          </a:xfrm>
          <a:prstGeom prst="rect">
            <a:avLst/>
          </a:prstGeom>
        </p:spPr>
      </p:pic>
      <p:sp>
        <p:nvSpPr>
          <p:cNvPr id="16" name="Text 13"/>
          <p:cNvSpPr/>
          <p:nvPr/>
        </p:nvSpPr>
        <p:spPr>
          <a:xfrm>
            <a:off x="7223760" y="5806440"/>
            <a:ext cx="4434840" cy="274320"/>
          </a:xfrm>
          <a:prstGeom prst="rect">
            <a:avLst/>
          </a:prstGeom>
          <a:noFill/>
          <a:ln/>
        </p:spPr>
        <p:txBody>
          <a:bodyPr wrap="square" rtlCol="0" anchor="ctr"/>
          <a:lstStyle/>
          <a:p>
            <a:pPr marL="0" indent="0" algn="ctr">
              <a:buNone/>
            </a:pPr>
            <a:r>
              <a:rPr lang="en-US" sz="1050" i="1" dirty="0">
                <a:solidFill>
                  <a:srgbClr val="6E6E6E"/>
                </a:solidFill>
                <a:latin typeface="Calibri" pitchFamily="34" charset="0"/>
                <a:ea typeface="Calibri" pitchFamily="34" charset="-122"/>
                <a:cs typeface="Calibri" pitchFamily="34" charset="-120"/>
              </a:rPr>
              <a:t>Configuración cinemática del robot 3 GDL</a:t>
            </a:r>
            <a:endParaRPr lang="en-US" sz="1050" dirty="0"/>
          </a:p>
        </p:txBody>
      </p:sp>
      <p:sp>
        <p:nvSpPr>
          <p:cNvPr id="17" name="Text 14"/>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990011"/>
        </a:solidFill>
        <a:effectLst/>
      </p:bgPr>
    </p:bg>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064108C3-08B0-573F-E5F6-E34FD92FFB70}"/>
              </a:ext>
            </a:extLst>
          </p:cNvPr>
          <p:cNvSpPr/>
          <p:nvPr/>
        </p:nvSpPr>
        <p:spPr>
          <a:xfrm>
            <a:off x="-15088" y="20313"/>
            <a:ext cx="12191695" cy="6858000"/>
          </a:xfrm>
          <a:prstGeom prst="rect">
            <a:avLst/>
          </a:prstGeom>
          <a:solidFill>
            <a:srgbClr val="600810"/>
          </a:solidFill>
          <a:ln/>
        </p:spPr>
        <p:txBody>
          <a:bodyPr/>
          <a:lstStyle/>
          <a:p>
            <a:endParaRPr/>
          </a:p>
        </p:txBody>
      </p:sp>
      <p:sp>
        <p:nvSpPr>
          <p:cNvPr id="3" name="Text 1"/>
          <p:cNvSpPr/>
          <p:nvPr/>
        </p:nvSpPr>
        <p:spPr>
          <a:xfrm>
            <a:off x="822960" y="2286000"/>
            <a:ext cx="10058400" cy="457200"/>
          </a:xfrm>
          <a:prstGeom prst="rect">
            <a:avLst/>
          </a:prstGeom>
          <a:noFill/>
          <a:ln/>
        </p:spPr>
        <p:txBody>
          <a:bodyPr wrap="square" rtlCol="0" anchor="ctr"/>
          <a:lstStyle/>
          <a:p>
            <a:pPr marL="0" indent="0">
              <a:buNone/>
            </a:pPr>
            <a:r>
              <a:rPr lang="en-US" sz="1500" b="1" kern="0" spc="400" dirty="0">
                <a:solidFill>
                  <a:srgbClr val="E8C8CB"/>
                </a:solidFill>
                <a:latin typeface="Calibri" pitchFamily="34" charset="0"/>
                <a:ea typeface="Calibri" pitchFamily="34" charset="-122"/>
                <a:cs typeface="Calibri" pitchFamily="34" charset="-120"/>
              </a:rPr>
              <a:t>BLOQUE 2</a:t>
            </a:r>
            <a:endParaRPr lang="en-US" sz="1500" dirty="0"/>
          </a:p>
        </p:txBody>
      </p:sp>
      <p:sp>
        <p:nvSpPr>
          <p:cNvPr id="4" name="Text 2"/>
          <p:cNvSpPr/>
          <p:nvPr/>
        </p:nvSpPr>
        <p:spPr>
          <a:xfrm>
            <a:off x="822960" y="2834640"/>
            <a:ext cx="105156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Modelo dinámico por Jacobianos</a:t>
            </a:r>
            <a:endParaRPr lang="en-US" sz="3400" dirty="0"/>
          </a:p>
        </p:txBody>
      </p:sp>
      <p:sp>
        <p:nvSpPr>
          <p:cNvPr id="5" name="Text 3"/>
          <p:cNvSpPr/>
          <p:nvPr/>
        </p:nvSpPr>
        <p:spPr>
          <a:xfrm>
            <a:off x="822960" y="4206240"/>
            <a:ext cx="10058400" cy="457200"/>
          </a:xfrm>
          <a:prstGeom prst="rect">
            <a:avLst/>
          </a:prstGeom>
          <a:noFill/>
          <a:ln/>
        </p:spPr>
        <p:txBody>
          <a:bodyPr wrap="square" rtlCol="0" anchor="ctr"/>
          <a:lstStyle/>
          <a:p>
            <a:pPr marL="0" indent="0">
              <a:buNone/>
            </a:pPr>
            <a:r>
              <a:rPr lang="en-US" sz="1600" i="1" dirty="0">
                <a:solidFill>
                  <a:srgbClr val="F0D5D8"/>
                </a:solidFill>
                <a:latin typeface="Calibri" pitchFamily="34" charset="0"/>
                <a:ea typeface="Calibri" pitchFamily="34" charset="-122"/>
                <a:cs typeface="Calibri" pitchFamily="34" charset="-120"/>
              </a:rPr>
              <a:t>Expositor 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2 · MODELO DINÁMICO  ·  MATRIZ DE INERCIA</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M(q) construida con Jacobianos, no con Lagrange</a:t>
            </a:r>
            <a:endParaRPr lang="en-US" sz="2700" dirty="0"/>
          </a:p>
        </p:txBody>
      </p:sp>
      <p:sp>
        <p:nvSpPr>
          <p:cNvPr id="4" name="Text 2"/>
          <p:cNvSpPr/>
          <p:nvPr/>
        </p:nvSpPr>
        <p:spPr>
          <a:xfrm>
            <a:off x="548640" y="1600200"/>
            <a:ext cx="11064240" cy="640080"/>
          </a:xfrm>
          <a:prstGeom prst="rect">
            <a:avLst/>
          </a:prstGeom>
          <a:noFill/>
          <a:ln/>
        </p:spPr>
        <p:txBody>
          <a:bodyPr wrap="square" lIns="0" tIns="0" rIns="0" bIns="0" rtlCol="0" anchor="t"/>
          <a:lstStyle/>
          <a:p>
            <a:pPr marL="0" indent="0">
              <a:buNone/>
            </a:pPr>
            <a:r>
              <a:rPr lang="en-US" sz="1400" dirty="0">
                <a:solidFill>
                  <a:srgbClr val="2B2B2B"/>
                </a:solidFill>
                <a:latin typeface="Calibri" pitchFamily="34" charset="0"/>
                <a:ea typeface="Calibri" pitchFamily="34" charset="-122"/>
                <a:cs typeface="Calibri" pitchFamily="34" charset="-120"/>
              </a:rPr>
              <a:t>Por indicación del </a:t>
            </a:r>
            <a:r>
              <a:rPr lang="en-US" sz="1400" dirty="0" err="1">
                <a:solidFill>
                  <a:srgbClr val="2B2B2B"/>
                </a:solidFill>
                <a:latin typeface="Calibri" pitchFamily="34" charset="0"/>
                <a:ea typeface="Calibri" pitchFamily="34" charset="-122"/>
                <a:cs typeface="Calibri" pitchFamily="34" charset="-120"/>
              </a:rPr>
              <a:t>docente</a:t>
            </a:r>
            <a:r>
              <a:rPr lang="en-US" sz="1400" dirty="0">
                <a:solidFill>
                  <a:srgbClr val="2B2B2B"/>
                </a:solidFill>
                <a:latin typeface="Calibri" pitchFamily="34" charset="0"/>
                <a:ea typeface="Calibri" pitchFamily="34" charset="-122"/>
                <a:cs typeface="Calibri" pitchFamily="34" charset="-120"/>
              </a:rPr>
              <a:t>, la energía cinética se expresa vía los Jacobianos lineales y angulares del centro de masa de cada eslabón. Cada pieza se deriva de la cinemática DH:</a:t>
            </a:r>
            <a:endParaRPr lang="en-US" sz="1400" dirty="0"/>
          </a:p>
        </p:txBody>
      </p:sp>
      <p:sp>
        <p:nvSpPr>
          <p:cNvPr id="5" name="Text 3"/>
          <p:cNvSpPr/>
          <p:nvPr/>
        </p:nvSpPr>
        <p:spPr>
          <a:xfrm>
            <a:off x="548640" y="2286000"/>
            <a:ext cx="11064240" cy="457200"/>
          </a:xfrm>
          <a:prstGeom prst="rect">
            <a:avLst/>
          </a:prstGeom>
          <a:solidFill>
            <a:srgbClr val="F3E9E8"/>
          </a:solidFill>
          <a:ln w="12700">
            <a:solidFill>
              <a:srgbClr val="D9C7C6"/>
            </a:solidFill>
          </a:ln>
        </p:spPr>
        <p:txBody>
          <a:bodyPr wrap="square" lIns="0" tIns="0" rIns="0" bIns="0" rtlCol="0" anchor="ctr"/>
          <a:lstStyle/>
          <a:p>
            <a:pPr marL="0" indent="0" algn="ctr">
              <a:buNone/>
            </a:pPr>
            <a:r>
              <a:rPr lang="en-US" sz="1700" i="1" dirty="0">
                <a:solidFill>
                  <a:srgbClr val="2B2B2B"/>
                </a:solidFill>
                <a:latin typeface="Cambria" pitchFamily="34" charset="0"/>
                <a:ea typeface="Cambria" pitchFamily="34" charset="-122"/>
                <a:cs typeface="Cambria" pitchFamily="34" charset="-120"/>
              </a:rPr>
              <a:t>M(q) = Σᵢ [ mᵢ · Jvᵢᵀ Jvᵢ  +  Jwᵢᵀ Rᵢ Iᵢ Rᵢᵀ Jwᵢ ]</a:t>
            </a:r>
            <a:endParaRPr lang="en-US" sz="1700" dirty="0"/>
          </a:p>
        </p:txBody>
      </p:sp>
      <p:sp>
        <p:nvSpPr>
          <p:cNvPr id="6" name="Shape 4"/>
          <p:cNvSpPr/>
          <p:nvPr/>
        </p:nvSpPr>
        <p:spPr>
          <a:xfrm>
            <a:off x="548640" y="3063240"/>
            <a:ext cx="11064240" cy="658368"/>
          </a:xfrm>
          <a:prstGeom prst="roundRect">
            <a:avLst>
              <a:gd name="adj" fmla="val 8333"/>
            </a:avLst>
          </a:prstGeom>
          <a:solidFill>
            <a:srgbClr val="FCF6F5"/>
          </a:solidFill>
          <a:ln w="12700">
            <a:solidFill>
              <a:srgbClr val="D9C7C6"/>
            </a:solidFill>
            <a:prstDash val="solid"/>
          </a:ln>
        </p:spPr>
        <p:txBody>
          <a:bodyPr/>
          <a:lstStyle/>
          <a:p>
            <a:endParaRPr/>
          </a:p>
        </p:txBody>
      </p:sp>
      <p:sp>
        <p:nvSpPr>
          <p:cNvPr id="7" name="Text 5"/>
          <p:cNvSpPr/>
          <p:nvPr/>
        </p:nvSpPr>
        <p:spPr>
          <a:xfrm>
            <a:off x="731520" y="3063240"/>
            <a:ext cx="2651760" cy="658368"/>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Rotaciones</a:t>
            </a:r>
            <a:endParaRPr lang="en-US" sz="1350" dirty="0"/>
          </a:p>
        </p:txBody>
      </p:sp>
      <p:sp>
        <p:nvSpPr>
          <p:cNvPr id="8" name="Text 6"/>
          <p:cNvSpPr/>
          <p:nvPr/>
        </p:nvSpPr>
        <p:spPr>
          <a:xfrm>
            <a:off x="3474720" y="3063240"/>
            <a:ext cx="7955280" cy="658368"/>
          </a:xfrm>
          <a:prstGeom prst="rect">
            <a:avLst/>
          </a:prstGeom>
          <a:noFill/>
          <a:ln/>
        </p:spPr>
        <p:txBody>
          <a:bodyPr wrap="square" lIns="0" tIns="0" rIns="0" bIns="0" rtlCol="0" anchor="ctr"/>
          <a:lstStyle/>
          <a:p>
            <a:pPr marL="0" indent="0">
              <a:buNone/>
            </a:pPr>
            <a:r>
              <a:rPr lang="en-US" sz="1350" i="1" dirty="0">
                <a:solidFill>
                  <a:srgbClr val="2B2B2B"/>
                </a:solidFill>
                <a:latin typeface="Cambria" pitchFamily="34" charset="0"/>
                <a:ea typeface="Cambria" pitchFamily="34" charset="-122"/>
                <a:cs typeface="Cambria" pitchFamily="34" charset="-120"/>
              </a:rPr>
              <a:t>R₁ = Rz(q₁)Rx(π/2),  R₂ = R₁Rz(q₂),  R₃ = R₂Rz(q₃)</a:t>
            </a:r>
            <a:endParaRPr lang="en-US" sz="1350" dirty="0"/>
          </a:p>
        </p:txBody>
      </p:sp>
      <p:sp>
        <p:nvSpPr>
          <p:cNvPr id="9" name="Shape 7"/>
          <p:cNvSpPr/>
          <p:nvPr/>
        </p:nvSpPr>
        <p:spPr>
          <a:xfrm>
            <a:off x="548640" y="3822192"/>
            <a:ext cx="11064240" cy="658368"/>
          </a:xfrm>
          <a:prstGeom prst="roundRect">
            <a:avLst>
              <a:gd name="adj" fmla="val 8333"/>
            </a:avLst>
          </a:prstGeom>
          <a:solidFill>
            <a:srgbClr val="FCF6F5"/>
          </a:solidFill>
          <a:ln w="12700">
            <a:solidFill>
              <a:srgbClr val="D9C7C6"/>
            </a:solidFill>
            <a:prstDash val="solid"/>
          </a:ln>
        </p:spPr>
        <p:txBody>
          <a:bodyPr/>
          <a:lstStyle/>
          <a:p>
            <a:endParaRPr/>
          </a:p>
        </p:txBody>
      </p:sp>
      <p:sp>
        <p:nvSpPr>
          <p:cNvPr id="10" name="Text 8"/>
          <p:cNvSpPr/>
          <p:nvPr/>
        </p:nvSpPr>
        <p:spPr>
          <a:xfrm>
            <a:off x="731520" y="3822192"/>
            <a:ext cx="2651760" cy="658368"/>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Centros de masa</a:t>
            </a:r>
            <a:endParaRPr lang="en-US" sz="1350" dirty="0"/>
          </a:p>
        </p:txBody>
      </p:sp>
      <p:sp>
        <p:nvSpPr>
          <p:cNvPr id="11" name="Text 9"/>
          <p:cNvSpPr/>
          <p:nvPr/>
        </p:nvSpPr>
        <p:spPr>
          <a:xfrm>
            <a:off x="3474720" y="3822192"/>
            <a:ext cx="7955280" cy="658368"/>
          </a:xfrm>
          <a:prstGeom prst="rect">
            <a:avLst/>
          </a:prstGeom>
          <a:noFill/>
          <a:ln/>
        </p:spPr>
        <p:txBody>
          <a:bodyPr wrap="square" lIns="0" tIns="0" rIns="0" bIns="0" rtlCol="0" anchor="ctr"/>
          <a:lstStyle/>
          <a:p>
            <a:pPr marL="0" indent="0">
              <a:buNone/>
            </a:pPr>
            <a:r>
              <a:rPr lang="en-US" sz="1350" i="1" dirty="0">
                <a:solidFill>
                  <a:srgbClr val="2B2B2B"/>
                </a:solidFill>
                <a:latin typeface="Cambria" pitchFamily="34" charset="0"/>
                <a:ea typeface="Cambria" pitchFamily="34" charset="-122"/>
                <a:cs typeface="Cambria" pitchFamily="34" charset="-120"/>
              </a:rPr>
              <a:t>pc₁=[0,0,lc₁]ᵀ;  pc₂, pc₃ a lo largo del eslabón</a:t>
            </a:r>
            <a:endParaRPr lang="en-US" sz="1350" dirty="0"/>
          </a:p>
        </p:txBody>
      </p:sp>
      <p:sp>
        <p:nvSpPr>
          <p:cNvPr id="12" name="Shape 10"/>
          <p:cNvSpPr/>
          <p:nvPr/>
        </p:nvSpPr>
        <p:spPr>
          <a:xfrm>
            <a:off x="548640" y="4581144"/>
            <a:ext cx="11064240" cy="658368"/>
          </a:xfrm>
          <a:prstGeom prst="roundRect">
            <a:avLst>
              <a:gd name="adj" fmla="val 8333"/>
            </a:avLst>
          </a:prstGeom>
          <a:solidFill>
            <a:srgbClr val="FCF6F5"/>
          </a:solidFill>
          <a:ln w="12700">
            <a:solidFill>
              <a:srgbClr val="D9C7C6"/>
            </a:solidFill>
            <a:prstDash val="solid"/>
          </a:ln>
        </p:spPr>
        <p:txBody>
          <a:bodyPr/>
          <a:lstStyle/>
          <a:p>
            <a:endParaRPr/>
          </a:p>
        </p:txBody>
      </p:sp>
      <p:sp>
        <p:nvSpPr>
          <p:cNvPr id="13" name="Text 11"/>
          <p:cNvSpPr/>
          <p:nvPr/>
        </p:nvSpPr>
        <p:spPr>
          <a:xfrm>
            <a:off x="731520" y="4581144"/>
            <a:ext cx="2651760" cy="658368"/>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Jacobiano lineal</a:t>
            </a:r>
            <a:endParaRPr lang="en-US" sz="1350" dirty="0"/>
          </a:p>
        </p:txBody>
      </p:sp>
      <p:sp>
        <p:nvSpPr>
          <p:cNvPr id="14" name="Text 12"/>
          <p:cNvSpPr/>
          <p:nvPr/>
        </p:nvSpPr>
        <p:spPr>
          <a:xfrm>
            <a:off x="3474720" y="4581144"/>
            <a:ext cx="7955280" cy="658368"/>
          </a:xfrm>
          <a:prstGeom prst="rect">
            <a:avLst/>
          </a:prstGeom>
          <a:noFill/>
          <a:ln/>
        </p:spPr>
        <p:txBody>
          <a:bodyPr wrap="square" lIns="0" tIns="0" rIns="0" bIns="0" rtlCol="0" anchor="ctr"/>
          <a:lstStyle/>
          <a:p>
            <a:pPr marL="0" indent="0">
              <a:buNone/>
            </a:pPr>
            <a:r>
              <a:rPr lang="en-US" sz="1350" i="1" dirty="0">
                <a:solidFill>
                  <a:srgbClr val="2B2B2B"/>
                </a:solidFill>
                <a:latin typeface="Cambria" pitchFamily="34" charset="0"/>
                <a:ea typeface="Cambria" pitchFamily="34" charset="-122"/>
                <a:cs typeface="Cambria" pitchFamily="34" charset="-120"/>
              </a:rPr>
              <a:t>Jvᵢ = ∂pcᵢ/∂q   (Jv₁ = 0: pc₁ sobre el eje base)</a:t>
            </a:r>
            <a:endParaRPr lang="en-US" sz="1350" dirty="0"/>
          </a:p>
        </p:txBody>
      </p:sp>
      <p:sp>
        <p:nvSpPr>
          <p:cNvPr id="15" name="Shape 13"/>
          <p:cNvSpPr/>
          <p:nvPr/>
        </p:nvSpPr>
        <p:spPr>
          <a:xfrm>
            <a:off x="548640" y="5340096"/>
            <a:ext cx="11064240" cy="658368"/>
          </a:xfrm>
          <a:prstGeom prst="roundRect">
            <a:avLst>
              <a:gd name="adj" fmla="val 8333"/>
            </a:avLst>
          </a:prstGeom>
          <a:solidFill>
            <a:srgbClr val="FCF6F5"/>
          </a:solidFill>
          <a:ln w="12700">
            <a:solidFill>
              <a:srgbClr val="D9C7C6"/>
            </a:solidFill>
            <a:prstDash val="solid"/>
          </a:ln>
        </p:spPr>
        <p:txBody>
          <a:bodyPr/>
          <a:lstStyle/>
          <a:p>
            <a:endParaRPr/>
          </a:p>
        </p:txBody>
      </p:sp>
      <p:sp>
        <p:nvSpPr>
          <p:cNvPr id="16" name="Text 14"/>
          <p:cNvSpPr/>
          <p:nvPr/>
        </p:nvSpPr>
        <p:spPr>
          <a:xfrm>
            <a:off x="731520" y="5340096"/>
            <a:ext cx="2651760" cy="658368"/>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Jacobiano angular</a:t>
            </a:r>
            <a:endParaRPr lang="en-US" sz="1350" dirty="0"/>
          </a:p>
        </p:txBody>
      </p:sp>
      <p:sp>
        <p:nvSpPr>
          <p:cNvPr id="17" name="Text 15"/>
          <p:cNvSpPr/>
          <p:nvPr/>
        </p:nvSpPr>
        <p:spPr>
          <a:xfrm>
            <a:off x="3474720" y="5340096"/>
            <a:ext cx="7955280" cy="658368"/>
          </a:xfrm>
          <a:prstGeom prst="rect">
            <a:avLst/>
          </a:prstGeom>
          <a:noFill/>
          <a:ln/>
        </p:spPr>
        <p:txBody>
          <a:bodyPr wrap="square" lIns="0" tIns="0" rIns="0" bIns="0" rtlCol="0" anchor="ctr"/>
          <a:lstStyle/>
          <a:p>
            <a:pPr marL="0" indent="0">
              <a:buNone/>
            </a:pPr>
            <a:r>
              <a:rPr lang="en-US" sz="1350" i="1" dirty="0">
                <a:solidFill>
                  <a:srgbClr val="2B2B2B"/>
                </a:solidFill>
                <a:latin typeface="Cambria" pitchFamily="34" charset="0"/>
                <a:ea typeface="Cambria" pitchFamily="34" charset="-122"/>
                <a:cs typeface="Cambria" pitchFamily="34" charset="-120"/>
              </a:rPr>
              <a:t>Jw₁=[z₀,0,0], Jw₂=[z₀,z₁,0], Jw₃=[z₀,z₁,z₂], z₁=z₂</a:t>
            </a:r>
            <a:endParaRPr lang="en-US" sz="1350" dirty="0"/>
          </a:p>
        </p:txBody>
      </p:sp>
      <p:sp>
        <p:nvSpPr>
          <p:cNvPr id="18" name="Text 16"/>
          <p:cNvSpPr/>
          <p:nvPr/>
        </p:nvSpPr>
        <p:spPr>
          <a:xfrm>
            <a:off x="548640" y="6263640"/>
            <a:ext cx="11064240" cy="274320"/>
          </a:xfrm>
          <a:prstGeom prst="rect">
            <a:avLst/>
          </a:prstGeom>
          <a:noFill/>
          <a:ln/>
        </p:spPr>
        <p:txBody>
          <a:bodyPr wrap="square" lIns="0" tIns="0" rIns="0" bIns="0" rtlCol="0" anchor="ctr"/>
          <a:lstStyle/>
          <a:p>
            <a:pPr marL="0" indent="0">
              <a:buNone/>
            </a:pPr>
            <a:r>
              <a:rPr lang="en-US" sz="1200" i="1" dirty="0">
                <a:solidFill>
                  <a:srgbClr val="6E6E6E"/>
                </a:solidFill>
                <a:latin typeface="Calibri" pitchFamily="34" charset="0"/>
                <a:ea typeface="Calibri" pitchFamily="34" charset="-122"/>
                <a:cs typeface="Calibri" pitchFamily="34" charset="-120"/>
              </a:rPr>
              <a:t>Resultado: M(q) 3×3, simétrica y definida positiva (verificado numéricamente).</a:t>
            </a:r>
            <a:endParaRPr lang="en-US" sz="1200" dirty="0"/>
          </a:p>
        </p:txBody>
      </p:sp>
      <p:sp>
        <p:nvSpPr>
          <p:cNvPr id="19" name="Text 17"/>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2 · MODELO DINÁMICO · CÓDIGO REAL</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De la fórmula al código: función inertia_matrix_3dof</a:t>
            </a:r>
          </a:p>
        </p:txBody>
      </p:sp>
      <p:sp>
        <p:nvSpPr>
          <p:cNvPr id="4" name="TextBox 3"/>
          <p:cNvSpPr txBox="1"/>
          <p:nvPr/>
        </p:nvSpPr>
        <p:spPr>
          <a:xfrm>
            <a:off x="548640" y="1600200"/>
            <a:ext cx="11064240" cy="457200"/>
          </a:xfrm>
          <a:prstGeom prst="rect">
            <a:avLst/>
          </a:prstGeom>
          <a:noFill/>
        </p:spPr>
        <p:txBody>
          <a:bodyPr wrap="square" lIns="0" tIns="0" rIns="0" bIns="0">
            <a:spAutoFit/>
          </a:bodyPr>
          <a:lstStyle/>
          <a:p>
            <a:pPr algn="l"/>
            <a:r>
              <a:rPr sz="1400" b="0" i="0">
                <a:solidFill>
                  <a:srgbClr val="2B2B2B"/>
                </a:solidFill>
                <a:latin typeface="Calibri"/>
              </a:rPr>
              <a:t>Exactamente la fórmula de la diapositiva anterior, ya en código numérico puro (sin Symbolic Math Toolbox). Es una función más dentro del mismo archivo de dinámica (no un archivo aparte), lista para copiarse en un bloque MATLAB Function de Simulink.</a:t>
            </a:r>
          </a:p>
        </p:txBody>
      </p:sp>
      <p:sp>
        <p:nvSpPr>
          <p:cNvPr id="5" name="Rounded Rectangle 4"/>
          <p:cNvSpPr/>
          <p:nvPr/>
        </p:nvSpPr>
        <p:spPr>
          <a:xfrm>
            <a:off x="548640" y="2194560"/>
            <a:ext cx="11064240" cy="3703320"/>
          </a:xfrm>
          <a:prstGeom prst="roundRect">
            <a:avLst>
              <a:gd name="adj" fmla="val 4000"/>
            </a:avLst>
          </a:prstGeom>
          <a:solidFill>
            <a:srgbClr val="FCF6F5"/>
          </a:solidFill>
          <a:ln w="9525">
            <a:solidFill>
              <a:srgbClr val="6008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286000"/>
            <a:ext cx="10698480" cy="3520440"/>
          </a:xfrm>
          <a:prstGeom prst="rect">
            <a:avLst/>
          </a:prstGeom>
          <a:noFill/>
        </p:spPr>
        <p:txBody>
          <a:bodyPr wrap="none" lIns="0" tIns="0" rIns="0" bIns="0">
            <a:spAutoFit/>
          </a:bodyPr>
          <a:lstStyle/>
          <a:p>
            <a:pPr algn="l">
              <a:spcBef>
                <a:spcPts val="0"/>
              </a:spcBef>
              <a:spcAft>
                <a:spcPts val="100"/>
              </a:spcAft>
            </a:pPr>
            <a:r>
              <a:rPr sz="1600" b="1">
                <a:solidFill>
                  <a:srgbClr val="990011"/>
                </a:solidFill>
                <a:latin typeface="Consolas"/>
              </a:rPr>
              <a:t>function M = inertia_matrix_3dof(q, robot)</a:t>
            </a:r>
          </a:p>
          <a:p>
            <a:pPr algn="l">
              <a:spcBef>
                <a:spcPts val="0"/>
              </a:spcBef>
              <a:spcAft>
                <a:spcPts val="100"/>
              </a:spcAft>
            </a:pPr>
            <a:r>
              <a:rPr sz="1600">
                <a:solidFill>
                  <a:srgbClr val="2B2B2B"/>
                </a:solidFill>
                <a:latin typeface="Consolas"/>
              </a:rPr>
              <a:t>    [~,~,~,Jv1,Jv2,Jv3,Jw1,Jw2,Jw3,R1,R2,R3] = com_kinematics_3dof(q, robot);</a:t>
            </a:r>
          </a:p>
          <a:p>
            <a:pPr algn="l">
              <a:spcBef>
                <a:spcPts val="0"/>
              </a:spcBef>
              <a:spcAft>
                <a:spcPts val="100"/>
              </a:spcAft>
            </a:pPr>
            <a:r>
              <a:rPr sz="1600">
                <a:solidFill>
                  <a:srgbClr val="2B2B2B"/>
                </a:solidFill>
                <a:latin typeface="Consolas"/>
              </a:rPr>
              <a:t> </a:t>
            </a:r>
          </a:p>
          <a:p>
            <a:pPr algn="l">
              <a:spcBef>
                <a:spcPts val="0"/>
              </a:spcBef>
              <a:spcAft>
                <a:spcPts val="100"/>
              </a:spcAft>
            </a:pPr>
            <a:r>
              <a:rPr sz="1600">
                <a:solidFill>
                  <a:srgbClr val="2B2B2B"/>
                </a:solidFill>
                <a:latin typeface="Consolas"/>
              </a:rPr>
              <a:t>    M = robot.m1*(Jv1.'*Jv1) + Jw1.'*R1*robot.I1*R1.'*Jw1 + ...</a:t>
            </a:r>
          </a:p>
          <a:p>
            <a:pPr algn="l">
              <a:spcBef>
                <a:spcPts val="0"/>
              </a:spcBef>
              <a:spcAft>
                <a:spcPts val="100"/>
              </a:spcAft>
            </a:pPr>
            <a:r>
              <a:rPr sz="1600">
                <a:solidFill>
                  <a:srgbClr val="2B2B2B"/>
                </a:solidFill>
                <a:latin typeface="Consolas"/>
              </a:rPr>
              <a:t>        robot.m2*(Jv2.'*Jv2) + Jw2.'*R2*robot.I2*R2.'*Jw2 + ...</a:t>
            </a:r>
          </a:p>
          <a:p>
            <a:pPr algn="l">
              <a:spcBef>
                <a:spcPts val="0"/>
              </a:spcBef>
              <a:spcAft>
                <a:spcPts val="100"/>
              </a:spcAft>
            </a:pPr>
            <a:r>
              <a:rPr sz="1600">
                <a:solidFill>
                  <a:srgbClr val="2B2B2B"/>
                </a:solidFill>
                <a:latin typeface="Consolas"/>
              </a:rPr>
              <a:t>        robot.m3*(Jv3.'*Jv3) + Jw3.'*R3*robot.I3*R3.'*Jw3;</a:t>
            </a:r>
          </a:p>
          <a:p>
            <a:pPr algn="l">
              <a:spcBef>
                <a:spcPts val="0"/>
              </a:spcBef>
              <a:spcAft>
                <a:spcPts val="100"/>
              </a:spcAft>
            </a:pPr>
            <a:r>
              <a:rPr sz="1600">
                <a:solidFill>
                  <a:srgbClr val="2B2B2B"/>
                </a:solidFill>
                <a:latin typeface="Consolas"/>
              </a:rPr>
              <a:t> </a:t>
            </a:r>
          </a:p>
          <a:p>
            <a:pPr algn="l">
              <a:spcBef>
                <a:spcPts val="0"/>
              </a:spcBef>
              <a:spcAft>
                <a:spcPts val="100"/>
              </a:spcAft>
            </a:pPr>
            <a:r>
              <a:rPr sz="1600">
                <a:solidFill>
                  <a:srgbClr val="2B2B2B"/>
                </a:solidFill>
                <a:latin typeface="Consolas"/>
              </a:rPr>
              <a:t>    M = (M + M.')/2;  % simetrizacion numerica (M ya es simetrica</a:t>
            </a:r>
          </a:p>
          <a:p>
            <a:pPr algn="l">
              <a:spcBef>
                <a:spcPts val="0"/>
              </a:spcBef>
              <a:spcAft>
                <a:spcPts val="100"/>
              </a:spcAft>
            </a:pPr>
            <a:r>
              <a:rPr sz="1600" i="1">
                <a:solidFill>
                  <a:srgbClr val="6E6E6E"/>
                </a:solidFill>
                <a:latin typeface="Consolas"/>
              </a:rPr>
              <a:t>                       % por construccion; solo limpia ruido de redondeo)</a:t>
            </a:r>
          </a:p>
          <a:p>
            <a:pPr algn="l">
              <a:spcBef>
                <a:spcPts val="0"/>
              </a:spcBef>
              <a:spcAft>
                <a:spcPts val="100"/>
              </a:spcAft>
            </a:pPr>
            <a:r>
              <a:rPr sz="1600" b="1">
                <a:solidFill>
                  <a:srgbClr val="990011"/>
                </a:solidFill>
                <a:latin typeface="Consolas"/>
              </a:rPr>
              <a:t>end</a:t>
            </a:r>
          </a:p>
        </p:txBody>
      </p:sp>
      <p:sp>
        <p:nvSpPr>
          <p:cNvPr id="7" name="TextBox 6"/>
          <p:cNvSpPr txBox="1"/>
          <p:nvPr/>
        </p:nvSpPr>
        <p:spPr>
          <a:xfrm>
            <a:off x="548640" y="6263640"/>
            <a:ext cx="11064240" cy="274320"/>
          </a:xfrm>
          <a:prstGeom prst="rect">
            <a:avLst/>
          </a:prstGeom>
          <a:noFill/>
        </p:spPr>
        <p:txBody>
          <a:bodyPr wrap="square" lIns="0" tIns="0" rIns="0" bIns="0">
            <a:spAutoFit/>
          </a:bodyPr>
          <a:lstStyle/>
          <a:p>
            <a:pPr algn="l"/>
            <a:r>
              <a:rPr sz="1200" b="0" i="0">
                <a:solidFill>
                  <a:srgbClr val="6E6E6E"/>
                </a:solidFill>
                <a:latin typeface="Calibri"/>
              </a:rPr>
              <a:t>Archivo: 01_codigo_final/robot3dof_TFinal_v2_dinamica_jacobianos.m</a:t>
            </a:r>
          </a:p>
        </p:txBody>
      </p:sp>
      <p:sp>
        <p:nvSpPr>
          <p:cNvPr id="8" name="TextBox 7"/>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2 · CORIOLIS Y GRAVEDAD</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Coriolis por Christoffel y G(q) en forma cerrada</a:t>
            </a:r>
            <a:endParaRPr lang="en-US" sz="2700" dirty="0"/>
          </a:p>
        </p:txBody>
      </p:sp>
      <p:sp>
        <p:nvSpPr>
          <p:cNvPr id="4" name="Text 2"/>
          <p:cNvSpPr/>
          <p:nvPr/>
        </p:nvSpPr>
        <p:spPr>
          <a:xfrm>
            <a:off x="548640" y="1645920"/>
            <a:ext cx="11064240" cy="320040"/>
          </a:xfrm>
          <a:prstGeom prst="rect">
            <a:avLst/>
          </a:prstGeom>
          <a:noFill/>
          <a:ln/>
        </p:spPr>
        <p:txBody>
          <a:bodyPr wrap="square" lIns="0" tIns="0" rIns="0" bIns="0" rtlCol="0" anchor="ctr"/>
          <a:lstStyle/>
          <a:p>
            <a:pPr marL="0" indent="0">
              <a:buNone/>
            </a:pPr>
            <a:r>
              <a:rPr lang="en-US" sz="1400" b="1" dirty="0">
                <a:solidFill>
                  <a:srgbClr val="990011"/>
                </a:solidFill>
                <a:latin typeface="Calibri" pitchFamily="34" charset="0"/>
                <a:ea typeface="Calibri" pitchFamily="34" charset="-122"/>
                <a:cs typeface="Calibri" pitchFamily="34" charset="-120"/>
              </a:rPr>
              <a:t>Matriz de Coriolis — coeficientes de Christoffel (n = 3)</a:t>
            </a:r>
            <a:endParaRPr lang="en-US" sz="1400" dirty="0"/>
          </a:p>
        </p:txBody>
      </p:sp>
      <p:sp>
        <p:nvSpPr>
          <p:cNvPr id="5" name="Text 3"/>
          <p:cNvSpPr/>
          <p:nvPr/>
        </p:nvSpPr>
        <p:spPr>
          <a:xfrm>
            <a:off x="548640" y="2011680"/>
            <a:ext cx="11064240" cy="457200"/>
          </a:xfrm>
          <a:prstGeom prst="rect">
            <a:avLst/>
          </a:prstGeom>
          <a:solidFill>
            <a:srgbClr val="F3E9E8"/>
          </a:solidFill>
          <a:ln w="12700">
            <a:solidFill>
              <a:srgbClr val="D9C7C6"/>
            </a:solidFill>
          </a:ln>
        </p:spPr>
        <p:txBody>
          <a:bodyPr wrap="square" lIns="0" tIns="0" rIns="0" bIns="0" rtlCol="0" anchor="ctr"/>
          <a:lstStyle/>
          <a:p>
            <a:pPr marL="0" indent="0" algn="ctr">
              <a:buNone/>
            </a:pPr>
            <a:r>
              <a:rPr lang="en-US" sz="1500" i="1" dirty="0">
                <a:solidFill>
                  <a:srgbClr val="2B2B2B"/>
                </a:solidFill>
                <a:latin typeface="Cambria" pitchFamily="34" charset="0"/>
                <a:ea typeface="Cambria" pitchFamily="34" charset="-122"/>
                <a:cs typeface="Cambria" pitchFamily="34" charset="-120"/>
              </a:rPr>
              <a:t>cᵢⱼₖ = ½ ( ∂Mᵢⱼ/∂qₖ + ∂Mᵢₖ/∂qⱼ − ∂Mⱼₖ/∂qᵢ ) ,   Cᵢⱼ = Σₖ cᵢⱼₖ q̇ₖ</a:t>
            </a:r>
            <a:endParaRPr lang="en-US" sz="1500" dirty="0"/>
          </a:p>
        </p:txBody>
      </p:sp>
      <p:sp>
        <p:nvSpPr>
          <p:cNvPr id="6" name="Text 4"/>
          <p:cNvSpPr/>
          <p:nvPr/>
        </p:nvSpPr>
        <p:spPr>
          <a:xfrm>
            <a:off x="548640" y="2788920"/>
            <a:ext cx="11064240" cy="320040"/>
          </a:xfrm>
          <a:prstGeom prst="rect">
            <a:avLst/>
          </a:prstGeom>
          <a:noFill/>
          <a:ln/>
        </p:spPr>
        <p:txBody>
          <a:bodyPr wrap="square" lIns="0" tIns="0" rIns="0" bIns="0" rtlCol="0" anchor="ctr"/>
          <a:lstStyle/>
          <a:p>
            <a:pPr marL="0" indent="0">
              <a:buNone/>
            </a:pPr>
            <a:r>
              <a:rPr lang="en-US" sz="1400" b="1" dirty="0">
                <a:solidFill>
                  <a:srgbClr val="990011"/>
                </a:solidFill>
                <a:latin typeface="Calibri" pitchFamily="34" charset="0"/>
                <a:ea typeface="Calibri" pitchFamily="34" charset="-122"/>
                <a:cs typeface="Calibri" pitchFamily="34" charset="-120"/>
              </a:rPr>
              <a:t>Vector de gravedad — gradiente de la energía potencial</a:t>
            </a:r>
            <a:endParaRPr lang="en-US" sz="1400" dirty="0"/>
          </a:p>
        </p:txBody>
      </p:sp>
      <p:sp>
        <p:nvSpPr>
          <p:cNvPr id="7" name="Text 5"/>
          <p:cNvSpPr/>
          <p:nvPr/>
        </p:nvSpPr>
        <p:spPr>
          <a:xfrm>
            <a:off x="548640" y="3154680"/>
            <a:ext cx="3383280" cy="457200"/>
          </a:xfrm>
          <a:prstGeom prst="rect">
            <a:avLst/>
          </a:prstGeom>
          <a:solidFill>
            <a:srgbClr val="F3E9E8"/>
          </a:solidFill>
          <a:ln w="12700">
            <a:solidFill>
              <a:srgbClr val="D9C7C6"/>
            </a:solidFill>
          </a:ln>
        </p:spPr>
        <p:txBody>
          <a:bodyPr wrap="square" lIns="0" tIns="0" rIns="0" bIns="0" rtlCol="0" anchor="ctr"/>
          <a:lstStyle/>
          <a:p>
            <a:pPr marL="0" indent="0" algn="ctr">
              <a:buNone/>
            </a:pPr>
            <a:r>
              <a:rPr lang="en-US" sz="1400" i="1" dirty="0">
                <a:solidFill>
                  <a:srgbClr val="2B2B2B"/>
                </a:solidFill>
                <a:latin typeface="Cambria" pitchFamily="34" charset="0"/>
                <a:ea typeface="Cambria" pitchFamily="34" charset="-122"/>
                <a:cs typeface="Cambria" pitchFamily="34" charset="-120"/>
              </a:rPr>
              <a:t>G₁ = 0</a:t>
            </a:r>
            <a:endParaRPr lang="en-US" sz="1400" dirty="0"/>
          </a:p>
        </p:txBody>
      </p:sp>
      <p:sp>
        <p:nvSpPr>
          <p:cNvPr id="8" name="Text 6"/>
          <p:cNvSpPr/>
          <p:nvPr/>
        </p:nvSpPr>
        <p:spPr>
          <a:xfrm>
            <a:off x="4114800" y="3154680"/>
            <a:ext cx="7498080" cy="457200"/>
          </a:xfrm>
          <a:prstGeom prst="rect">
            <a:avLst/>
          </a:prstGeom>
          <a:solidFill>
            <a:srgbClr val="F3E9E8"/>
          </a:solidFill>
          <a:ln w="12700">
            <a:solidFill>
              <a:srgbClr val="D9C7C6"/>
            </a:solidFill>
          </a:ln>
        </p:spPr>
        <p:txBody>
          <a:bodyPr wrap="square" lIns="0" tIns="0" rIns="0" bIns="0" rtlCol="0" anchor="ctr"/>
          <a:lstStyle/>
          <a:p>
            <a:pPr marL="0" indent="0" algn="ctr">
              <a:buNone/>
            </a:pPr>
            <a:r>
              <a:rPr lang="en-US" sz="1350" i="1" dirty="0">
                <a:solidFill>
                  <a:srgbClr val="2B2B2B"/>
                </a:solidFill>
                <a:latin typeface="Cambria" pitchFamily="34" charset="0"/>
                <a:ea typeface="Cambria" pitchFamily="34" charset="-122"/>
                <a:cs typeface="Cambria" pitchFamily="34" charset="-120"/>
              </a:rPr>
              <a:t>G₂ = (m₂lc₂+m₃L₂)g·cos q₂ + m₃lc₃g·cos(q₂+q₃)</a:t>
            </a:r>
            <a:endParaRPr lang="en-US" sz="1350" dirty="0"/>
          </a:p>
        </p:txBody>
      </p:sp>
      <p:sp>
        <p:nvSpPr>
          <p:cNvPr id="9" name="Text 7"/>
          <p:cNvSpPr/>
          <p:nvPr/>
        </p:nvSpPr>
        <p:spPr>
          <a:xfrm>
            <a:off x="548640" y="3703320"/>
            <a:ext cx="3383280" cy="457200"/>
          </a:xfrm>
          <a:prstGeom prst="rect">
            <a:avLst/>
          </a:prstGeom>
          <a:solidFill>
            <a:srgbClr val="F3E9E8"/>
          </a:solidFill>
          <a:ln w="12700">
            <a:solidFill>
              <a:srgbClr val="D9C7C6"/>
            </a:solidFill>
          </a:ln>
        </p:spPr>
        <p:txBody>
          <a:bodyPr wrap="square" lIns="0" tIns="0" rIns="0" bIns="0" rtlCol="0" anchor="ctr"/>
          <a:lstStyle/>
          <a:p>
            <a:pPr marL="0" indent="0" algn="ctr">
              <a:buNone/>
            </a:pPr>
            <a:r>
              <a:rPr lang="en-US" sz="1250" i="1" dirty="0">
                <a:solidFill>
                  <a:srgbClr val="2B2B2B"/>
                </a:solidFill>
                <a:latin typeface="Cambria" pitchFamily="34" charset="0"/>
                <a:ea typeface="Cambria" pitchFamily="34" charset="-122"/>
                <a:cs typeface="Cambria" pitchFamily="34" charset="-120"/>
              </a:rPr>
              <a:t>G₃ = m₃ lc₃ g · cos(q₂+q₃)</a:t>
            </a:r>
            <a:endParaRPr lang="en-US" sz="1250" dirty="0"/>
          </a:p>
        </p:txBody>
      </p:sp>
      <p:sp>
        <p:nvSpPr>
          <p:cNvPr id="10" name="Shape 8"/>
          <p:cNvSpPr/>
          <p:nvPr/>
        </p:nvSpPr>
        <p:spPr>
          <a:xfrm>
            <a:off x="4114800" y="3703320"/>
            <a:ext cx="7498080" cy="502920"/>
          </a:xfrm>
          <a:prstGeom prst="roundRect">
            <a:avLst>
              <a:gd name="adj" fmla="val 10909"/>
            </a:avLst>
          </a:prstGeom>
          <a:solidFill>
            <a:srgbClr val="FCF6F5"/>
          </a:solidFill>
          <a:ln w="12700">
            <a:solidFill>
              <a:srgbClr val="D9C7C6"/>
            </a:solidFill>
            <a:prstDash val="solid"/>
          </a:ln>
        </p:spPr>
        <p:txBody>
          <a:bodyPr/>
          <a:lstStyle/>
          <a:p>
            <a:endParaRPr/>
          </a:p>
        </p:txBody>
      </p:sp>
      <p:sp>
        <p:nvSpPr>
          <p:cNvPr id="11" name="Text 9"/>
          <p:cNvSpPr/>
          <p:nvPr/>
        </p:nvSpPr>
        <p:spPr>
          <a:xfrm>
            <a:off x="4297680" y="3703320"/>
            <a:ext cx="7132320" cy="502920"/>
          </a:xfrm>
          <a:prstGeom prst="rect">
            <a:avLst/>
          </a:prstGeom>
          <a:noFill/>
          <a:ln/>
        </p:spPr>
        <p:txBody>
          <a:bodyPr wrap="square" lIns="0" tIns="0" rIns="0" bIns="0"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G₁ = 0 es geométrico: la junta de base no cambia la altura de ningún centro de masa.</a:t>
            </a:r>
            <a:endParaRPr lang="en-US" sz="1200" dirty="0"/>
          </a:p>
        </p:txBody>
      </p:sp>
      <p:sp>
        <p:nvSpPr>
          <p:cNvPr id="12" name="Shape 10"/>
          <p:cNvSpPr/>
          <p:nvPr/>
        </p:nvSpPr>
        <p:spPr>
          <a:xfrm>
            <a:off x="548640" y="4526280"/>
            <a:ext cx="11064240" cy="1417320"/>
          </a:xfrm>
          <a:prstGeom prst="roundRect">
            <a:avLst>
              <a:gd name="adj" fmla="val 3871"/>
            </a:avLst>
          </a:prstGeom>
          <a:solidFill>
            <a:srgbClr val="600810"/>
          </a:solidFill>
          <a:ln/>
        </p:spPr>
        <p:txBody>
          <a:bodyPr/>
          <a:lstStyle/>
          <a:p>
            <a:endParaRPr/>
          </a:p>
        </p:txBody>
      </p:sp>
      <p:sp>
        <p:nvSpPr>
          <p:cNvPr id="13" name="Text 11"/>
          <p:cNvSpPr/>
          <p:nvPr/>
        </p:nvSpPr>
        <p:spPr>
          <a:xfrm>
            <a:off x="777240" y="4663440"/>
            <a:ext cx="2743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Propiedad clave</a:t>
            </a:r>
            <a:endParaRPr lang="en-US" sz="1400" dirty="0"/>
          </a:p>
        </p:txBody>
      </p:sp>
      <p:sp>
        <p:nvSpPr>
          <p:cNvPr id="14" name="Text 12"/>
          <p:cNvSpPr/>
          <p:nvPr/>
        </p:nvSpPr>
        <p:spPr>
          <a:xfrm>
            <a:off x="777240" y="5029200"/>
            <a:ext cx="10607040" cy="36576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La matriz  Ṁ(q) − 2C(q,q̇)  es antisimétrica.</a:t>
            </a:r>
            <a:endParaRPr lang="en-US" sz="1600" dirty="0"/>
          </a:p>
        </p:txBody>
      </p:sp>
      <p:sp>
        <p:nvSpPr>
          <p:cNvPr id="15" name="Text 13"/>
          <p:cNvSpPr/>
          <p:nvPr/>
        </p:nvSpPr>
        <p:spPr>
          <a:xfrm>
            <a:off x="777240" y="5440680"/>
            <a:ext cx="10607040" cy="457200"/>
          </a:xfrm>
          <a:prstGeom prst="rect">
            <a:avLst/>
          </a:prstGeom>
          <a:noFill/>
          <a:ln/>
        </p:spPr>
        <p:txBody>
          <a:bodyPr wrap="square" lIns="0" tIns="0" rIns="0" bIns="0" rtlCol="0" anchor="ctr"/>
          <a:lstStyle/>
          <a:p>
            <a:pPr marL="0" indent="0">
              <a:buNone/>
            </a:pPr>
            <a:r>
              <a:rPr lang="en-US" sz="1250" dirty="0">
                <a:solidFill>
                  <a:srgbClr val="F0D5D8"/>
                </a:solidFill>
                <a:latin typeface="Calibri" pitchFamily="34" charset="0"/>
                <a:ea typeface="Calibri" pitchFamily="34" charset="-122"/>
                <a:cs typeface="Calibri" pitchFamily="34" charset="-120"/>
              </a:rPr>
              <a:t>Esta identidad —verificada en el código— es la que habilita la prueba de estabilidad de Lyapunov de los controladores (Bloque 3).</a:t>
            </a:r>
            <a:endParaRPr lang="en-US" sz="1250" dirty="0"/>
          </a:p>
        </p:txBody>
      </p:sp>
      <p:sp>
        <p:nvSpPr>
          <p:cNvPr id="16" name="Text 14"/>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2 · CORIOLIS Y GRAVEDAD · CÓDIGO REAL</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Los coeficientes de Christoffel, línea por línea</a:t>
            </a:r>
          </a:p>
        </p:txBody>
      </p:sp>
      <p:sp>
        <p:nvSpPr>
          <p:cNvPr id="4" name="TextBox 3"/>
          <p:cNvSpPr txBox="1"/>
          <p:nvPr/>
        </p:nvSpPr>
        <p:spPr>
          <a:xfrm>
            <a:off x="548640" y="1600200"/>
            <a:ext cx="11064240" cy="457200"/>
          </a:xfrm>
          <a:prstGeom prst="rect">
            <a:avLst/>
          </a:prstGeom>
          <a:noFill/>
        </p:spPr>
        <p:txBody>
          <a:bodyPr wrap="square" lIns="0" tIns="0" rIns="0" bIns="0">
            <a:spAutoFit/>
          </a:bodyPr>
          <a:lstStyle/>
          <a:p>
            <a:pPr algn="l"/>
            <a:r>
              <a:rPr sz="1400" b="0" i="0">
                <a:solidFill>
                  <a:srgbClr val="2B2B2B"/>
                </a:solidFill>
                <a:latin typeface="Calibri"/>
              </a:rPr>
              <a:t>La misma fórmula c_ijk de la diapositiva anterior, implementada como un triple bucle sobre M(q). También es una función dentro del mismo archivo de dinámica. dM/dq se obtiene por diferencias finitas centradas (h=1e-6).</a:t>
            </a:r>
          </a:p>
        </p:txBody>
      </p:sp>
      <p:sp>
        <p:nvSpPr>
          <p:cNvPr id="5" name="Rounded Rectangle 4"/>
          <p:cNvSpPr/>
          <p:nvPr/>
        </p:nvSpPr>
        <p:spPr>
          <a:xfrm>
            <a:off x="548640" y="2194560"/>
            <a:ext cx="11064240" cy="3703320"/>
          </a:xfrm>
          <a:prstGeom prst="roundRect">
            <a:avLst>
              <a:gd name="adj" fmla="val 4000"/>
            </a:avLst>
          </a:prstGeom>
          <a:solidFill>
            <a:srgbClr val="FCF6F5"/>
          </a:solidFill>
          <a:ln w="9525">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286000"/>
            <a:ext cx="10698480" cy="4116160"/>
          </a:xfrm>
          <a:prstGeom prst="rect">
            <a:avLst/>
          </a:prstGeom>
          <a:noFill/>
        </p:spPr>
        <p:txBody>
          <a:bodyPr wrap="none" lIns="0" tIns="0" rIns="0" bIns="0">
            <a:spAutoFit/>
          </a:bodyPr>
          <a:lstStyle/>
          <a:p>
            <a:pPr algn="l">
              <a:spcBef>
                <a:spcPts val="0"/>
              </a:spcBef>
              <a:spcAft>
                <a:spcPts val="0"/>
              </a:spcAft>
            </a:pPr>
            <a:r>
              <a:rPr sz="1200" b="1">
                <a:solidFill>
                  <a:srgbClr val="990011"/>
                </a:solidFill>
                <a:latin typeface="Consolas"/>
              </a:rPr>
              <a:t>function C = coriolis_matrix_3dof(q, qdot, robot)</a:t>
            </a:r>
          </a:p>
          <a:p>
            <a:pPr algn="l">
              <a:spcBef>
                <a:spcPts val="0"/>
              </a:spcBef>
              <a:spcAft>
                <a:spcPts val="0"/>
              </a:spcAft>
            </a:pPr>
            <a:r>
              <a:rPr sz="1200">
                <a:solidFill>
                  <a:srgbClr val="2B2B2B"/>
                </a:solidFill>
                <a:latin typeface="Consolas"/>
              </a:rPr>
              <a:t>    n = 3; h = 1e-6; dM = cell(1,n);</a:t>
            </a:r>
          </a:p>
          <a:p>
            <a:pPr algn="l">
              <a:spcBef>
                <a:spcPts val="0"/>
              </a:spcBef>
              <a:spcAft>
                <a:spcPts val="0"/>
              </a:spcAft>
            </a:pPr>
            <a:r>
              <a:rPr sz="1200">
                <a:solidFill>
                  <a:srgbClr val="2B2B2B"/>
                </a:solidFill>
                <a:latin typeface="Consolas"/>
              </a:rPr>
              <a:t>    for k = 1:n</a:t>
            </a:r>
          </a:p>
          <a:p>
            <a:pPr algn="l">
              <a:spcBef>
                <a:spcPts val="0"/>
              </a:spcBef>
              <a:spcAft>
                <a:spcPts val="0"/>
              </a:spcAft>
            </a:pPr>
            <a:r>
              <a:rPr sz="1200">
                <a:solidFill>
                  <a:srgbClr val="2B2B2B"/>
                </a:solidFill>
                <a:latin typeface="Consolas"/>
              </a:rPr>
              <a:t>        dq = zeros(n,1); dq(k) = h;</a:t>
            </a:r>
          </a:p>
          <a:p>
            <a:pPr algn="l">
              <a:spcBef>
                <a:spcPts val="0"/>
              </a:spcBef>
              <a:spcAft>
                <a:spcPts val="0"/>
              </a:spcAft>
            </a:pPr>
            <a:r>
              <a:rPr sz="1200">
                <a:solidFill>
                  <a:srgbClr val="2B2B2B"/>
                </a:solidFill>
                <a:latin typeface="Consolas"/>
              </a:rPr>
              <a:t>        Mp = inertia_matrix_3dof(q + dq, robot);</a:t>
            </a:r>
          </a:p>
          <a:p>
            <a:pPr algn="l">
              <a:spcBef>
                <a:spcPts val="0"/>
              </a:spcBef>
              <a:spcAft>
                <a:spcPts val="0"/>
              </a:spcAft>
            </a:pPr>
            <a:r>
              <a:rPr sz="1200">
                <a:solidFill>
                  <a:srgbClr val="2B2B2B"/>
                </a:solidFill>
                <a:latin typeface="Consolas"/>
              </a:rPr>
              <a:t>        Mm = inertia_matrix_3dof(q - dq, robot);</a:t>
            </a:r>
          </a:p>
          <a:p>
            <a:pPr algn="l">
              <a:spcBef>
                <a:spcPts val="0"/>
              </a:spcBef>
              <a:spcAft>
                <a:spcPts val="0"/>
              </a:spcAft>
            </a:pPr>
            <a:r>
              <a:rPr sz="1200">
                <a:solidFill>
                  <a:srgbClr val="2B2B2B"/>
                </a:solidFill>
                <a:latin typeface="Consolas"/>
              </a:rPr>
              <a:t>        dM{k} = (Mp - Mm)/(2*h);</a:t>
            </a:r>
          </a:p>
          <a:p>
            <a:pPr algn="l">
              <a:spcBef>
                <a:spcPts val="0"/>
              </a:spcBef>
              <a:spcAft>
                <a:spcPts val="0"/>
              </a:spcAft>
            </a:pPr>
            <a:r>
              <a:rPr sz="1200" b="1">
                <a:solidFill>
                  <a:srgbClr val="990011"/>
                </a:solidFill>
                <a:latin typeface="Consolas"/>
              </a:rPr>
              <a:t>    end</a:t>
            </a:r>
          </a:p>
          <a:p>
            <a:pPr algn="l">
              <a:spcBef>
                <a:spcPts val="0"/>
              </a:spcBef>
              <a:spcAft>
                <a:spcPts val="0"/>
              </a:spcAft>
            </a:pPr>
            <a:r>
              <a:rPr sz="1200">
                <a:solidFill>
                  <a:srgbClr val="2B2B2B"/>
                </a:solidFill>
                <a:latin typeface="Consolas"/>
              </a:rPr>
              <a:t>    C = zeros(n,n);</a:t>
            </a:r>
          </a:p>
          <a:p>
            <a:pPr algn="l">
              <a:spcBef>
                <a:spcPts val="0"/>
              </a:spcBef>
              <a:spcAft>
                <a:spcPts val="0"/>
              </a:spcAft>
            </a:pPr>
            <a:r>
              <a:rPr sz="1200">
                <a:solidFill>
                  <a:srgbClr val="2B2B2B"/>
                </a:solidFill>
                <a:latin typeface="Consolas"/>
              </a:rPr>
              <a:t>    for i = 1:n</a:t>
            </a:r>
          </a:p>
          <a:p>
            <a:pPr algn="l">
              <a:spcBef>
                <a:spcPts val="0"/>
              </a:spcBef>
              <a:spcAft>
                <a:spcPts val="0"/>
              </a:spcAft>
            </a:pPr>
            <a:r>
              <a:rPr sz="1200">
                <a:solidFill>
                  <a:srgbClr val="2B2B2B"/>
                </a:solidFill>
                <a:latin typeface="Consolas"/>
              </a:rPr>
              <a:t>        for j = 1:n</a:t>
            </a:r>
          </a:p>
          <a:p>
            <a:pPr algn="l">
              <a:spcBef>
                <a:spcPts val="0"/>
              </a:spcBef>
              <a:spcAft>
                <a:spcPts val="0"/>
              </a:spcAft>
            </a:pPr>
            <a:r>
              <a:rPr sz="1200">
                <a:solidFill>
                  <a:srgbClr val="2B2B2B"/>
                </a:solidFill>
                <a:latin typeface="Consolas"/>
              </a:rPr>
              <a:t>            for k = 1:n</a:t>
            </a:r>
          </a:p>
          <a:p>
            <a:pPr algn="l">
              <a:spcBef>
                <a:spcPts val="0"/>
              </a:spcBef>
              <a:spcAft>
                <a:spcPts val="0"/>
              </a:spcAft>
            </a:pPr>
            <a:r>
              <a:rPr sz="1200">
                <a:solidFill>
                  <a:srgbClr val="2B2B2B"/>
                </a:solidFill>
                <a:latin typeface="Consolas"/>
              </a:rPr>
              <a:t>                cijk = 0.5*(dM{k}(i,j) + dM{j}(i,k) - dM{i}(j,k));</a:t>
            </a:r>
          </a:p>
          <a:p>
            <a:pPr algn="l">
              <a:spcBef>
                <a:spcPts val="0"/>
              </a:spcBef>
              <a:spcAft>
                <a:spcPts val="0"/>
              </a:spcAft>
            </a:pPr>
            <a:r>
              <a:rPr sz="1200">
                <a:solidFill>
                  <a:srgbClr val="2B2B2B"/>
                </a:solidFill>
                <a:latin typeface="Consolas"/>
              </a:rPr>
              <a:t>                C(i,j) = C(i,j) + cijk*qdot(k);</a:t>
            </a:r>
          </a:p>
          <a:p>
            <a:pPr algn="l">
              <a:spcBef>
                <a:spcPts val="0"/>
              </a:spcBef>
              <a:spcAft>
                <a:spcPts val="0"/>
              </a:spcAft>
            </a:pPr>
            <a:r>
              <a:rPr sz="1200" b="1">
                <a:solidFill>
                  <a:srgbClr val="990011"/>
                </a:solidFill>
                <a:latin typeface="Consolas"/>
              </a:rPr>
              <a:t>            end</a:t>
            </a:r>
          </a:p>
          <a:p>
            <a:pPr algn="l">
              <a:spcBef>
                <a:spcPts val="0"/>
              </a:spcBef>
              <a:spcAft>
                <a:spcPts val="0"/>
              </a:spcAft>
            </a:pPr>
            <a:r>
              <a:rPr sz="1200" b="1">
                <a:solidFill>
                  <a:srgbClr val="990011"/>
                </a:solidFill>
                <a:latin typeface="Consolas"/>
              </a:rPr>
              <a:t>        end</a:t>
            </a:r>
          </a:p>
          <a:p>
            <a:pPr algn="l">
              <a:spcBef>
                <a:spcPts val="0"/>
              </a:spcBef>
              <a:spcAft>
                <a:spcPts val="0"/>
              </a:spcAft>
            </a:pPr>
            <a:r>
              <a:rPr sz="1200" b="1">
                <a:solidFill>
                  <a:srgbClr val="990011"/>
                </a:solidFill>
                <a:latin typeface="Consolas"/>
              </a:rPr>
              <a:t>    end</a:t>
            </a:r>
          </a:p>
          <a:p>
            <a:pPr algn="l">
              <a:spcBef>
                <a:spcPts val="0"/>
              </a:spcBef>
              <a:spcAft>
                <a:spcPts val="0"/>
              </a:spcAft>
            </a:pPr>
            <a:r>
              <a:rPr sz="1200" b="1">
                <a:solidFill>
                  <a:srgbClr val="990011"/>
                </a:solidFill>
                <a:latin typeface="Consolas"/>
              </a:rPr>
              <a:t>end</a:t>
            </a:r>
          </a:p>
        </p:txBody>
      </p:sp>
      <p:sp>
        <p:nvSpPr>
          <p:cNvPr id="7" name="TextBox 6"/>
          <p:cNvSpPr txBox="1"/>
          <p:nvPr/>
        </p:nvSpPr>
        <p:spPr>
          <a:xfrm>
            <a:off x="548640" y="6263640"/>
            <a:ext cx="11064240" cy="274320"/>
          </a:xfrm>
          <a:prstGeom prst="rect">
            <a:avLst/>
          </a:prstGeom>
          <a:noFill/>
        </p:spPr>
        <p:txBody>
          <a:bodyPr wrap="square" lIns="0" tIns="0" rIns="0" bIns="0">
            <a:spAutoFit/>
          </a:bodyPr>
          <a:lstStyle/>
          <a:p>
            <a:pPr algn="l"/>
            <a:r>
              <a:rPr sz="1200" b="0" i="0">
                <a:solidFill>
                  <a:srgbClr val="6E6E6E"/>
                </a:solidFill>
                <a:latin typeface="Calibri"/>
              </a:rPr>
              <a:t>Archivo: 01_codigo_final/robot3dof_TFinal_v2_dinamica_jacobianos.m — misma formula que la version simbolica (Seccion 9 del archivo), &lt;1e-10 de diferencia</a:t>
            </a:r>
          </a:p>
        </p:txBody>
      </p:sp>
      <p:sp>
        <p:nvSpPr>
          <p:cNvPr id="8" name="TextBox 7"/>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2 · VALIDACIÓN NUMÉRICA DEL MODELO</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El modelo reproduce la física esperada</a:t>
            </a:r>
            <a:endParaRPr lang="en-US" sz="2700" dirty="0"/>
          </a:p>
        </p:txBody>
      </p:sp>
      <p:sp>
        <p:nvSpPr>
          <p:cNvPr id="4" name="Text 2"/>
          <p:cNvSpPr/>
          <p:nvPr/>
        </p:nvSpPr>
        <p:spPr>
          <a:xfrm>
            <a:off x="548640" y="1828800"/>
            <a:ext cx="3383280" cy="777240"/>
          </a:xfrm>
          <a:prstGeom prst="rect">
            <a:avLst/>
          </a:prstGeom>
          <a:noFill/>
          <a:ln/>
        </p:spPr>
        <p:txBody>
          <a:bodyPr wrap="square" lIns="0" tIns="0" rIns="0" bIns="0" rtlCol="0" anchor="ctr"/>
          <a:lstStyle/>
          <a:p>
            <a:pPr marL="0" indent="0" algn="l">
              <a:buNone/>
            </a:pPr>
            <a:r>
              <a:rPr lang="en-US" sz="4000" b="1" dirty="0">
                <a:solidFill>
                  <a:srgbClr val="990011"/>
                </a:solidFill>
                <a:latin typeface="Cambria" pitchFamily="34" charset="0"/>
                <a:ea typeface="Cambria" pitchFamily="34" charset="-122"/>
                <a:cs typeface="Cambria" pitchFamily="34" charset="-120"/>
              </a:rPr>
              <a:t>M(q) ≻ 0</a:t>
            </a:r>
            <a:endParaRPr lang="en-US" sz="4000" dirty="0"/>
          </a:p>
        </p:txBody>
      </p:sp>
      <p:sp>
        <p:nvSpPr>
          <p:cNvPr id="5" name="Text 3"/>
          <p:cNvSpPr/>
          <p:nvPr/>
        </p:nvSpPr>
        <p:spPr>
          <a:xfrm>
            <a:off x="548640" y="2578608"/>
            <a:ext cx="3383280" cy="640080"/>
          </a:xfrm>
          <a:prstGeom prst="rect">
            <a:avLst/>
          </a:prstGeom>
          <a:noFill/>
          <a:ln/>
        </p:spPr>
        <p:txBody>
          <a:bodyPr wrap="square" lIns="0" tIns="0" rIns="0" bIns="0" rtlCol="0" anchor="t"/>
          <a:lstStyle/>
          <a:p>
            <a:pPr marL="0" indent="0" algn="l">
              <a:buNone/>
            </a:pPr>
            <a:r>
              <a:rPr lang="en-US" sz="1150" dirty="0">
                <a:solidFill>
                  <a:srgbClr val="2B2B2B"/>
                </a:solidFill>
                <a:latin typeface="Calibri" pitchFamily="34" charset="0"/>
                <a:ea typeface="Calibri" pitchFamily="34" charset="-122"/>
                <a:cs typeface="Calibri" pitchFamily="34" charset="-120"/>
              </a:rPr>
              <a:t>Autovalores 0.011 / 0.23 / 0.35 — simétrica y definida positiva</a:t>
            </a:r>
            <a:endParaRPr lang="en-US" sz="1150" dirty="0"/>
          </a:p>
        </p:txBody>
      </p:sp>
      <p:sp>
        <p:nvSpPr>
          <p:cNvPr id="6" name="Text 4"/>
          <p:cNvSpPr/>
          <p:nvPr/>
        </p:nvSpPr>
        <p:spPr>
          <a:xfrm>
            <a:off x="548640" y="3337560"/>
            <a:ext cx="3383280" cy="777240"/>
          </a:xfrm>
          <a:prstGeom prst="rect">
            <a:avLst/>
          </a:prstGeom>
          <a:noFill/>
          <a:ln/>
        </p:spPr>
        <p:txBody>
          <a:bodyPr wrap="square" lIns="0" tIns="0" rIns="0" bIns="0" rtlCol="0" anchor="ctr"/>
          <a:lstStyle/>
          <a:p>
            <a:pPr marL="0" indent="0" algn="l">
              <a:buNone/>
            </a:pPr>
            <a:r>
              <a:rPr lang="en-US" sz="4000" b="1" dirty="0">
                <a:solidFill>
                  <a:srgbClr val="2F3C7E"/>
                </a:solidFill>
                <a:latin typeface="Cambria" pitchFamily="34" charset="0"/>
                <a:ea typeface="Cambria" pitchFamily="34" charset="-122"/>
                <a:cs typeface="Cambria" pitchFamily="34" charset="-120"/>
              </a:rPr>
              <a:t>G₁ ≡ 0</a:t>
            </a:r>
            <a:endParaRPr lang="en-US" sz="4000" dirty="0"/>
          </a:p>
        </p:txBody>
      </p:sp>
      <p:sp>
        <p:nvSpPr>
          <p:cNvPr id="7" name="Text 5"/>
          <p:cNvSpPr/>
          <p:nvPr/>
        </p:nvSpPr>
        <p:spPr>
          <a:xfrm>
            <a:off x="548640" y="4087368"/>
            <a:ext cx="3383280" cy="640080"/>
          </a:xfrm>
          <a:prstGeom prst="rect">
            <a:avLst/>
          </a:prstGeom>
          <a:noFill/>
          <a:ln/>
        </p:spPr>
        <p:txBody>
          <a:bodyPr wrap="square" lIns="0" tIns="0" rIns="0" bIns="0" rtlCol="0" anchor="t"/>
          <a:lstStyle/>
          <a:p>
            <a:pPr marL="0" indent="0" algn="l">
              <a:buNone/>
            </a:pPr>
            <a:r>
              <a:rPr lang="en-US" sz="1150" dirty="0">
                <a:solidFill>
                  <a:srgbClr val="2B2B2B"/>
                </a:solidFill>
                <a:latin typeface="Calibri" pitchFamily="34" charset="0"/>
                <a:ea typeface="Calibri" pitchFamily="34" charset="-122"/>
                <a:cs typeface="Calibri" pitchFamily="34" charset="-120"/>
              </a:rPr>
              <a:t>La junta de base no altera la energía potencial (resultado exacto)</a:t>
            </a:r>
            <a:endParaRPr lang="en-US" sz="1150" dirty="0"/>
          </a:p>
        </p:txBody>
      </p:sp>
      <p:sp>
        <p:nvSpPr>
          <p:cNvPr id="8" name="Text 6"/>
          <p:cNvSpPr/>
          <p:nvPr/>
        </p:nvSpPr>
        <p:spPr>
          <a:xfrm>
            <a:off x="548640" y="4846320"/>
            <a:ext cx="3383280" cy="777240"/>
          </a:xfrm>
          <a:prstGeom prst="rect">
            <a:avLst/>
          </a:prstGeom>
          <a:noFill/>
          <a:ln/>
        </p:spPr>
        <p:txBody>
          <a:bodyPr wrap="square" lIns="0" tIns="0" rIns="0" bIns="0" rtlCol="0" anchor="ctr"/>
          <a:lstStyle/>
          <a:p>
            <a:pPr marL="0" indent="0" algn="l">
              <a:buNone/>
            </a:pPr>
            <a:r>
              <a:rPr lang="en-US" sz="4000" b="1" dirty="0">
                <a:solidFill>
                  <a:srgbClr val="990011"/>
                </a:solidFill>
                <a:latin typeface="Cambria" pitchFamily="34" charset="0"/>
                <a:ea typeface="Cambria" pitchFamily="34" charset="-122"/>
                <a:cs typeface="Cambria" pitchFamily="34" charset="-120"/>
              </a:rPr>
              <a:t>≈ 10⁻¹⁰</a:t>
            </a:r>
            <a:endParaRPr lang="en-US" sz="4000" dirty="0"/>
          </a:p>
        </p:txBody>
      </p:sp>
      <p:sp>
        <p:nvSpPr>
          <p:cNvPr id="9" name="Text 7"/>
          <p:cNvSpPr/>
          <p:nvPr/>
        </p:nvSpPr>
        <p:spPr>
          <a:xfrm>
            <a:off x="548640" y="5596128"/>
            <a:ext cx="3383280" cy="640080"/>
          </a:xfrm>
          <a:prstGeom prst="rect">
            <a:avLst/>
          </a:prstGeom>
          <a:noFill/>
          <a:ln/>
        </p:spPr>
        <p:txBody>
          <a:bodyPr wrap="square" lIns="0" tIns="0" rIns="0" bIns="0" rtlCol="0" anchor="t"/>
          <a:lstStyle/>
          <a:p>
            <a:pPr marL="0" indent="0" algn="l">
              <a:buNone/>
            </a:pPr>
            <a:r>
              <a:rPr lang="en-US" sz="1150" dirty="0">
                <a:solidFill>
                  <a:srgbClr val="2B2B2B"/>
                </a:solidFill>
                <a:latin typeface="Calibri" pitchFamily="34" charset="0"/>
                <a:ea typeface="Calibri" pitchFamily="34" charset="-122"/>
                <a:cs typeface="Calibri" pitchFamily="34" charset="-120"/>
              </a:rPr>
              <a:t>Coincidencia entre la C simbólica y la numérica en el punto de prueba</a:t>
            </a:r>
            <a:endParaRPr lang="en-US" sz="1150" dirty="0"/>
          </a:p>
        </p:txBody>
      </p:sp>
      <p:sp>
        <p:nvSpPr>
          <p:cNvPr id="10" name="Shape 8"/>
          <p:cNvSpPr/>
          <p:nvPr/>
        </p:nvSpPr>
        <p:spPr>
          <a:xfrm>
            <a:off x="4206240" y="1783080"/>
            <a:ext cx="7406640" cy="4297680"/>
          </a:xfrm>
          <a:prstGeom prst="roundRect">
            <a:avLst>
              <a:gd name="adj" fmla="val 1277"/>
            </a:avLst>
          </a:prstGeom>
          <a:solidFill>
            <a:srgbClr val="FCF6F5"/>
          </a:solidFill>
          <a:ln w="12700">
            <a:solidFill>
              <a:srgbClr val="D9C7C6"/>
            </a:solidFill>
            <a:prstDash val="solid"/>
          </a:ln>
        </p:spPr>
        <p:txBody>
          <a:bodyPr/>
          <a:lstStyle/>
          <a:p>
            <a:endParaRPr/>
          </a:p>
        </p:txBody>
      </p:sp>
      <p:pic>
        <p:nvPicPr>
          <p:cNvPr id="11" name="Image 0" descr="/tmp/deck/assets/dinlibre.png"/>
          <p:cNvPicPr>
            <a:picLocks noChangeAspect="1"/>
          </p:cNvPicPr>
          <p:nvPr/>
        </p:nvPicPr>
        <p:blipFill>
          <a:blip r:embed="rId3"/>
          <a:srcRect/>
          <a:stretch/>
        </p:blipFill>
        <p:spPr>
          <a:xfrm>
            <a:off x="4389120" y="1965960"/>
            <a:ext cx="7040880" cy="3657600"/>
          </a:xfrm>
          <a:prstGeom prst="rect">
            <a:avLst/>
          </a:prstGeom>
        </p:spPr>
      </p:pic>
      <p:sp>
        <p:nvSpPr>
          <p:cNvPr id="12" name="Text 9"/>
          <p:cNvSpPr/>
          <p:nvPr/>
        </p:nvSpPr>
        <p:spPr>
          <a:xfrm>
            <a:off x="4206240" y="5669280"/>
            <a:ext cx="7406640" cy="365760"/>
          </a:xfrm>
          <a:prstGeom prst="rect">
            <a:avLst/>
          </a:prstGeom>
          <a:noFill/>
          <a:ln/>
        </p:spPr>
        <p:txBody>
          <a:bodyPr wrap="square" rtlCol="0" anchor="ctr"/>
          <a:lstStyle/>
          <a:p>
            <a:pPr marL="0" indent="0" algn="ctr">
              <a:buNone/>
            </a:pPr>
            <a:r>
              <a:rPr lang="en-US" sz="1100" i="1" dirty="0">
                <a:solidFill>
                  <a:srgbClr val="6E6E6E"/>
                </a:solidFill>
                <a:latin typeface="Calibri" pitchFamily="34" charset="0"/>
                <a:ea typeface="Calibri" pitchFamily="34" charset="-122"/>
                <a:cs typeface="Calibri" pitchFamily="34" charset="-120"/>
              </a:rPr>
              <a:t>Dinámica libre (τ = 0): oscilación no amortiguada; el acoplamiento de Coriolis mueve q₁ pese a G₁ = 0.</a:t>
            </a:r>
            <a:endParaRPr lang="en-US" sz="1100" dirty="0"/>
          </a:p>
        </p:txBody>
      </p:sp>
      <p:sp>
        <p:nvSpPr>
          <p:cNvPr id="13" name="Text 10"/>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600810"/>
          </a:solidFill>
          <a:ln/>
        </p:spPr>
        <p:txBody>
          <a:bodyPr/>
          <a:lstStyle/>
          <a:p>
            <a:endParaRPr/>
          </a:p>
        </p:txBody>
      </p:sp>
      <p:sp>
        <p:nvSpPr>
          <p:cNvPr id="3" name="Text 1"/>
          <p:cNvSpPr/>
          <p:nvPr/>
        </p:nvSpPr>
        <p:spPr>
          <a:xfrm>
            <a:off x="822960" y="2286000"/>
            <a:ext cx="10058400" cy="457200"/>
          </a:xfrm>
          <a:prstGeom prst="rect">
            <a:avLst/>
          </a:prstGeom>
          <a:noFill/>
          <a:ln/>
        </p:spPr>
        <p:txBody>
          <a:bodyPr wrap="square" rtlCol="0" anchor="ctr"/>
          <a:lstStyle/>
          <a:p>
            <a:pPr marL="0" indent="0">
              <a:buNone/>
            </a:pPr>
            <a:r>
              <a:rPr lang="en-US" sz="1500" b="1" kern="0" spc="400" dirty="0">
                <a:solidFill>
                  <a:srgbClr val="E8C8CB"/>
                </a:solidFill>
                <a:latin typeface="Calibri" pitchFamily="34" charset="0"/>
                <a:ea typeface="Calibri" pitchFamily="34" charset="-122"/>
                <a:cs typeface="Calibri" pitchFamily="34" charset="-120"/>
              </a:rPr>
              <a:t>BLOQUE 3</a:t>
            </a:r>
            <a:endParaRPr lang="en-US" sz="1500" dirty="0"/>
          </a:p>
        </p:txBody>
      </p:sp>
      <p:sp>
        <p:nvSpPr>
          <p:cNvPr id="4" name="Text 2"/>
          <p:cNvSpPr/>
          <p:nvPr/>
        </p:nvSpPr>
        <p:spPr>
          <a:xfrm>
            <a:off x="822960" y="2834640"/>
            <a:ext cx="10515600" cy="11887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Control e implementación</a:t>
            </a:r>
            <a:endParaRPr lang="en-US" sz="3400" dirty="0"/>
          </a:p>
        </p:txBody>
      </p:sp>
      <p:sp>
        <p:nvSpPr>
          <p:cNvPr id="5" name="Text 3"/>
          <p:cNvSpPr/>
          <p:nvPr/>
        </p:nvSpPr>
        <p:spPr>
          <a:xfrm>
            <a:off x="822960" y="4206240"/>
            <a:ext cx="10058400" cy="457200"/>
          </a:xfrm>
          <a:prstGeom prst="rect">
            <a:avLst/>
          </a:prstGeom>
          <a:noFill/>
          <a:ln/>
        </p:spPr>
        <p:txBody>
          <a:bodyPr wrap="square" rtlCol="0" anchor="ctr"/>
          <a:lstStyle/>
          <a:p>
            <a:pPr marL="0" indent="0">
              <a:buNone/>
            </a:pPr>
            <a:r>
              <a:rPr lang="en-US" sz="1600" i="1" dirty="0">
                <a:solidFill>
                  <a:srgbClr val="F0D5D8"/>
                </a:solidFill>
                <a:latin typeface="Calibri" pitchFamily="34" charset="0"/>
                <a:ea typeface="Calibri" pitchFamily="34" charset="-122"/>
                <a:cs typeface="Calibri" pitchFamily="34" charset="-120"/>
              </a:rPr>
              <a:t>Expositor 3</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3 · CONTROLADORES  ·  DINÁMICA DE ERROR</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Tres leyes de control y por qué el par calculado gana</a:t>
            </a:r>
            <a:endParaRPr lang="en-US" sz="2700" dirty="0"/>
          </a:p>
        </p:txBody>
      </p:sp>
      <p:sp>
        <p:nvSpPr>
          <p:cNvPr id="4" name="Shape 2"/>
          <p:cNvSpPr/>
          <p:nvPr/>
        </p:nvSpPr>
        <p:spPr>
          <a:xfrm>
            <a:off x="548640" y="1645920"/>
            <a:ext cx="6766560" cy="960120"/>
          </a:xfrm>
          <a:prstGeom prst="roundRect">
            <a:avLst>
              <a:gd name="adj" fmla="val 5714"/>
            </a:avLst>
          </a:prstGeom>
          <a:solidFill>
            <a:srgbClr val="FCF6F5"/>
          </a:solidFill>
          <a:ln w="12700">
            <a:solidFill>
              <a:srgbClr val="D9C7C6"/>
            </a:solidFill>
            <a:prstDash val="solid"/>
          </a:ln>
        </p:spPr>
        <p:txBody>
          <a:bodyPr/>
          <a:lstStyle/>
          <a:p>
            <a:endParaRPr/>
          </a:p>
        </p:txBody>
      </p:sp>
      <p:sp>
        <p:nvSpPr>
          <p:cNvPr id="5" name="Text 3"/>
          <p:cNvSpPr/>
          <p:nvPr/>
        </p:nvSpPr>
        <p:spPr>
          <a:xfrm>
            <a:off x="731520" y="1737360"/>
            <a:ext cx="6400800" cy="320040"/>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PID no lineal</a:t>
            </a:r>
            <a:endParaRPr lang="en-US" sz="1350" dirty="0"/>
          </a:p>
        </p:txBody>
      </p:sp>
      <p:sp>
        <p:nvSpPr>
          <p:cNvPr id="6" name="Text 4"/>
          <p:cNvSpPr/>
          <p:nvPr/>
        </p:nvSpPr>
        <p:spPr>
          <a:xfrm>
            <a:off x="731520" y="2048256"/>
            <a:ext cx="6400800" cy="320040"/>
          </a:xfrm>
          <a:prstGeom prst="rect">
            <a:avLst/>
          </a:prstGeom>
          <a:noFill/>
          <a:ln/>
        </p:spPr>
        <p:txBody>
          <a:bodyPr wrap="square" lIns="0" tIns="0" rIns="0" bIns="0" rtlCol="0" anchor="ctr"/>
          <a:lstStyle/>
          <a:p>
            <a:pPr marL="0" indent="0">
              <a:buNone/>
            </a:pPr>
            <a:r>
              <a:rPr lang="en-US" sz="1250" i="1" dirty="0">
                <a:solidFill>
                  <a:srgbClr val="2B2B2B"/>
                </a:solidFill>
                <a:latin typeface="Cambria" pitchFamily="34" charset="0"/>
                <a:ea typeface="Cambria" pitchFamily="34" charset="-122"/>
                <a:cs typeface="Cambria" pitchFamily="34" charset="-120"/>
              </a:rPr>
              <a:t>τ = Kp·e + Kd·ė + Ki·∫e + G(q)</a:t>
            </a:r>
            <a:endParaRPr lang="en-US" sz="1250" dirty="0"/>
          </a:p>
        </p:txBody>
      </p:sp>
      <p:sp>
        <p:nvSpPr>
          <p:cNvPr id="7" name="Text 5"/>
          <p:cNvSpPr/>
          <p:nvPr/>
        </p:nvSpPr>
        <p:spPr>
          <a:xfrm>
            <a:off x="731520" y="2340864"/>
            <a:ext cx="6400800" cy="256032"/>
          </a:xfrm>
          <a:prstGeom prst="rect">
            <a:avLst/>
          </a:prstGeom>
          <a:noFill/>
          <a:ln/>
        </p:spPr>
        <p:txBody>
          <a:bodyPr wrap="square" lIns="0" tIns="0" rIns="0" bIns="0" rtlCol="0" anchor="ctr"/>
          <a:lstStyle/>
          <a:p>
            <a:pPr marL="0" indent="0">
              <a:buNone/>
            </a:pPr>
            <a:r>
              <a:rPr lang="en-US" sz="1050" dirty="0">
                <a:solidFill>
                  <a:srgbClr val="6E6E6E"/>
                </a:solidFill>
                <a:latin typeface="Calibri" pitchFamily="34" charset="0"/>
                <a:ea typeface="Calibri" pitchFamily="34" charset="-122"/>
                <a:cs typeface="Calibri" pitchFamily="34" charset="-120"/>
              </a:rPr>
              <a:t>Regulación de posición + compensación de gravedad</a:t>
            </a:r>
            <a:endParaRPr lang="en-US" sz="1050" dirty="0"/>
          </a:p>
        </p:txBody>
      </p:sp>
      <p:sp>
        <p:nvSpPr>
          <p:cNvPr id="8" name="Shape 6"/>
          <p:cNvSpPr/>
          <p:nvPr/>
        </p:nvSpPr>
        <p:spPr>
          <a:xfrm>
            <a:off x="548640" y="2697480"/>
            <a:ext cx="6766560" cy="960120"/>
          </a:xfrm>
          <a:prstGeom prst="roundRect">
            <a:avLst>
              <a:gd name="adj" fmla="val 5714"/>
            </a:avLst>
          </a:prstGeom>
          <a:solidFill>
            <a:srgbClr val="FCF6F5"/>
          </a:solidFill>
          <a:ln w="12700">
            <a:solidFill>
              <a:srgbClr val="D9C7C6"/>
            </a:solidFill>
            <a:prstDash val="solid"/>
          </a:ln>
        </p:spPr>
        <p:txBody>
          <a:bodyPr/>
          <a:lstStyle/>
          <a:p>
            <a:endParaRPr/>
          </a:p>
        </p:txBody>
      </p:sp>
      <p:sp>
        <p:nvSpPr>
          <p:cNvPr id="9" name="Text 7"/>
          <p:cNvSpPr/>
          <p:nvPr/>
        </p:nvSpPr>
        <p:spPr>
          <a:xfrm>
            <a:off x="731520" y="2788920"/>
            <a:ext cx="6400800" cy="320040"/>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PD precompensado</a:t>
            </a:r>
            <a:endParaRPr lang="en-US" sz="1350" dirty="0"/>
          </a:p>
        </p:txBody>
      </p:sp>
      <p:sp>
        <p:nvSpPr>
          <p:cNvPr id="10" name="Text 8"/>
          <p:cNvSpPr/>
          <p:nvPr/>
        </p:nvSpPr>
        <p:spPr>
          <a:xfrm>
            <a:off x="731520" y="3099816"/>
            <a:ext cx="6400800" cy="320040"/>
          </a:xfrm>
          <a:prstGeom prst="rect">
            <a:avLst/>
          </a:prstGeom>
          <a:noFill/>
          <a:ln/>
        </p:spPr>
        <p:txBody>
          <a:bodyPr wrap="square" lIns="0" tIns="0" rIns="0" bIns="0" rtlCol="0" anchor="ctr"/>
          <a:lstStyle/>
          <a:p>
            <a:pPr marL="0" indent="0">
              <a:buNone/>
            </a:pPr>
            <a:r>
              <a:rPr lang="en-US" sz="1250" i="1" dirty="0">
                <a:solidFill>
                  <a:srgbClr val="2B2B2B"/>
                </a:solidFill>
                <a:latin typeface="Cambria" pitchFamily="34" charset="0"/>
                <a:ea typeface="Cambria" pitchFamily="34" charset="-122"/>
                <a:cs typeface="Cambria" pitchFamily="34" charset="-120"/>
              </a:rPr>
              <a:t>τ = M(qd)q̈d + C(qd,q̇d)q̇d + G(qd) + Kp·e + Kd·ė</a:t>
            </a:r>
            <a:endParaRPr lang="en-US" sz="1250" dirty="0"/>
          </a:p>
        </p:txBody>
      </p:sp>
      <p:sp>
        <p:nvSpPr>
          <p:cNvPr id="11" name="Text 9"/>
          <p:cNvSpPr/>
          <p:nvPr/>
        </p:nvSpPr>
        <p:spPr>
          <a:xfrm>
            <a:off x="731520" y="3392424"/>
            <a:ext cx="6400800" cy="256032"/>
          </a:xfrm>
          <a:prstGeom prst="rect">
            <a:avLst/>
          </a:prstGeom>
          <a:noFill/>
          <a:ln/>
        </p:spPr>
        <p:txBody>
          <a:bodyPr wrap="square" lIns="0" tIns="0" rIns="0" bIns="0" rtlCol="0" anchor="ctr"/>
          <a:lstStyle/>
          <a:p>
            <a:pPr marL="0" indent="0">
              <a:buNone/>
            </a:pPr>
            <a:r>
              <a:rPr lang="en-US" sz="1050" dirty="0">
                <a:solidFill>
                  <a:srgbClr val="6E6E6E"/>
                </a:solidFill>
                <a:latin typeface="Calibri" pitchFamily="34" charset="0"/>
                <a:ea typeface="Calibri" pitchFamily="34" charset="-122"/>
                <a:cs typeface="Calibri" pitchFamily="34" charset="-120"/>
              </a:rPr>
              <a:t>Modelo evaluado en la trayectoria deseada</a:t>
            </a:r>
            <a:endParaRPr lang="en-US" sz="1050" dirty="0"/>
          </a:p>
        </p:txBody>
      </p:sp>
      <p:sp>
        <p:nvSpPr>
          <p:cNvPr id="12" name="Shape 10"/>
          <p:cNvSpPr/>
          <p:nvPr/>
        </p:nvSpPr>
        <p:spPr>
          <a:xfrm>
            <a:off x="548640" y="3749040"/>
            <a:ext cx="6766560" cy="960120"/>
          </a:xfrm>
          <a:prstGeom prst="roundRect">
            <a:avLst>
              <a:gd name="adj" fmla="val 5714"/>
            </a:avLst>
          </a:prstGeom>
          <a:solidFill>
            <a:srgbClr val="FCF6F5"/>
          </a:solidFill>
          <a:ln w="12700">
            <a:solidFill>
              <a:srgbClr val="D9C7C6"/>
            </a:solidFill>
            <a:prstDash val="solid"/>
          </a:ln>
        </p:spPr>
        <p:txBody>
          <a:bodyPr/>
          <a:lstStyle/>
          <a:p>
            <a:endParaRPr/>
          </a:p>
        </p:txBody>
      </p:sp>
      <p:sp>
        <p:nvSpPr>
          <p:cNvPr id="13" name="Text 11"/>
          <p:cNvSpPr/>
          <p:nvPr/>
        </p:nvSpPr>
        <p:spPr>
          <a:xfrm>
            <a:off x="731520" y="3840480"/>
            <a:ext cx="6400800" cy="320040"/>
          </a:xfrm>
          <a:prstGeom prst="rect">
            <a:avLst/>
          </a:prstGeom>
          <a:noFill/>
          <a:ln/>
        </p:spPr>
        <p:txBody>
          <a:bodyPr wrap="square" lIns="0" tIns="0" rIns="0" bIns="0" rtlCol="0" anchor="ctr"/>
          <a:lstStyle/>
          <a:p>
            <a:pPr marL="0" indent="0">
              <a:buNone/>
            </a:pPr>
            <a:r>
              <a:rPr lang="en-US" sz="1350" b="1" dirty="0">
                <a:solidFill>
                  <a:srgbClr val="990011"/>
                </a:solidFill>
                <a:latin typeface="Calibri" pitchFamily="34" charset="0"/>
                <a:ea typeface="Calibri" pitchFamily="34" charset="-122"/>
                <a:cs typeface="Calibri" pitchFamily="34" charset="-120"/>
              </a:rPr>
              <a:t>Par calculado</a:t>
            </a:r>
            <a:endParaRPr lang="en-US" sz="1350" dirty="0"/>
          </a:p>
        </p:txBody>
      </p:sp>
      <p:sp>
        <p:nvSpPr>
          <p:cNvPr id="14" name="Text 12"/>
          <p:cNvSpPr/>
          <p:nvPr/>
        </p:nvSpPr>
        <p:spPr>
          <a:xfrm>
            <a:off x="731520" y="4151376"/>
            <a:ext cx="6400800" cy="320040"/>
          </a:xfrm>
          <a:prstGeom prst="rect">
            <a:avLst/>
          </a:prstGeom>
          <a:noFill/>
          <a:ln/>
        </p:spPr>
        <p:txBody>
          <a:bodyPr wrap="square" lIns="0" tIns="0" rIns="0" bIns="0" rtlCol="0" anchor="ctr"/>
          <a:lstStyle/>
          <a:p>
            <a:pPr marL="0" indent="0">
              <a:buNone/>
            </a:pPr>
            <a:r>
              <a:rPr lang="en-US" sz="1250" i="1" dirty="0">
                <a:solidFill>
                  <a:srgbClr val="2B2B2B"/>
                </a:solidFill>
                <a:latin typeface="Cambria" pitchFamily="34" charset="0"/>
                <a:ea typeface="Cambria" pitchFamily="34" charset="-122"/>
                <a:cs typeface="Cambria" pitchFamily="34" charset="-120"/>
              </a:rPr>
              <a:t>τ = M(q)(q̈d + Kd·ė + Kp·e) + C(q,q̇)q̇ + G(q)</a:t>
            </a:r>
            <a:endParaRPr lang="en-US" sz="1250" dirty="0"/>
          </a:p>
        </p:txBody>
      </p:sp>
      <p:sp>
        <p:nvSpPr>
          <p:cNvPr id="15" name="Text 13"/>
          <p:cNvSpPr/>
          <p:nvPr/>
        </p:nvSpPr>
        <p:spPr>
          <a:xfrm>
            <a:off x="731520" y="4443984"/>
            <a:ext cx="6400800" cy="256032"/>
          </a:xfrm>
          <a:prstGeom prst="rect">
            <a:avLst/>
          </a:prstGeom>
          <a:noFill/>
          <a:ln/>
        </p:spPr>
        <p:txBody>
          <a:bodyPr wrap="square" lIns="0" tIns="0" rIns="0" bIns="0" rtlCol="0" anchor="ctr"/>
          <a:lstStyle/>
          <a:p>
            <a:pPr marL="0" indent="0">
              <a:buNone/>
            </a:pPr>
            <a:r>
              <a:rPr lang="en-US" sz="1050" dirty="0">
                <a:solidFill>
                  <a:srgbClr val="6E6E6E"/>
                </a:solidFill>
                <a:latin typeface="Calibri" pitchFamily="34" charset="0"/>
                <a:ea typeface="Calibri" pitchFamily="34" charset="-122"/>
                <a:cs typeface="Calibri" pitchFamily="34" charset="-120"/>
              </a:rPr>
              <a:t>Modelo evaluado en el estado real</a:t>
            </a:r>
            <a:endParaRPr lang="en-US" sz="1050" dirty="0"/>
          </a:p>
        </p:txBody>
      </p:sp>
      <p:sp>
        <p:nvSpPr>
          <p:cNvPr id="16" name="Shape 14"/>
          <p:cNvSpPr/>
          <p:nvPr/>
        </p:nvSpPr>
        <p:spPr>
          <a:xfrm>
            <a:off x="7543800" y="1645920"/>
            <a:ext cx="4114800" cy="3200400"/>
          </a:xfrm>
          <a:prstGeom prst="roundRect">
            <a:avLst>
              <a:gd name="adj" fmla="val 1714"/>
            </a:avLst>
          </a:prstGeom>
          <a:solidFill>
            <a:srgbClr val="600810"/>
          </a:solidFill>
          <a:ln/>
        </p:spPr>
        <p:txBody>
          <a:bodyPr/>
          <a:lstStyle/>
          <a:p>
            <a:endParaRPr/>
          </a:p>
        </p:txBody>
      </p:sp>
      <p:sp>
        <p:nvSpPr>
          <p:cNvPr id="17" name="Text 15"/>
          <p:cNvSpPr/>
          <p:nvPr/>
        </p:nvSpPr>
        <p:spPr>
          <a:xfrm>
            <a:off x="7726680" y="1783080"/>
            <a:ext cx="37490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Par calculado → dinámica de error</a:t>
            </a:r>
            <a:endParaRPr lang="en-US" sz="1300" dirty="0"/>
          </a:p>
        </p:txBody>
      </p:sp>
      <p:sp>
        <p:nvSpPr>
          <p:cNvPr id="18" name="Text 16"/>
          <p:cNvSpPr/>
          <p:nvPr/>
        </p:nvSpPr>
        <p:spPr>
          <a:xfrm>
            <a:off x="7726680" y="2194560"/>
            <a:ext cx="3749040" cy="548640"/>
          </a:xfrm>
          <a:prstGeom prst="rect">
            <a:avLst/>
          </a:prstGeom>
          <a:noFill/>
          <a:ln/>
        </p:spPr>
        <p:txBody>
          <a:bodyPr wrap="square" lIns="0" tIns="0" rIns="0" bIns="0" rtlCol="0" anchor="ctr"/>
          <a:lstStyle/>
          <a:p>
            <a:pPr marL="0" indent="0">
              <a:buNone/>
            </a:pPr>
            <a:r>
              <a:rPr lang="en-US" sz="1150" dirty="0">
                <a:solidFill>
                  <a:srgbClr val="F0D5D8"/>
                </a:solidFill>
                <a:latin typeface="Calibri" pitchFamily="34" charset="0"/>
                <a:ea typeface="Calibri" pitchFamily="34" charset="-122"/>
                <a:cs typeface="Calibri" pitchFamily="34" charset="-120"/>
              </a:rPr>
              <a:t>Al sustituir su ley, C·q̇ y G se cancelan y M(q) es invertible:</a:t>
            </a:r>
            <a:endParaRPr lang="en-US" sz="1150" dirty="0"/>
          </a:p>
        </p:txBody>
      </p:sp>
      <p:sp>
        <p:nvSpPr>
          <p:cNvPr id="19" name="Shape 17"/>
          <p:cNvSpPr/>
          <p:nvPr/>
        </p:nvSpPr>
        <p:spPr>
          <a:xfrm>
            <a:off x="7726680" y="2788920"/>
            <a:ext cx="3749040" cy="640080"/>
          </a:xfrm>
          <a:prstGeom prst="roundRect">
            <a:avLst>
              <a:gd name="adj" fmla="val 7143"/>
            </a:avLst>
          </a:prstGeom>
          <a:solidFill>
            <a:srgbClr val="FFFFFF"/>
          </a:solidFill>
          <a:ln/>
        </p:spPr>
        <p:txBody>
          <a:bodyPr/>
          <a:lstStyle/>
          <a:p>
            <a:endParaRPr/>
          </a:p>
        </p:txBody>
      </p:sp>
      <p:sp>
        <p:nvSpPr>
          <p:cNvPr id="20" name="Text 18"/>
          <p:cNvSpPr/>
          <p:nvPr/>
        </p:nvSpPr>
        <p:spPr>
          <a:xfrm>
            <a:off x="7726680" y="2788920"/>
            <a:ext cx="3749040" cy="640080"/>
          </a:xfrm>
          <a:prstGeom prst="rect">
            <a:avLst/>
          </a:prstGeom>
          <a:noFill/>
          <a:ln/>
        </p:spPr>
        <p:txBody>
          <a:bodyPr wrap="square" lIns="0" tIns="0" rIns="0" bIns="0" rtlCol="0" anchor="ctr"/>
          <a:lstStyle/>
          <a:p>
            <a:pPr marL="0" indent="0" algn="ctr">
              <a:buNone/>
            </a:pPr>
            <a:r>
              <a:rPr lang="en-US" sz="1800" b="1" i="1" dirty="0">
                <a:solidFill>
                  <a:srgbClr val="990011"/>
                </a:solidFill>
                <a:latin typeface="Cambria" pitchFamily="34" charset="0"/>
                <a:ea typeface="Cambria" pitchFamily="34" charset="-122"/>
                <a:cs typeface="Cambria" pitchFamily="34" charset="-120"/>
              </a:rPr>
              <a:t>ë + Kd·ė + Kp·e = 0</a:t>
            </a:r>
            <a:endParaRPr lang="en-US" sz="1800" dirty="0"/>
          </a:p>
        </p:txBody>
      </p:sp>
      <p:sp>
        <p:nvSpPr>
          <p:cNvPr id="21" name="Text 19"/>
          <p:cNvSpPr/>
          <p:nvPr/>
        </p:nvSpPr>
        <p:spPr>
          <a:xfrm>
            <a:off x="7726680" y="3520440"/>
            <a:ext cx="3749040" cy="6400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Lineal, desacoplada y exponencialmente estable (Kd = 2√Kp → crítico).</a:t>
            </a:r>
            <a:endParaRPr lang="en-US" sz="1150" dirty="0"/>
          </a:p>
        </p:txBody>
      </p:sp>
      <p:sp>
        <p:nvSpPr>
          <p:cNvPr id="22" name="Text 20"/>
          <p:cNvSpPr/>
          <p:nvPr/>
        </p:nvSpPr>
        <p:spPr>
          <a:xfrm>
            <a:off x="7543800" y="5029200"/>
            <a:ext cx="4114800" cy="914400"/>
          </a:xfrm>
          <a:prstGeom prst="rect">
            <a:avLst/>
          </a:prstGeom>
          <a:noFill/>
          <a:ln/>
        </p:spPr>
        <p:txBody>
          <a:bodyPr wrap="square" lIns="0" tIns="0" rIns="0" bIns="0" rtlCol="0" anchor="t"/>
          <a:lstStyle/>
          <a:p>
            <a:pPr marL="0" indent="0">
              <a:buNone/>
            </a:pPr>
            <a:r>
              <a:rPr lang="en-US" sz="1150" i="1" dirty="0">
                <a:solidFill>
                  <a:srgbClr val="6E6E6E"/>
                </a:solidFill>
                <a:latin typeface="Calibri" pitchFamily="34" charset="0"/>
                <a:ea typeface="Calibri" pitchFamily="34" charset="-122"/>
                <a:cs typeface="Calibri" pitchFamily="34" charset="-120"/>
              </a:rPr>
              <a:t>PID: estable por Lyapunov (usa Ṁ−2C antisimétrica). PD: cancelación solo aproximada.</a:t>
            </a:r>
            <a:endParaRPr lang="en-US" sz="1150" dirty="0"/>
          </a:p>
        </p:txBody>
      </p:sp>
      <p:sp>
        <p:nvSpPr>
          <p:cNvPr id="23" name="Text 21"/>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3 · CONTROLADORES · CÓDIGO REAL</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La ley de control, tal como corre en Simulink</a:t>
            </a:r>
          </a:p>
        </p:txBody>
      </p:sp>
      <p:sp>
        <p:nvSpPr>
          <p:cNvPr id="4" name="TextBox 3"/>
          <p:cNvSpPr txBox="1"/>
          <p:nvPr/>
        </p:nvSpPr>
        <p:spPr>
          <a:xfrm>
            <a:off x="548640" y="1600200"/>
            <a:ext cx="11064240" cy="457200"/>
          </a:xfrm>
          <a:prstGeom prst="rect">
            <a:avLst/>
          </a:prstGeom>
          <a:noFill/>
        </p:spPr>
        <p:txBody>
          <a:bodyPr wrap="square" lIns="0" tIns="0" rIns="0" bIns="0">
            <a:spAutoFit/>
          </a:bodyPr>
          <a:lstStyle/>
          <a:p>
            <a:pPr algn="l"/>
            <a:r>
              <a:rPr sz="1400" b="0" i="0">
                <a:solidFill>
                  <a:srgbClr val="2B2B2B"/>
                </a:solidFill>
                <a:latin typeface="Calibri"/>
              </a:rPr>
              <a:t>Bloque MATLAB Function real del subsistema Par_Calculado. Las funciones locales replican exactamente M(q), C(q,qdot) y G(q) ya mostradas.</a:t>
            </a:r>
          </a:p>
        </p:txBody>
      </p:sp>
      <p:sp>
        <p:nvSpPr>
          <p:cNvPr id="5" name="Rounded Rectangle 4"/>
          <p:cNvSpPr/>
          <p:nvPr/>
        </p:nvSpPr>
        <p:spPr>
          <a:xfrm>
            <a:off x="548640" y="2194560"/>
            <a:ext cx="11064240" cy="3200400"/>
          </a:xfrm>
          <a:prstGeom prst="roundRect">
            <a:avLst>
              <a:gd name="adj" fmla="val 4000"/>
            </a:avLst>
          </a:prstGeom>
          <a:solidFill>
            <a:srgbClr val="FCF6F5"/>
          </a:solidFill>
          <a:ln w="9525">
            <a:solidFill>
              <a:srgbClr val="9900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286000"/>
            <a:ext cx="10698480" cy="3017520"/>
          </a:xfrm>
          <a:prstGeom prst="rect">
            <a:avLst/>
          </a:prstGeom>
          <a:noFill/>
        </p:spPr>
        <p:txBody>
          <a:bodyPr wrap="none" lIns="0" tIns="0" rIns="0" bIns="0">
            <a:spAutoFit/>
          </a:bodyPr>
          <a:lstStyle/>
          <a:p>
            <a:pPr algn="l">
              <a:spcBef>
                <a:spcPts val="0"/>
              </a:spcBef>
              <a:spcAft>
                <a:spcPts val="100"/>
              </a:spcAft>
            </a:pPr>
            <a:r>
              <a:rPr sz="1700" b="1">
                <a:solidFill>
                  <a:srgbClr val="990011"/>
                </a:solidFill>
                <a:latin typeface="Consolas"/>
              </a:rPr>
              <a:t>function tau = mlfb_par_calculado(q, qdot, qd, qd_dot, qd_ddot, Kp, Kd)</a:t>
            </a:r>
          </a:p>
          <a:p>
            <a:pPr algn="l">
              <a:spcBef>
                <a:spcPts val="0"/>
              </a:spcBef>
              <a:spcAft>
                <a:spcPts val="100"/>
              </a:spcAft>
            </a:pPr>
            <a:r>
              <a:rPr sz="1700">
                <a:solidFill>
                  <a:srgbClr val="2B2B2B"/>
                </a:solidFill>
                <a:latin typeface="Consolas"/>
              </a:rPr>
              <a:t>    e = qd - q;</a:t>
            </a:r>
          </a:p>
          <a:p>
            <a:pPr algn="l">
              <a:spcBef>
                <a:spcPts val="0"/>
              </a:spcBef>
              <a:spcAft>
                <a:spcPts val="100"/>
              </a:spcAft>
            </a:pPr>
            <a:r>
              <a:rPr sz="1700">
                <a:solidFill>
                  <a:srgbClr val="2B2B2B"/>
                </a:solidFill>
                <a:latin typeface="Consolas"/>
              </a:rPr>
              <a:t>    edot = qd_dot - qdot;</a:t>
            </a:r>
          </a:p>
          <a:p>
            <a:pPr algn="l">
              <a:spcBef>
                <a:spcPts val="0"/>
              </a:spcBef>
              <a:spcAft>
                <a:spcPts val="100"/>
              </a:spcAft>
            </a:pPr>
            <a:r>
              <a:rPr sz="1700">
                <a:solidFill>
                  <a:srgbClr val="2B2B2B"/>
                </a:solidFill>
                <a:latin typeface="Consolas"/>
              </a:rPr>
              <a:t>    Mq = local_inertia_matrix(q, ...);   % misma formula de M(q)</a:t>
            </a:r>
          </a:p>
          <a:p>
            <a:pPr algn="l">
              <a:spcBef>
                <a:spcPts val="0"/>
              </a:spcBef>
              <a:spcAft>
                <a:spcPts val="100"/>
              </a:spcAft>
            </a:pPr>
            <a:r>
              <a:rPr sz="1700">
                <a:solidFill>
                  <a:srgbClr val="2B2B2B"/>
                </a:solidFill>
                <a:latin typeface="Consolas"/>
              </a:rPr>
              <a:t>    Cq = local_coriolis_matrix(q, qdot, ...);  % misma formula de C(q,qdot)</a:t>
            </a:r>
          </a:p>
          <a:p>
            <a:pPr algn="l">
              <a:spcBef>
                <a:spcPts val="0"/>
              </a:spcBef>
              <a:spcAft>
                <a:spcPts val="100"/>
              </a:spcAft>
            </a:pPr>
            <a:r>
              <a:rPr sz="1700">
                <a:solidFill>
                  <a:srgbClr val="2B2B2B"/>
                </a:solidFill>
                <a:latin typeface="Consolas"/>
              </a:rPr>
              <a:t>    Gq = local_gravity_vector(q, ...);   % misma formula de G(q)</a:t>
            </a:r>
          </a:p>
          <a:p>
            <a:pPr algn="l">
              <a:spcBef>
                <a:spcPts val="0"/>
              </a:spcBef>
              <a:spcAft>
                <a:spcPts val="100"/>
              </a:spcAft>
            </a:pPr>
            <a:r>
              <a:rPr sz="1700">
                <a:solidFill>
                  <a:srgbClr val="2B2B2B"/>
                </a:solidFill>
                <a:latin typeface="Consolas"/>
              </a:rPr>
              <a:t> </a:t>
            </a:r>
          </a:p>
          <a:p>
            <a:pPr algn="l">
              <a:spcBef>
                <a:spcPts val="0"/>
              </a:spcBef>
              <a:spcAft>
                <a:spcPts val="100"/>
              </a:spcAft>
            </a:pPr>
            <a:r>
              <a:rPr sz="1700">
                <a:solidFill>
                  <a:srgbClr val="2B2B2B"/>
                </a:solidFill>
                <a:latin typeface="Consolas"/>
              </a:rPr>
              <a:t>    v = qd_ddot + Kd*edot + Kp*e;</a:t>
            </a:r>
          </a:p>
          <a:p>
            <a:pPr algn="l">
              <a:spcBef>
                <a:spcPts val="0"/>
              </a:spcBef>
              <a:spcAft>
                <a:spcPts val="100"/>
              </a:spcAft>
            </a:pPr>
            <a:r>
              <a:rPr sz="1700">
                <a:solidFill>
                  <a:srgbClr val="2B2B2B"/>
                </a:solidFill>
                <a:latin typeface="Consolas"/>
              </a:rPr>
              <a:t>    tau = Mq*v + Cq*qdot + Gq;</a:t>
            </a:r>
          </a:p>
          <a:p>
            <a:pPr algn="l">
              <a:spcBef>
                <a:spcPts val="0"/>
              </a:spcBef>
              <a:spcAft>
                <a:spcPts val="100"/>
              </a:spcAft>
            </a:pPr>
            <a:r>
              <a:rPr sz="1700" b="1">
                <a:solidFill>
                  <a:srgbClr val="990011"/>
                </a:solidFill>
                <a:latin typeface="Consolas"/>
              </a:rPr>
              <a:t>end</a:t>
            </a:r>
          </a:p>
        </p:txBody>
      </p:sp>
      <p:sp>
        <p:nvSpPr>
          <p:cNvPr id="7" name="TextBox 6"/>
          <p:cNvSpPr txBox="1"/>
          <p:nvPr/>
        </p:nvSpPr>
        <p:spPr>
          <a:xfrm>
            <a:off x="548640" y="5486400"/>
            <a:ext cx="11064240" cy="640080"/>
          </a:xfrm>
          <a:prstGeom prst="rect">
            <a:avLst/>
          </a:prstGeom>
          <a:noFill/>
        </p:spPr>
        <p:txBody>
          <a:bodyPr wrap="square" lIns="0" tIns="0" rIns="0" bIns="0">
            <a:spAutoFit/>
          </a:bodyPr>
          <a:lstStyle/>
          <a:p>
            <a:pPr algn="l"/>
            <a:r>
              <a:rPr sz="1200" b="0" i="1">
                <a:solidFill>
                  <a:srgbClr val="6E6E6E"/>
                </a:solidFill>
                <a:latin typeface="Calibri"/>
              </a:rPr>
              <a:t>Nota: PID_NoLineal y PD_Precomp son bloques hermanos (mlfb_pid_nolineal.m, mlfb_pd_precomp.m) con la misma estructura y las mismas funciones locales de M, C, G.</a:t>
            </a:r>
          </a:p>
        </p:txBody>
      </p:sp>
      <p:sp>
        <p:nvSpPr>
          <p:cNvPr id="8" name="TextBox 7"/>
          <p:cNvSpPr txBox="1"/>
          <p:nvPr/>
        </p:nvSpPr>
        <p:spPr>
          <a:xfrm>
            <a:off x="548640" y="6263640"/>
            <a:ext cx="11064240" cy="274320"/>
          </a:xfrm>
          <a:prstGeom prst="rect">
            <a:avLst/>
          </a:prstGeom>
          <a:noFill/>
        </p:spPr>
        <p:txBody>
          <a:bodyPr wrap="square" lIns="0" tIns="0" rIns="0" bIns="0">
            <a:spAutoFit/>
          </a:bodyPr>
          <a:lstStyle/>
          <a:p>
            <a:pPr algn="l"/>
            <a:r>
              <a:rPr sz="1200" b="0" i="0">
                <a:solidFill>
                  <a:srgbClr val="6E6E6E"/>
                </a:solidFill>
                <a:latin typeface="Calibri"/>
              </a:rPr>
              <a:t>Archivo: 01_codigo_final/simulink_blocks/mlfb_par_calculado.m</a:t>
            </a:r>
          </a:p>
        </p:txBody>
      </p:sp>
      <p:sp>
        <p:nvSpPr>
          <p:cNvPr id="9" name="TextBox 8"/>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3 · IMPLEMENTACIÓN EN SIMULINK</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Tres subsistemas, misma planta y misma referencia</a:t>
            </a:r>
            <a:endParaRPr lang="en-US" sz="2700" dirty="0"/>
          </a:p>
        </p:txBody>
      </p:sp>
      <p:sp>
        <p:nvSpPr>
          <p:cNvPr id="4" name="Text 2"/>
          <p:cNvSpPr/>
          <p:nvPr/>
        </p:nvSpPr>
        <p:spPr>
          <a:xfrm>
            <a:off x="548640" y="1600200"/>
            <a:ext cx="5486400" cy="1371600"/>
          </a:xfrm>
          <a:prstGeom prst="rect">
            <a:avLst/>
          </a:prstGeom>
          <a:noFill/>
          <a:ln/>
        </p:spPr>
        <p:txBody>
          <a:bodyPr wrap="square" lIns="0" tIns="0" rIns="0" bIns="0" rtlCol="0" anchor="t"/>
          <a:lstStyle/>
          <a:p>
            <a:pPr marL="0" indent="0">
              <a:lnSpc>
                <a:spcPct val="105000"/>
              </a:lnSpc>
              <a:buNone/>
            </a:pPr>
            <a:r>
              <a:rPr lang="en-US" sz="1350" dirty="0">
                <a:solidFill>
                  <a:srgbClr val="2B2B2B"/>
                </a:solidFill>
                <a:latin typeface="Calibri" pitchFamily="34" charset="0"/>
                <a:ea typeface="Calibri" pitchFamily="34" charset="-122"/>
                <a:cs typeface="Calibri" pitchFamily="34" charset="-120"/>
              </a:rPr>
              <a:t>Cada controlador es un subsistema independiente, simulado con la misma trayectoria qd(t) para una comparación justa. La planta y los controladores son bloques MATLAB Function con código numérico puro (sin toolbox simbólico).</a:t>
            </a:r>
            <a:endParaRPr lang="en-US" sz="1350" dirty="0"/>
          </a:p>
        </p:txBody>
      </p:sp>
      <p:sp>
        <p:nvSpPr>
          <p:cNvPr id="5" name="Shape 3"/>
          <p:cNvSpPr/>
          <p:nvPr/>
        </p:nvSpPr>
        <p:spPr>
          <a:xfrm>
            <a:off x="548640" y="3063240"/>
            <a:ext cx="5486400" cy="457200"/>
          </a:xfrm>
          <a:prstGeom prst="roundRect">
            <a:avLst>
              <a:gd name="adj" fmla="val 12000"/>
            </a:avLst>
          </a:prstGeom>
          <a:solidFill>
            <a:srgbClr val="FCF6F5"/>
          </a:solidFill>
          <a:ln w="12700">
            <a:solidFill>
              <a:srgbClr val="D9C7C6"/>
            </a:solidFill>
            <a:prstDash val="solid"/>
          </a:ln>
        </p:spPr>
        <p:txBody>
          <a:bodyPr/>
          <a:lstStyle/>
          <a:p>
            <a:endParaRPr/>
          </a:p>
        </p:txBody>
      </p:sp>
      <p:sp>
        <p:nvSpPr>
          <p:cNvPr id="6" name="Text 4"/>
          <p:cNvSpPr/>
          <p:nvPr/>
        </p:nvSpPr>
        <p:spPr>
          <a:xfrm>
            <a:off x="731520" y="3063240"/>
            <a:ext cx="5120640" cy="45720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qd, q̇d, q̈d  (From Workspace)</a:t>
            </a:r>
            <a:endParaRPr lang="en-US" sz="1150" dirty="0"/>
          </a:p>
        </p:txBody>
      </p:sp>
      <p:sp>
        <p:nvSpPr>
          <p:cNvPr id="7" name="Shape 5"/>
          <p:cNvSpPr/>
          <p:nvPr/>
        </p:nvSpPr>
        <p:spPr>
          <a:xfrm>
            <a:off x="548640" y="3639312"/>
            <a:ext cx="5486400" cy="457200"/>
          </a:xfrm>
          <a:prstGeom prst="roundRect">
            <a:avLst>
              <a:gd name="adj" fmla="val 12000"/>
            </a:avLst>
          </a:prstGeom>
          <a:solidFill>
            <a:srgbClr val="FCF6F5"/>
          </a:solidFill>
          <a:ln w="12700">
            <a:solidFill>
              <a:srgbClr val="D9C7C6"/>
            </a:solidFill>
            <a:prstDash val="solid"/>
          </a:ln>
        </p:spPr>
        <p:txBody>
          <a:bodyPr/>
          <a:lstStyle/>
          <a:p>
            <a:endParaRPr/>
          </a:p>
        </p:txBody>
      </p:sp>
      <p:sp>
        <p:nvSpPr>
          <p:cNvPr id="8" name="Text 6"/>
          <p:cNvSpPr/>
          <p:nvPr/>
        </p:nvSpPr>
        <p:spPr>
          <a:xfrm>
            <a:off x="731520" y="3639312"/>
            <a:ext cx="5120640" cy="45720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Controlador (MATLAB Function) → τ</a:t>
            </a:r>
            <a:endParaRPr lang="en-US" sz="1150" dirty="0"/>
          </a:p>
        </p:txBody>
      </p:sp>
      <p:sp>
        <p:nvSpPr>
          <p:cNvPr id="9" name="Shape 7"/>
          <p:cNvSpPr/>
          <p:nvPr/>
        </p:nvSpPr>
        <p:spPr>
          <a:xfrm>
            <a:off x="548640" y="4215384"/>
            <a:ext cx="5486400" cy="457200"/>
          </a:xfrm>
          <a:prstGeom prst="roundRect">
            <a:avLst>
              <a:gd name="adj" fmla="val 12000"/>
            </a:avLst>
          </a:prstGeom>
          <a:solidFill>
            <a:srgbClr val="FCF6F5"/>
          </a:solidFill>
          <a:ln w="12700">
            <a:solidFill>
              <a:srgbClr val="D9C7C6"/>
            </a:solidFill>
            <a:prstDash val="solid"/>
          </a:ln>
        </p:spPr>
        <p:txBody>
          <a:bodyPr/>
          <a:lstStyle/>
          <a:p>
            <a:endParaRPr/>
          </a:p>
        </p:txBody>
      </p:sp>
      <p:sp>
        <p:nvSpPr>
          <p:cNvPr id="10" name="Text 8"/>
          <p:cNvSpPr/>
          <p:nvPr/>
        </p:nvSpPr>
        <p:spPr>
          <a:xfrm>
            <a:off x="731520" y="4215384"/>
            <a:ext cx="5120640" cy="45720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Saturación ±[80, 80, 60] N·m</a:t>
            </a:r>
            <a:endParaRPr lang="en-US" sz="1150" dirty="0"/>
          </a:p>
        </p:txBody>
      </p:sp>
      <p:sp>
        <p:nvSpPr>
          <p:cNvPr id="11" name="Shape 9"/>
          <p:cNvSpPr/>
          <p:nvPr/>
        </p:nvSpPr>
        <p:spPr>
          <a:xfrm>
            <a:off x="548640" y="4791456"/>
            <a:ext cx="5486400" cy="457200"/>
          </a:xfrm>
          <a:prstGeom prst="roundRect">
            <a:avLst>
              <a:gd name="adj" fmla="val 12000"/>
            </a:avLst>
          </a:prstGeom>
          <a:solidFill>
            <a:srgbClr val="FCF6F5"/>
          </a:solidFill>
          <a:ln w="12700">
            <a:solidFill>
              <a:srgbClr val="D9C7C6"/>
            </a:solidFill>
            <a:prstDash val="solid"/>
          </a:ln>
        </p:spPr>
        <p:txBody>
          <a:bodyPr/>
          <a:lstStyle/>
          <a:p>
            <a:endParaRPr/>
          </a:p>
        </p:txBody>
      </p:sp>
      <p:sp>
        <p:nvSpPr>
          <p:cNvPr id="12" name="Text 10"/>
          <p:cNvSpPr/>
          <p:nvPr/>
        </p:nvSpPr>
        <p:spPr>
          <a:xfrm>
            <a:off x="731520" y="4791456"/>
            <a:ext cx="5120640" cy="45720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Planta 3GDL: q̈ = M⁻¹(τ − Cq̇ − G)</a:t>
            </a:r>
            <a:endParaRPr lang="en-US" sz="1150" dirty="0"/>
          </a:p>
        </p:txBody>
      </p:sp>
      <p:sp>
        <p:nvSpPr>
          <p:cNvPr id="13" name="Shape 11"/>
          <p:cNvSpPr/>
          <p:nvPr/>
        </p:nvSpPr>
        <p:spPr>
          <a:xfrm>
            <a:off x="548640" y="5367528"/>
            <a:ext cx="5486400" cy="457200"/>
          </a:xfrm>
          <a:prstGeom prst="roundRect">
            <a:avLst>
              <a:gd name="adj" fmla="val 12000"/>
            </a:avLst>
          </a:prstGeom>
          <a:solidFill>
            <a:srgbClr val="FCF6F5"/>
          </a:solidFill>
          <a:ln w="12700">
            <a:solidFill>
              <a:srgbClr val="D9C7C6"/>
            </a:solidFill>
            <a:prstDash val="solid"/>
          </a:ln>
        </p:spPr>
        <p:txBody>
          <a:bodyPr/>
          <a:lstStyle/>
          <a:p>
            <a:endParaRPr/>
          </a:p>
        </p:txBody>
      </p:sp>
      <p:sp>
        <p:nvSpPr>
          <p:cNvPr id="14" name="Text 12"/>
          <p:cNvSpPr/>
          <p:nvPr/>
        </p:nvSpPr>
        <p:spPr>
          <a:xfrm>
            <a:off x="731520" y="5367528"/>
            <a:ext cx="5120640" cy="45720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Integradores q̈→q̇→q (realimentación)</a:t>
            </a:r>
            <a:endParaRPr lang="en-US" sz="1150" dirty="0"/>
          </a:p>
        </p:txBody>
      </p:sp>
      <p:sp>
        <p:nvSpPr>
          <p:cNvPr id="15" name="Shape 13"/>
          <p:cNvSpPr/>
          <p:nvPr/>
        </p:nvSpPr>
        <p:spPr>
          <a:xfrm>
            <a:off x="6309360" y="1600200"/>
            <a:ext cx="5349240" cy="4480560"/>
          </a:xfrm>
          <a:prstGeom prst="roundRect">
            <a:avLst>
              <a:gd name="adj" fmla="val 1224"/>
            </a:avLst>
          </a:prstGeom>
          <a:solidFill>
            <a:srgbClr val="FCF6F5"/>
          </a:solidFill>
          <a:ln w="12700">
            <a:solidFill>
              <a:srgbClr val="D9C7C6"/>
            </a:solidFill>
            <a:prstDash val="solid"/>
          </a:ln>
        </p:spPr>
        <p:txBody>
          <a:bodyPr/>
          <a:lstStyle/>
          <a:p>
            <a:endParaRPr/>
          </a:p>
        </p:txBody>
      </p:sp>
      <p:pic>
        <p:nvPicPr>
          <p:cNvPr id="16" name="Image 0" descr="/tmp/deck/assets/scope.png"/>
          <p:cNvPicPr>
            <a:picLocks noChangeAspect="1"/>
          </p:cNvPicPr>
          <p:nvPr/>
        </p:nvPicPr>
        <p:blipFill>
          <a:blip r:embed="rId3"/>
          <a:srcRect/>
          <a:stretch/>
        </p:blipFill>
        <p:spPr>
          <a:xfrm>
            <a:off x="6446520" y="1737360"/>
            <a:ext cx="5074920" cy="3977640"/>
          </a:xfrm>
          <a:prstGeom prst="rect">
            <a:avLst/>
          </a:prstGeom>
        </p:spPr>
      </p:pic>
      <p:sp>
        <p:nvSpPr>
          <p:cNvPr id="17" name="Text 14"/>
          <p:cNvSpPr/>
          <p:nvPr/>
        </p:nvSpPr>
        <p:spPr>
          <a:xfrm>
            <a:off x="6309360" y="5779008"/>
            <a:ext cx="5349240" cy="274320"/>
          </a:xfrm>
          <a:prstGeom prst="rect">
            <a:avLst/>
          </a:prstGeom>
          <a:noFill/>
          <a:ln/>
        </p:spPr>
        <p:txBody>
          <a:bodyPr wrap="square" rtlCol="0" anchor="ctr"/>
          <a:lstStyle/>
          <a:p>
            <a:pPr marL="0" indent="0" algn="ctr">
              <a:buNone/>
            </a:pPr>
            <a:r>
              <a:rPr lang="en-US" sz="1050" i="1" dirty="0">
                <a:solidFill>
                  <a:srgbClr val="6E6E6E"/>
                </a:solidFill>
                <a:latin typeface="Calibri" pitchFamily="34" charset="0"/>
                <a:ea typeface="Calibri" pitchFamily="34" charset="-122"/>
                <a:cs typeface="Calibri" pitchFamily="34" charset="-120"/>
              </a:rPr>
              <a:t>Scope del par calculado en Simulink real: las 3 articulaciones convergen.</a:t>
            </a:r>
            <a:endParaRPr lang="en-US" sz="1050" dirty="0"/>
          </a:p>
        </p:txBody>
      </p:sp>
      <p:sp>
        <p:nvSpPr>
          <p:cNvPr id="18" name="Text 15"/>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3 · IMPLEMENTACIÓN EN SIMULINK · EVIDENCIA</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Los tres controladores en Simulink real</a:t>
            </a:r>
          </a:p>
        </p:txBody>
      </p:sp>
      <p:pic>
        <p:nvPicPr>
          <p:cNvPr id="4" name="Picture 3" descr="01_Scope_PID_NoLineal.png"/>
          <p:cNvPicPr>
            <a:picLocks noChangeAspect="1"/>
          </p:cNvPicPr>
          <p:nvPr/>
        </p:nvPicPr>
        <p:blipFill>
          <a:blip r:embed="rId3"/>
          <a:stretch>
            <a:fillRect/>
          </a:stretch>
        </p:blipFill>
        <p:spPr>
          <a:xfrm>
            <a:off x="548640" y="2000000"/>
            <a:ext cx="3576218" cy="1845595"/>
          </a:xfrm>
          <a:prstGeom prst="rect">
            <a:avLst/>
          </a:prstGeom>
        </p:spPr>
      </p:pic>
      <p:sp>
        <p:nvSpPr>
          <p:cNvPr id="5" name="TextBox 4"/>
          <p:cNvSpPr txBox="1"/>
          <p:nvPr/>
        </p:nvSpPr>
        <p:spPr>
          <a:xfrm>
            <a:off x="548640" y="3891315"/>
            <a:ext cx="3576218" cy="274320"/>
          </a:xfrm>
          <a:prstGeom prst="rect">
            <a:avLst/>
          </a:prstGeom>
          <a:noFill/>
        </p:spPr>
        <p:txBody>
          <a:bodyPr wrap="square" lIns="0" tIns="0" rIns="0" bIns="0">
            <a:spAutoFit/>
          </a:bodyPr>
          <a:lstStyle/>
          <a:p>
            <a:pPr algn="ctr"/>
            <a:r>
              <a:rPr sz="1100" b="0" i="1">
                <a:solidFill>
                  <a:srgbClr val="6E6E6E"/>
                </a:solidFill>
                <a:latin typeface="Calibri"/>
              </a:rPr>
              <a:t>Scope PID no lineal</a:t>
            </a:r>
          </a:p>
        </p:txBody>
      </p:sp>
      <p:pic>
        <p:nvPicPr>
          <p:cNvPr id="6" name="Picture 5" descr="02_Scope_PD_Precomp.png"/>
          <p:cNvPicPr>
            <a:picLocks noChangeAspect="1"/>
          </p:cNvPicPr>
          <p:nvPr/>
        </p:nvPicPr>
        <p:blipFill>
          <a:blip r:embed="rId4"/>
          <a:stretch>
            <a:fillRect/>
          </a:stretch>
        </p:blipFill>
        <p:spPr>
          <a:xfrm>
            <a:off x="4307738" y="2000000"/>
            <a:ext cx="3576218" cy="1902781"/>
          </a:xfrm>
          <a:prstGeom prst="rect">
            <a:avLst/>
          </a:prstGeom>
        </p:spPr>
      </p:pic>
      <p:sp>
        <p:nvSpPr>
          <p:cNvPr id="7" name="TextBox 6"/>
          <p:cNvSpPr txBox="1"/>
          <p:nvPr/>
        </p:nvSpPr>
        <p:spPr>
          <a:xfrm>
            <a:off x="4307738" y="3948501"/>
            <a:ext cx="3576218" cy="274320"/>
          </a:xfrm>
          <a:prstGeom prst="rect">
            <a:avLst/>
          </a:prstGeom>
          <a:noFill/>
        </p:spPr>
        <p:txBody>
          <a:bodyPr wrap="square" lIns="0" tIns="0" rIns="0" bIns="0">
            <a:spAutoFit/>
          </a:bodyPr>
          <a:lstStyle/>
          <a:p>
            <a:pPr algn="ctr"/>
            <a:r>
              <a:rPr sz="1100" b="0" i="1">
                <a:solidFill>
                  <a:srgbClr val="6E6E6E"/>
                </a:solidFill>
                <a:latin typeface="Calibri"/>
              </a:rPr>
              <a:t>Scope PD precompensado</a:t>
            </a:r>
          </a:p>
        </p:txBody>
      </p:sp>
      <p:pic>
        <p:nvPicPr>
          <p:cNvPr id="8" name="Picture 7" descr="image.png"/>
          <p:cNvPicPr>
            <a:picLocks noChangeAspect="1"/>
          </p:cNvPicPr>
          <p:nvPr/>
        </p:nvPicPr>
        <p:blipFill>
          <a:blip r:embed="rId5"/>
          <a:stretch>
            <a:fillRect/>
          </a:stretch>
        </p:blipFill>
        <p:spPr>
          <a:xfrm>
            <a:off x="8066836" y="2000000"/>
            <a:ext cx="3576218" cy="1895039"/>
          </a:xfrm>
          <a:prstGeom prst="rect">
            <a:avLst/>
          </a:prstGeom>
        </p:spPr>
      </p:pic>
      <p:sp>
        <p:nvSpPr>
          <p:cNvPr id="9" name="TextBox 8"/>
          <p:cNvSpPr txBox="1"/>
          <p:nvPr/>
        </p:nvSpPr>
        <p:spPr>
          <a:xfrm>
            <a:off x="8066836" y="3940759"/>
            <a:ext cx="3576218" cy="274320"/>
          </a:xfrm>
          <a:prstGeom prst="rect">
            <a:avLst/>
          </a:prstGeom>
          <a:noFill/>
        </p:spPr>
        <p:txBody>
          <a:bodyPr wrap="square" lIns="0" tIns="0" rIns="0" bIns="0">
            <a:spAutoFit/>
          </a:bodyPr>
          <a:lstStyle/>
          <a:p>
            <a:pPr algn="ctr"/>
            <a:r>
              <a:rPr sz="1100" b="0" i="1">
                <a:solidFill>
                  <a:srgbClr val="6E6E6E"/>
                </a:solidFill>
                <a:latin typeface="Calibri"/>
              </a:rPr>
              <a:t>Scope Par calculado</a:t>
            </a:r>
          </a:p>
        </p:txBody>
      </p:sp>
      <p:sp>
        <p:nvSpPr>
          <p:cNvPr id="10" name="TextBox 9"/>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Las tres articulaciones convergen en los tres subsistemas, corriendo en Simulink real.</a:t>
            </a:r>
          </a:p>
        </p:txBody>
      </p:sp>
      <p:sp>
        <p:nvSpPr>
          <p:cNvPr id="11" name="TextBox 10"/>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3 · RESULTADOS COMPARATIVOS</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El par calculado converge antes y con menos torque</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Controlador</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99001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Error RMS [rad]</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99001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 estab. [s]</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99001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Torque RMS [N·m]</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99001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Torque máx [N·m]</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990011"/>
                    </a:solidFill>
                  </a:tcPr>
                </a:tc>
                <a:extLst>
                  <a:ext uri="{0D108BD9-81ED-4DB2-BD59-A6C34878D82A}">
                    <a16:rowId xmlns:a16="http://schemas.microsoft.com/office/drawing/2014/main" val="10000"/>
                  </a:ext>
                </a:extLst>
              </a:tr>
              <a:tr h="457200">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PID no lineal</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0.0303</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1.89</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4.28</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18.66</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extLst>
                  <a:ext uri="{0D108BD9-81ED-4DB2-BD59-A6C34878D82A}">
                    <a16:rowId xmlns:a16="http://schemas.microsoft.com/office/drawing/2014/main" val="10001"/>
                  </a:ext>
                </a:extLst>
              </a:tr>
              <a:tr h="457200">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PD precompensado</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0.0304</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0.85</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4.30</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dirty="0">
                          <a:solidFill>
                            <a:srgbClr val="2B2B2B"/>
                          </a:solidFill>
                          <a:latin typeface="Calibri" pitchFamily="34" charset="0"/>
                          <a:ea typeface="Calibri" pitchFamily="34" charset="-122"/>
                          <a:cs typeface="Calibri" pitchFamily="34" charset="-120"/>
                        </a:rPr>
                        <a:t>20.42</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extLst>
                  <a:ext uri="{0D108BD9-81ED-4DB2-BD59-A6C34878D82A}">
                    <a16:rowId xmlns:a16="http://schemas.microsoft.com/office/drawing/2014/main" val="10002"/>
                  </a:ext>
                </a:extLst>
              </a:tr>
              <a:tr h="457200">
                <a:tc>
                  <a:txBody>
                    <a:bodyPr/>
                    <a:lstStyle/>
                    <a:p>
                      <a:pPr marL="0" indent="0" algn="ctr">
                        <a:buNone/>
                      </a:pPr>
                      <a:r>
                        <a:rPr lang="en-US" sz="1150" b="1" dirty="0">
                          <a:solidFill>
                            <a:srgbClr val="990011"/>
                          </a:solidFill>
                          <a:latin typeface="Calibri" pitchFamily="34" charset="0"/>
                          <a:ea typeface="Calibri" pitchFamily="34" charset="-122"/>
                          <a:cs typeface="Calibri" pitchFamily="34" charset="-120"/>
                        </a:rPr>
                        <a:t>Par calculado</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b="1" dirty="0">
                          <a:solidFill>
                            <a:srgbClr val="990011"/>
                          </a:solidFill>
                          <a:latin typeface="Calibri" pitchFamily="34" charset="0"/>
                          <a:ea typeface="Calibri" pitchFamily="34" charset="-122"/>
                          <a:cs typeface="Calibri" pitchFamily="34" charset="-120"/>
                        </a:rPr>
                        <a:t>0.0316</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b="1" dirty="0">
                          <a:solidFill>
                            <a:srgbClr val="990011"/>
                          </a:solidFill>
                          <a:latin typeface="Calibri" pitchFamily="34" charset="0"/>
                          <a:ea typeface="Calibri" pitchFamily="34" charset="-122"/>
                          <a:cs typeface="Calibri" pitchFamily="34" charset="-120"/>
                        </a:rPr>
                        <a:t>0.70</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b="1" dirty="0">
                          <a:solidFill>
                            <a:srgbClr val="990011"/>
                          </a:solidFill>
                          <a:latin typeface="Calibri" pitchFamily="34" charset="0"/>
                          <a:ea typeface="Calibri" pitchFamily="34" charset="-122"/>
                          <a:cs typeface="Calibri" pitchFamily="34" charset="-120"/>
                        </a:rPr>
                        <a:t>4.23</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tc>
                  <a:txBody>
                    <a:bodyPr/>
                    <a:lstStyle/>
                    <a:p>
                      <a:pPr marL="0" indent="0" algn="ctr">
                        <a:buNone/>
                      </a:pPr>
                      <a:r>
                        <a:rPr lang="en-US" sz="1150" b="1" dirty="0">
                          <a:solidFill>
                            <a:srgbClr val="990011"/>
                          </a:solidFill>
                          <a:latin typeface="Calibri" pitchFamily="34" charset="0"/>
                          <a:ea typeface="Calibri" pitchFamily="34" charset="-122"/>
                          <a:cs typeface="Calibri" pitchFamily="34" charset="-120"/>
                        </a:rPr>
                        <a:t>10.03</a:t>
                      </a:r>
                      <a:endParaRPr lang="en-US" sz="1150" dirty="0">
                        <a:latin typeface="Calibri" charset="0"/>
                        <a:ea typeface="Calibri" charset="0"/>
                        <a:cs typeface="Calibri" charset="0"/>
                      </a:endParaRPr>
                    </a:p>
                  </a:txBody>
                  <a:tcPr anchor="ctr">
                    <a:lnL w="12700" cap="flat" cmpd="sng" algn="ctr">
                      <a:solidFill>
                        <a:srgbClr val="D9C7C6"/>
                      </a:solidFill>
                      <a:prstDash val="solid"/>
                      <a:round/>
                      <a:headEnd type="none" w="med" len="med"/>
                      <a:tailEnd type="none" w="med" len="med"/>
                    </a:lnL>
                    <a:lnR w="12700" cap="flat" cmpd="sng" algn="ctr">
                      <a:solidFill>
                        <a:srgbClr val="D9C7C6"/>
                      </a:solidFill>
                      <a:prstDash val="solid"/>
                      <a:round/>
                      <a:headEnd type="none" w="med" len="med"/>
                      <a:tailEnd type="none" w="med" len="med"/>
                    </a:lnR>
                    <a:lnT w="12700" cap="flat" cmpd="sng" algn="ctr">
                      <a:solidFill>
                        <a:srgbClr val="D9C7C6"/>
                      </a:solidFill>
                      <a:prstDash val="solid"/>
                      <a:round/>
                      <a:headEnd type="none" w="med" len="med"/>
                      <a:tailEnd type="none" w="med" len="med"/>
                    </a:lnT>
                    <a:lnB w="12700" cap="flat" cmpd="sng" algn="ctr">
                      <a:solidFill>
                        <a:srgbClr val="D9C7C6"/>
                      </a:solidFill>
                      <a:prstDash val="solid"/>
                      <a:round/>
                      <a:headEnd type="none" w="med" len="med"/>
                      <a:tailEnd type="none" w="med" len="med"/>
                    </a:lnB>
                    <a:solidFill>
                      <a:srgbClr val="FCF6F5"/>
                    </a:solidFill>
                  </a:tcPr>
                </a:tc>
                <a:extLst>
                  <a:ext uri="{0D108BD9-81ED-4DB2-BD59-A6C34878D82A}">
                    <a16:rowId xmlns:a16="http://schemas.microsoft.com/office/drawing/2014/main" val="10003"/>
                  </a:ext>
                </a:extLst>
              </a:tr>
            </a:tbl>
          </a:graphicData>
        </a:graphic>
      </p:graphicFrame>
      <p:sp>
        <p:nvSpPr>
          <p:cNvPr id="5" name="Text 2"/>
          <p:cNvSpPr/>
          <p:nvPr/>
        </p:nvSpPr>
        <p:spPr>
          <a:xfrm>
            <a:off x="7772400" y="1737360"/>
            <a:ext cx="3840480" cy="777240"/>
          </a:xfrm>
          <a:prstGeom prst="rect">
            <a:avLst/>
          </a:prstGeom>
          <a:noFill/>
          <a:ln/>
        </p:spPr>
        <p:txBody>
          <a:bodyPr wrap="square" lIns="0" tIns="0" rIns="0" bIns="0" rtlCol="0" anchor="ctr"/>
          <a:lstStyle/>
          <a:p>
            <a:pPr marL="0" indent="0" algn="l">
              <a:buNone/>
            </a:pPr>
            <a:r>
              <a:rPr lang="en-US" sz="4000" b="1" dirty="0">
                <a:solidFill>
                  <a:srgbClr val="990011"/>
                </a:solidFill>
                <a:latin typeface="Cambria" pitchFamily="34" charset="0"/>
                <a:ea typeface="Cambria" pitchFamily="34" charset="-122"/>
                <a:cs typeface="Cambria" pitchFamily="34" charset="-120"/>
              </a:rPr>
              <a:t>0.70 s</a:t>
            </a:r>
            <a:endParaRPr lang="en-US" sz="4000" dirty="0"/>
          </a:p>
        </p:txBody>
      </p:sp>
      <p:sp>
        <p:nvSpPr>
          <p:cNvPr id="6" name="Text 3"/>
          <p:cNvSpPr/>
          <p:nvPr/>
        </p:nvSpPr>
        <p:spPr>
          <a:xfrm>
            <a:off x="7772400" y="2487168"/>
            <a:ext cx="3840480" cy="640080"/>
          </a:xfrm>
          <a:prstGeom prst="rect">
            <a:avLst/>
          </a:prstGeom>
          <a:noFill/>
          <a:ln/>
        </p:spPr>
        <p:txBody>
          <a:bodyPr wrap="square" lIns="0" tIns="0" rIns="0" bIns="0" rtlCol="0" anchor="t"/>
          <a:lstStyle/>
          <a:p>
            <a:pPr marL="0" indent="0" algn="l">
              <a:buNone/>
            </a:pPr>
            <a:r>
              <a:rPr lang="en-US" sz="1150" dirty="0">
                <a:solidFill>
                  <a:srgbClr val="2B2B2B"/>
                </a:solidFill>
                <a:latin typeface="Calibri" pitchFamily="34" charset="0"/>
                <a:ea typeface="Calibri" pitchFamily="34" charset="-122"/>
                <a:cs typeface="Calibri" pitchFamily="34" charset="-120"/>
              </a:rPr>
              <a:t>Tiempo de estabilización del par calculado (vs. 1.89 s del PID)</a:t>
            </a:r>
            <a:endParaRPr lang="en-US" sz="1150" dirty="0"/>
          </a:p>
        </p:txBody>
      </p:sp>
      <p:sp>
        <p:nvSpPr>
          <p:cNvPr id="7" name="Text 4"/>
          <p:cNvSpPr/>
          <p:nvPr/>
        </p:nvSpPr>
        <p:spPr>
          <a:xfrm>
            <a:off x="7772400" y="3200400"/>
            <a:ext cx="3840480" cy="777240"/>
          </a:xfrm>
          <a:prstGeom prst="rect">
            <a:avLst/>
          </a:prstGeom>
          <a:noFill/>
          <a:ln/>
        </p:spPr>
        <p:txBody>
          <a:bodyPr wrap="square" lIns="0" tIns="0" rIns="0" bIns="0" rtlCol="0" anchor="ctr"/>
          <a:lstStyle/>
          <a:p>
            <a:pPr marL="0" indent="0" algn="l">
              <a:buNone/>
            </a:pPr>
            <a:r>
              <a:rPr lang="en-US" sz="4000" b="1" dirty="0">
                <a:solidFill>
                  <a:srgbClr val="2F3C7E"/>
                </a:solidFill>
                <a:latin typeface="Cambria" pitchFamily="34" charset="0"/>
                <a:ea typeface="Cambria" pitchFamily="34" charset="-122"/>
                <a:cs typeface="Cambria" pitchFamily="34" charset="-120"/>
              </a:rPr>
              <a:t>10.03 N·m</a:t>
            </a:r>
            <a:endParaRPr lang="en-US" sz="4000" dirty="0"/>
          </a:p>
        </p:txBody>
      </p:sp>
      <p:sp>
        <p:nvSpPr>
          <p:cNvPr id="8" name="Text 5"/>
          <p:cNvSpPr/>
          <p:nvPr/>
        </p:nvSpPr>
        <p:spPr>
          <a:xfrm>
            <a:off x="7772400" y="3950208"/>
            <a:ext cx="3840480" cy="640080"/>
          </a:xfrm>
          <a:prstGeom prst="rect">
            <a:avLst/>
          </a:prstGeom>
          <a:noFill/>
          <a:ln/>
        </p:spPr>
        <p:txBody>
          <a:bodyPr wrap="square" lIns="0" tIns="0" rIns="0" bIns="0" rtlCol="0" anchor="t"/>
          <a:lstStyle/>
          <a:p>
            <a:pPr marL="0" indent="0" algn="l">
              <a:buNone/>
            </a:pPr>
            <a:r>
              <a:rPr lang="en-US" sz="1150" dirty="0">
                <a:solidFill>
                  <a:srgbClr val="2B2B2B"/>
                </a:solidFill>
                <a:latin typeface="Calibri" pitchFamily="34" charset="0"/>
                <a:ea typeface="Calibri" pitchFamily="34" charset="-122"/>
                <a:cs typeface="Calibri" pitchFamily="34" charset="-120"/>
              </a:rPr>
              <a:t>Torque máximo, la mitad que PID/PD (18.7–20.4 N·m)</a:t>
            </a:r>
            <a:endParaRPr lang="en-US" sz="1150" dirty="0"/>
          </a:p>
        </p:txBody>
      </p:sp>
      <p:sp>
        <p:nvSpPr>
          <p:cNvPr id="9" name="Text 6"/>
          <p:cNvSpPr/>
          <p:nvPr/>
        </p:nvSpPr>
        <p:spPr>
          <a:xfrm>
            <a:off x="7772400" y="4617720"/>
            <a:ext cx="3840480" cy="777240"/>
          </a:xfrm>
          <a:prstGeom prst="rect">
            <a:avLst/>
          </a:prstGeom>
          <a:noFill/>
          <a:ln/>
        </p:spPr>
        <p:txBody>
          <a:bodyPr wrap="square" lIns="0" tIns="0" rIns="0" bIns="0" rtlCol="0" anchor="ctr"/>
          <a:lstStyle/>
          <a:p>
            <a:pPr marL="0" indent="0" algn="l">
              <a:buNone/>
            </a:pPr>
            <a:r>
              <a:rPr lang="en-US" sz="4000" b="1" dirty="0">
                <a:solidFill>
                  <a:srgbClr val="990011"/>
                </a:solidFill>
                <a:latin typeface="Cambria" pitchFamily="34" charset="0"/>
                <a:ea typeface="Cambria" pitchFamily="34" charset="-122"/>
                <a:cs typeface="Cambria" pitchFamily="34" charset="-120"/>
              </a:rPr>
              <a:t>&lt; 1 %</a:t>
            </a:r>
            <a:endParaRPr lang="en-US" sz="4000" dirty="0"/>
          </a:p>
        </p:txBody>
      </p:sp>
      <p:sp>
        <p:nvSpPr>
          <p:cNvPr id="10" name="Text 7"/>
          <p:cNvSpPr/>
          <p:nvPr/>
        </p:nvSpPr>
        <p:spPr>
          <a:xfrm>
            <a:off x="7772400" y="5367528"/>
            <a:ext cx="3840480" cy="640080"/>
          </a:xfrm>
          <a:prstGeom prst="rect">
            <a:avLst/>
          </a:prstGeom>
          <a:noFill/>
          <a:ln/>
        </p:spPr>
        <p:txBody>
          <a:bodyPr wrap="square" lIns="0" tIns="0" rIns="0" bIns="0" rtlCol="0" anchor="t"/>
          <a:lstStyle/>
          <a:p>
            <a:pPr marL="0" indent="0" algn="l">
              <a:buNone/>
            </a:pPr>
            <a:r>
              <a:rPr lang="en-US" sz="1150" dirty="0">
                <a:solidFill>
                  <a:srgbClr val="2B2B2B"/>
                </a:solidFill>
                <a:latin typeface="Calibri" pitchFamily="34" charset="0"/>
                <a:ea typeface="Calibri" pitchFamily="34" charset="-122"/>
                <a:cs typeface="Calibri" pitchFamily="34" charset="-120"/>
              </a:rPr>
              <a:t>Diferencia Simulink vs. MATLAB puro (validación cruzada)</a:t>
            </a:r>
            <a:endParaRPr lang="en-US" sz="1150" dirty="0"/>
          </a:p>
        </p:txBody>
      </p:sp>
      <p:sp>
        <p:nvSpPr>
          <p:cNvPr id="11" name="Shape 8"/>
          <p:cNvSpPr/>
          <p:nvPr/>
        </p:nvSpPr>
        <p:spPr>
          <a:xfrm>
            <a:off x="548640" y="3794760"/>
            <a:ext cx="6949440" cy="2286000"/>
          </a:xfrm>
          <a:prstGeom prst="roundRect">
            <a:avLst>
              <a:gd name="adj" fmla="val 2400"/>
            </a:avLst>
          </a:prstGeom>
          <a:solidFill>
            <a:srgbClr val="FCF6F5"/>
          </a:solidFill>
          <a:ln w="12700">
            <a:solidFill>
              <a:srgbClr val="D9C7C6"/>
            </a:solidFill>
            <a:prstDash val="solid"/>
          </a:ln>
        </p:spPr>
        <p:txBody>
          <a:bodyPr/>
          <a:lstStyle/>
          <a:p>
            <a:endParaRPr/>
          </a:p>
        </p:txBody>
      </p:sp>
      <p:pic>
        <p:nvPicPr>
          <p:cNvPr id="12" name="Image 0" descr="/tmp/deck/assets/err.png"/>
          <p:cNvPicPr>
            <a:picLocks noChangeAspect="1"/>
          </p:cNvPicPr>
          <p:nvPr/>
        </p:nvPicPr>
        <p:blipFill>
          <a:blip r:embed="rId3"/>
          <a:srcRect/>
          <a:stretch/>
        </p:blipFill>
        <p:spPr>
          <a:xfrm>
            <a:off x="685800" y="3931920"/>
            <a:ext cx="6675120" cy="2011680"/>
          </a:xfrm>
          <a:prstGeom prst="rect">
            <a:avLst/>
          </a:prstGeom>
        </p:spPr>
      </p:pic>
      <p:sp>
        <p:nvSpPr>
          <p:cNvPr id="13" name="Text 9"/>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3 · RESULTADOS COMPARATIVOS · DETALLE</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Error articular por junta (Simulink real)</a:t>
            </a:r>
          </a:p>
        </p:txBody>
      </p:sp>
      <p:pic>
        <p:nvPicPr>
          <p:cNvPr id="4" name="Picture 3" descr="error_q1.png"/>
          <p:cNvPicPr>
            <a:picLocks noChangeAspect="1"/>
          </p:cNvPicPr>
          <p:nvPr/>
        </p:nvPicPr>
        <p:blipFill>
          <a:blip r:embed="rId3"/>
          <a:stretch>
            <a:fillRect/>
          </a:stretch>
        </p:blipFill>
        <p:spPr>
          <a:xfrm>
            <a:off x="548640" y="2000000"/>
            <a:ext cx="3576218" cy="2156406"/>
          </a:xfrm>
          <a:prstGeom prst="rect">
            <a:avLst/>
          </a:prstGeom>
        </p:spPr>
      </p:pic>
      <p:sp>
        <p:nvSpPr>
          <p:cNvPr id="5" name="TextBox 4"/>
          <p:cNvSpPr txBox="1"/>
          <p:nvPr/>
        </p:nvSpPr>
        <p:spPr>
          <a:xfrm>
            <a:off x="548640" y="4202126"/>
            <a:ext cx="3576218" cy="274320"/>
          </a:xfrm>
          <a:prstGeom prst="rect">
            <a:avLst/>
          </a:prstGeom>
          <a:noFill/>
        </p:spPr>
        <p:txBody>
          <a:bodyPr wrap="square" lIns="0" tIns="0" rIns="0" bIns="0">
            <a:spAutoFit/>
          </a:bodyPr>
          <a:lstStyle/>
          <a:p>
            <a:pPr algn="ctr"/>
            <a:r>
              <a:rPr sz="1100" b="0" i="1">
                <a:solidFill>
                  <a:srgbClr val="6E6E6E"/>
                </a:solidFill>
                <a:latin typeface="Calibri"/>
              </a:rPr>
              <a:t>Error articular q1</a:t>
            </a:r>
          </a:p>
        </p:txBody>
      </p:sp>
      <p:pic>
        <p:nvPicPr>
          <p:cNvPr id="6" name="Picture 5" descr="error_q2.png"/>
          <p:cNvPicPr>
            <a:picLocks noChangeAspect="1"/>
          </p:cNvPicPr>
          <p:nvPr/>
        </p:nvPicPr>
        <p:blipFill>
          <a:blip r:embed="rId4"/>
          <a:stretch>
            <a:fillRect/>
          </a:stretch>
        </p:blipFill>
        <p:spPr>
          <a:xfrm>
            <a:off x="4307738" y="2000000"/>
            <a:ext cx="3576218" cy="2156406"/>
          </a:xfrm>
          <a:prstGeom prst="rect">
            <a:avLst/>
          </a:prstGeom>
        </p:spPr>
      </p:pic>
      <p:sp>
        <p:nvSpPr>
          <p:cNvPr id="7" name="TextBox 6"/>
          <p:cNvSpPr txBox="1"/>
          <p:nvPr/>
        </p:nvSpPr>
        <p:spPr>
          <a:xfrm>
            <a:off x="4307738" y="4202126"/>
            <a:ext cx="3576218" cy="274320"/>
          </a:xfrm>
          <a:prstGeom prst="rect">
            <a:avLst/>
          </a:prstGeom>
          <a:noFill/>
        </p:spPr>
        <p:txBody>
          <a:bodyPr wrap="square" lIns="0" tIns="0" rIns="0" bIns="0">
            <a:spAutoFit/>
          </a:bodyPr>
          <a:lstStyle/>
          <a:p>
            <a:pPr algn="ctr"/>
            <a:r>
              <a:rPr sz="1100" b="0" i="1">
                <a:solidFill>
                  <a:srgbClr val="6E6E6E"/>
                </a:solidFill>
                <a:latin typeface="Calibri"/>
              </a:rPr>
              <a:t>Error articular q2</a:t>
            </a:r>
          </a:p>
        </p:txBody>
      </p:sp>
      <p:pic>
        <p:nvPicPr>
          <p:cNvPr id="8" name="Picture 7" descr="error_q3.png"/>
          <p:cNvPicPr>
            <a:picLocks noChangeAspect="1"/>
          </p:cNvPicPr>
          <p:nvPr/>
        </p:nvPicPr>
        <p:blipFill>
          <a:blip r:embed="rId5"/>
          <a:stretch>
            <a:fillRect/>
          </a:stretch>
        </p:blipFill>
        <p:spPr>
          <a:xfrm>
            <a:off x="8066836" y="2000000"/>
            <a:ext cx="3576218" cy="2156406"/>
          </a:xfrm>
          <a:prstGeom prst="rect">
            <a:avLst/>
          </a:prstGeom>
        </p:spPr>
      </p:pic>
      <p:sp>
        <p:nvSpPr>
          <p:cNvPr id="9" name="TextBox 8"/>
          <p:cNvSpPr txBox="1"/>
          <p:nvPr/>
        </p:nvSpPr>
        <p:spPr>
          <a:xfrm>
            <a:off x="8066836" y="4202126"/>
            <a:ext cx="3576218" cy="274320"/>
          </a:xfrm>
          <a:prstGeom prst="rect">
            <a:avLst/>
          </a:prstGeom>
          <a:noFill/>
        </p:spPr>
        <p:txBody>
          <a:bodyPr wrap="square" lIns="0" tIns="0" rIns="0" bIns="0">
            <a:spAutoFit/>
          </a:bodyPr>
          <a:lstStyle/>
          <a:p>
            <a:pPr algn="ctr"/>
            <a:r>
              <a:rPr sz="1100" b="0" i="1">
                <a:solidFill>
                  <a:srgbClr val="6E6E6E"/>
                </a:solidFill>
                <a:latin typeface="Calibri"/>
              </a:rPr>
              <a:t>Error articular q3</a:t>
            </a:r>
          </a:p>
        </p:txBody>
      </p:sp>
      <p:sp>
        <p:nvSpPr>
          <p:cNvPr id="10" name="TextBox 9"/>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El PID no lineal deja un rizado sostenido; PD y par calculado se estabilizan más cerca de cero.</a:t>
            </a:r>
          </a:p>
        </p:txBody>
      </p:sp>
      <p:sp>
        <p:nvSpPr>
          <p:cNvPr id="11" name="TextBox 10"/>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3 · VALIDACIÓN CRUZADA (v3, MATLAB PURO)</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Seguimiento articular — v3</a:t>
            </a:r>
          </a:p>
        </p:txBody>
      </p:sp>
      <p:pic>
        <p:nvPicPr>
          <p:cNvPr id="4" name="Picture 3" descr="v3_SeguimientoArticularQ1.png"/>
          <p:cNvPicPr>
            <a:picLocks noChangeAspect="1"/>
          </p:cNvPicPr>
          <p:nvPr/>
        </p:nvPicPr>
        <p:blipFill>
          <a:blip r:embed="rId3"/>
          <a:stretch>
            <a:fillRect/>
          </a:stretch>
        </p:blipFill>
        <p:spPr>
          <a:xfrm>
            <a:off x="548640" y="2000000"/>
            <a:ext cx="3576218" cy="1614066"/>
          </a:xfrm>
          <a:prstGeom prst="rect">
            <a:avLst/>
          </a:prstGeom>
        </p:spPr>
      </p:pic>
      <p:sp>
        <p:nvSpPr>
          <p:cNvPr id="5" name="TextBox 4"/>
          <p:cNvSpPr txBox="1"/>
          <p:nvPr/>
        </p:nvSpPr>
        <p:spPr>
          <a:xfrm>
            <a:off x="548640" y="3659786"/>
            <a:ext cx="3576218" cy="274320"/>
          </a:xfrm>
          <a:prstGeom prst="rect">
            <a:avLst/>
          </a:prstGeom>
          <a:noFill/>
        </p:spPr>
        <p:txBody>
          <a:bodyPr wrap="square" lIns="0" tIns="0" rIns="0" bIns="0">
            <a:spAutoFit/>
          </a:bodyPr>
          <a:lstStyle/>
          <a:p>
            <a:pPr algn="ctr"/>
            <a:r>
              <a:rPr sz="1100" b="0" i="1">
                <a:solidFill>
                  <a:srgbClr val="6E6E6E"/>
                </a:solidFill>
                <a:latin typeface="Calibri"/>
              </a:rPr>
              <a:t>Seguimiento q1 (v3)</a:t>
            </a:r>
          </a:p>
        </p:txBody>
      </p:sp>
      <p:pic>
        <p:nvPicPr>
          <p:cNvPr id="6" name="Picture 5" descr="v3_SeguimientoArticularQ2.png"/>
          <p:cNvPicPr>
            <a:picLocks noChangeAspect="1"/>
          </p:cNvPicPr>
          <p:nvPr/>
        </p:nvPicPr>
        <p:blipFill>
          <a:blip r:embed="rId4"/>
          <a:stretch>
            <a:fillRect/>
          </a:stretch>
        </p:blipFill>
        <p:spPr>
          <a:xfrm>
            <a:off x="4307738" y="2000000"/>
            <a:ext cx="3576218" cy="1614066"/>
          </a:xfrm>
          <a:prstGeom prst="rect">
            <a:avLst/>
          </a:prstGeom>
        </p:spPr>
      </p:pic>
      <p:sp>
        <p:nvSpPr>
          <p:cNvPr id="7" name="TextBox 6"/>
          <p:cNvSpPr txBox="1"/>
          <p:nvPr/>
        </p:nvSpPr>
        <p:spPr>
          <a:xfrm>
            <a:off x="4307738" y="3659786"/>
            <a:ext cx="3576218" cy="274320"/>
          </a:xfrm>
          <a:prstGeom prst="rect">
            <a:avLst/>
          </a:prstGeom>
          <a:noFill/>
        </p:spPr>
        <p:txBody>
          <a:bodyPr wrap="square" lIns="0" tIns="0" rIns="0" bIns="0">
            <a:spAutoFit/>
          </a:bodyPr>
          <a:lstStyle/>
          <a:p>
            <a:pPr algn="ctr"/>
            <a:r>
              <a:rPr sz="1100" b="0" i="1">
                <a:solidFill>
                  <a:srgbClr val="6E6E6E"/>
                </a:solidFill>
                <a:latin typeface="Calibri"/>
              </a:rPr>
              <a:t>Seguimiento q2 (v3)</a:t>
            </a:r>
          </a:p>
        </p:txBody>
      </p:sp>
      <p:pic>
        <p:nvPicPr>
          <p:cNvPr id="8" name="Picture 7" descr="v3_SeguimientoArticularQ3.png"/>
          <p:cNvPicPr>
            <a:picLocks noChangeAspect="1"/>
          </p:cNvPicPr>
          <p:nvPr/>
        </p:nvPicPr>
        <p:blipFill>
          <a:blip r:embed="rId5"/>
          <a:stretch>
            <a:fillRect/>
          </a:stretch>
        </p:blipFill>
        <p:spPr>
          <a:xfrm>
            <a:off x="8066836" y="2000000"/>
            <a:ext cx="3576218" cy="1614066"/>
          </a:xfrm>
          <a:prstGeom prst="rect">
            <a:avLst/>
          </a:prstGeom>
        </p:spPr>
      </p:pic>
      <p:sp>
        <p:nvSpPr>
          <p:cNvPr id="9" name="TextBox 8"/>
          <p:cNvSpPr txBox="1"/>
          <p:nvPr/>
        </p:nvSpPr>
        <p:spPr>
          <a:xfrm>
            <a:off x="8066836" y="3659786"/>
            <a:ext cx="3576218" cy="274320"/>
          </a:xfrm>
          <a:prstGeom prst="rect">
            <a:avLst/>
          </a:prstGeom>
          <a:noFill/>
        </p:spPr>
        <p:txBody>
          <a:bodyPr wrap="square" lIns="0" tIns="0" rIns="0" bIns="0">
            <a:spAutoFit/>
          </a:bodyPr>
          <a:lstStyle/>
          <a:p>
            <a:pPr algn="ctr"/>
            <a:r>
              <a:rPr sz="1100" b="0" i="1">
                <a:solidFill>
                  <a:srgbClr val="6E6E6E"/>
                </a:solidFill>
                <a:latin typeface="Calibri"/>
              </a:rPr>
              <a:t>Seguimiento q3 (v3)</a:t>
            </a:r>
          </a:p>
        </p:txBody>
      </p:sp>
      <p:sp>
        <p:nvSpPr>
          <p:cNvPr id="10" name="TextBox 9"/>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Reproducción en MATLAB puro (ode45, sin Simulink), misma trayectoria, ganancias y dinámica.</a:t>
            </a:r>
          </a:p>
        </p:txBody>
      </p:sp>
      <p:sp>
        <p:nvSpPr>
          <p:cNvPr id="11" name="TextBox 10"/>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3 · VALIDACIÓN CRUZADA (v3, MATLAB PURO)</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Error articular y trayectoria cartesiana — v3</a:t>
            </a:r>
          </a:p>
        </p:txBody>
      </p:sp>
      <p:pic>
        <p:nvPicPr>
          <p:cNvPr id="4" name="Picture 3" descr="image.png"/>
          <p:cNvPicPr>
            <a:picLocks noChangeAspect="1"/>
          </p:cNvPicPr>
          <p:nvPr/>
        </p:nvPicPr>
        <p:blipFill>
          <a:blip r:embed="rId3"/>
          <a:stretch>
            <a:fillRect/>
          </a:stretch>
        </p:blipFill>
        <p:spPr>
          <a:xfrm>
            <a:off x="548640" y="1900000"/>
            <a:ext cx="5410047" cy="2441735"/>
          </a:xfrm>
          <a:prstGeom prst="rect">
            <a:avLst/>
          </a:prstGeom>
        </p:spPr>
      </p:pic>
      <p:sp>
        <p:nvSpPr>
          <p:cNvPr id="5" name="TextBox 4"/>
          <p:cNvSpPr txBox="1"/>
          <p:nvPr/>
        </p:nvSpPr>
        <p:spPr>
          <a:xfrm>
            <a:off x="548640" y="4387455"/>
            <a:ext cx="5410047" cy="274320"/>
          </a:xfrm>
          <a:prstGeom prst="rect">
            <a:avLst/>
          </a:prstGeom>
          <a:noFill/>
        </p:spPr>
        <p:txBody>
          <a:bodyPr wrap="square" lIns="0" tIns="0" rIns="0" bIns="0">
            <a:spAutoFit/>
          </a:bodyPr>
          <a:lstStyle/>
          <a:p>
            <a:pPr algn="ctr"/>
            <a:r>
              <a:rPr sz="1100" b="0" i="1">
                <a:solidFill>
                  <a:srgbClr val="6E6E6E"/>
                </a:solidFill>
                <a:latin typeface="Calibri"/>
              </a:rPr>
              <a:t>Comparación de error articular (v3)</a:t>
            </a:r>
          </a:p>
        </p:txBody>
      </p:sp>
      <p:pic>
        <p:nvPicPr>
          <p:cNvPr id="6" name="Picture 5" descr="v3_TrayectoriaCartesianaDelEfectorFinal.png"/>
          <p:cNvPicPr>
            <a:picLocks noChangeAspect="1"/>
          </p:cNvPicPr>
          <p:nvPr/>
        </p:nvPicPr>
        <p:blipFill>
          <a:blip r:embed="rId4"/>
          <a:stretch>
            <a:fillRect/>
          </a:stretch>
        </p:blipFill>
        <p:spPr>
          <a:xfrm>
            <a:off x="6233007" y="1900000"/>
            <a:ext cx="5410047" cy="2441735"/>
          </a:xfrm>
          <a:prstGeom prst="rect">
            <a:avLst/>
          </a:prstGeom>
        </p:spPr>
      </p:pic>
      <p:sp>
        <p:nvSpPr>
          <p:cNvPr id="7" name="TextBox 6"/>
          <p:cNvSpPr txBox="1"/>
          <p:nvPr/>
        </p:nvSpPr>
        <p:spPr>
          <a:xfrm>
            <a:off x="6233007" y="4387455"/>
            <a:ext cx="5410047" cy="274320"/>
          </a:xfrm>
          <a:prstGeom prst="rect">
            <a:avLst/>
          </a:prstGeom>
          <a:noFill/>
        </p:spPr>
        <p:txBody>
          <a:bodyPr wrap="square" lIns="0" tIns="0" rIns="0" bIns="0">
            <a:spAutoFit/>
          </a:bodyPr>
          <a:lstStyle/>
          <a:p>
            <a:pPr algn="ctr"/>
            <a:r>
              <a:rPr sz="1100" b="0" i="1">
                <a:solidFill>
                  <a:srgbClr val="6E6E6E"/>
                </a:solidFill>
                <a:latin typeface="Calibri"/>
              </a:rPr>
              <a:t>Trayectoria cartesiana del efector final (v3)</a:t>
            </a:r>
          </a:p>
        </p:txBody>
      </p:sp>
      <p:sp>
        <p:nvSpPr>
          <p:cNvPr id="8" name="TextBox 7"/>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Coincide con Simulink con &lt;1% de diferencia en error RMS, error máximo, torque RMS y torque máximo.</a:t>
            </a:r>
          </a:p>
        </p:txBody>
      </p:sp>
      <p:sp>
        <p:nvSpPr>
          <p:cNvPr id="9" name="TextBox 8"/>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3 · VALIDACIÓN CRUZADA (v3, MATLAB PURO)</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Torque por controlador y por articulación — v3</a:t>
            </a:r>
          </a:p>
        </p:txBody>
      </p:sp>
      <p:pic>
        <p:nvPicPr>
          <p:cNvPr id="4" name="Picture 3" descr="v3_NormaDeTorque.png"/>
          <p:cNvPicPr>
            <a:picLocks noChangeAspect="1"/>
          </p:cNvPicPr>
          <p:nvPr/>
        </p:nvPicPr>
        <p:blipFill>
          <a:blip r:embed="rId3"/>
          <a:stretch>
            <a:fillRect/>
          </a:stretch>
        </p:blipFill>
        <p:spPr>
          <a:xfrm>
            <a:off x="3346314" y="1650000"/>
            <a:ext cx="2612373" cy="1959280"/>
          </a:xfrm>
          <a:prstGeom prst="rect">
            <a:avLst/>
          </a:prstGeom>
        </p:spPr>
      </p:pic>
      <p:sp>
        <p:nvSpPr>
          <p:cNvPr id="5" name="TextBox 4"/>
          <p:cNvSpPr txBox="1"/>
          <p:nvPr/>
        </p:nvSpPr>
        <p:spPr>
          <a:xfrm>
            <a:off x="3346314" y="3655000"/>
            <a:ext cx="2612373" cy="182880"/>
          </a:xfrm>
          <a:prstGeom prst="rect">
            <a:avLst/>
          </a:prstGeom>
          <a:noFill/>
        </p:spPr>
        <p:txBody>
          <a:bodyPr wrap="square" lIns="0" tIns="0" rIns="0" bIns="0">
            <a:spAutoFit/>
          </a:bodyPr>
          <a:lstStyle/>
          <a:p>
            <a:pPr algn="ctr"/>
            <a:r>
              <a:rPr sz="1100" b="0" i="1">
                <a:solidFill>
                  <a:srgbClr val="6E6E6E"/>
                </a:solidFill>
                <a:latin typeface="Calibri"/>
              </a:rPr>
              <a:t>Norma de torque por controlador (v3)</a:t>
            </a:r>
          </a:p>
        </p:txBody>
      </p:sp>
      <p:pic>
        <p:nvPicPr>
          <p:cNvPr id="6" name="Picture 5" descr="v3_TorqueJunta1.png"/>
          <p:cNvPicPr>
            <a:picLocks noChangeAspect="1"/>
          </p:cNvPicPr>
          <p:nvPr/>
        </p:nvPicPr>
        <p:blipFill>
          <a:blip r:embed="rId4"/>
          <a:stretch>
            <a:fillRect/>
          </a:stretch>
        </p:blipFill>
        <p:spPr>
          <a:xfrm>
            <a:off x="6233007" y="1650000"/>
            <a:ext cx="2612373" cy="1959280"/>
          </a:xfrm>
          <a:prstGeom prst="rect">
            <a:avLst/>
          </a:prstGeom>
        </p:spPr>
      </p:pic>
      <p:sp>
        <p:nvSpPr>
          <p:cNvPr id="7" name="TextBox 6"/>
          <p:cNvSpPr txBox="1"/>
          <p:nvPr/>
        </p:nvSpPr>
        <p:spPr>
          <a:xfrm>
            <a:off x="6233007" y="3655000"/>
            <a:ext cx="2612373" cy="182880"/>
          </a:xfrm>
          <a:prstGeom prst="rect">
            <a:avLst/>
          </a:prstGeom>
          <a:noFill/>
        </p:spPr>
        <p:txBody>
          <a:bodyPr wrap="square" lIns="0" tIns="0" rIns="0" bIns="0">
            <a:spAutoFit/>
          </a:bodyPr>
          <a:lstStyle/>
          <a:p>
            <a:pPr algn="ctr"/>
            <a:r>
              <a:rPr sz="1100" b="0" i="1">
                <a:solidFill>
                  <a:srgbClr val="6E6E6E"/>
                </a:solidFill>
                <a:latin typeface="Calibri"/>
              </a:rPr>
              <a:t>Torque junta 1 (v3)</a:t>
            </a:r>
          </a:p>
        </p:txBody>
      </p:sp>
      <p:pic>
        <p:nvPicPr>
          <p:cNvPr id="8" name="Picture 7" descr="v3_TorqueJunta2.png"/>
          <p:cNvPicPr>
            <a:picLocks noChangeAspect="1"/>
          </p:cNvPicPr>
          <p:nvPr/>
        </p:nvPicPr>
        <p:blipFill>
          <a:blip r:embed="rId5"/>
          <a:stretch>
            <a:fillRect/>
          </a:stretch>
        </p:blipFill>
        <p:spPr>
          <a:xfrm>
            <a:off x="3346314" y="3920720"/>
            <a:ext cx="2612373" cy="1959280"/>
          </a:xfrm>
          <a:prstGeom prst="rect">
            <a:avLst/>
          </a:prstGeom>
        </p:spPr>
      </p:pic>
      <p:sp>
        <p:nvSpPr>
          <p:cNvPr id="9" name="TextBox 8"/>
          <p:cNvSpPr txBox="1"/>
          <p:nvPr/>
        </p:nvSpPr>
        <p:spPr>
          <a:xfrm>
            <a:off x="3346314" y="5925720"/>
            <a:ext cx="2612373" cy="182880"/>
          </a:xfrm>
          <a:prstGeom prst="rect">
            <a:avLst/>
          </a:prstGeom>
          <a:noFill/>
        </p:spPr>
        <p:txBody>
          <a:bodyPr wrap="square" lIns="0" tIns="0" rIns="0" bIns="0">
            <a:spAutoFit/>
          </a:bodyPr>
          <a:lstStyle/>
          <a:p>
            <a:pPr algn="ctr"/>
            <a:r>
              <a:rPr sz="1100" b="0" i="1">
                <a:solidFill>
                  <a:srgbClr val="6E6E6E"/>
                </a:solidFill>
                <a:latin typeface="Calibri"/>
              </a:rPr>
              <a:t>Torque junta 2 (v3)</a:t>
            </a:r>
          </a:p>
        </p:txBody>
      </p:sp>
      <p:pic>
        <p:nvPicPr>
          <p:cNvPr id="10" name="Picture 9" descr="v3_TorqueJunta3.png"/>
          <p:cNvPicPr>
            <a:picLocks noChangeAspect="1"/>
          </p:cNvPicPr>
          <p:nvPr/>
        </p:nvPicPr>
        <p:blipFill>
          <a:blip r:embed="rId6"/>
          <a:stretch>
            <a:fillRect/>
          </a:stretch>
        </p:blipFill>
        <p:spPr>
          <a:xfrm>
            <a:off x="6233007" y="3920720"/>
            <a:ext cx="2612373" cy="1959280"/>
          </a:xfrm>
          <a:prstGeom prst="rect">
            <a:avLst/>
          </a:prstGeom>
        </p:spPr>
      </p:pic>
      <p:sp>
        <p:nvSpPr>
          <p:cNvPr id="11" name="TextBox 10"/>
          <p:cNvSpPr txBox="1"/>
          <p:nvPr/>
        </p:nvSpPr>
        <p:spPr>
          <a:xfrm>
            <a:off x="6233007" y="5925720"/>
            <a:ext cx="2612373" cy="182880"/>
          </a:xfrm>
          <a:prstGeom prst="rect">
            <a:avLst/>
          </a:prstGeom>
          <a:noFill/>
        </p:spPr>
        <p:txBody>
          <a:bodyPr wrap="square" lIns="0" tIns="0" rIns="0" bIns="0">
            <a:spAutoFit/>
          </a:bodyPr>
          <a:lstStyle/>
          <a:p>
            <a:pPr algn="ctr"/>
            <a:r>
              <a:rPr sz="1100" b="0" i="1">
                <a:solidFill>
                  <a:srgbClr val="6E6E6E"/>
                </a:solidFill>
                <a:latin typeface="Calibri"/>
              </a:rPr>
              <a:t>Torque junta 3 (v3)</a:t>
            </a:r>
          </a:p>
        </p:txBody>
      </p:sp>
      <p:sp>
        <p:nvSpPr>
          <p:cNvPr id="12" name="TextBox 11"/>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Validación cruzada e independiente de Simulink, plataforma MATLAB pura.</a:t>
            </a:r>
          </a:p>
        </p:txBody>
      </p:sp>
      <p:sp>
        <p:nvSpPr>
          <p:cNvPr id="13" name="TextBox 12"/>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6008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286000"/>
            <a:ext cx="10058400" cy="457200"/>
          </a:xfrm>
          <a:prstGeom prst="rect">
            <a:avLst/>
          </a:prstGeom>
          <a:noFill/>
        </p:spPr>
        <p:txBody>
          <a:bodyPr wrap="square" lIns="0" tIns="0" rIns="0" bIns="0">
            <a:spAutoFit/>
          </a:bodyPr>
          <a:lstStyle/>
          <a:p>
            <a:r>
              <a:rPr sz="1500" b="1">
                <a:solidFill>
                  <a:srgbClr val="E8C8CB"/>
                </a:solidFill>
                <a:latin typeface="Calibri"/>
              </a:rPr>
              <a:t>BLOQUE 4</a:t>
            </a:r>
          </a:p>
        </p:txBody>
      </p:sp>
      <p:sp>
        <p:nvSpPr>
          <p:cNvPr id="4" name="TextBox 3"/>
          <p:cNvSpPr txBox="1"/>
          <p:nvPr/>
        </p:nvSpPr>
        <p:spPr>
          <a:xfrm>
            <a:off x="822960" y="2834640"/>
            <a:ext cx="10515600" cy="1188720"/>
          </a:xfrm>
          <a:prstGeom prst="rect">
            <a:avLst/>
          </a:prstGeom>
          <a:noFill/>
        </p:spPr>
        <p:txBody>
          <a:bodyPr wrap="square" lIns="0" tIns="0" rIns="0" bIns="0">
            <a:spAutoFit/>
          </a:bodyPr>
          <a:lstStyle/>
          <a:p>
            <a:r>
              <a:rPr sz="3400" b="1">
                <a:solidFill>
                  <a:srgbClr val="FFFFFF"/>
                </a:solidFill>
                <a:latin typeface="Cambria"/>
              </a:rPr>
              <a:t>Planeación autónoma y conclusiones</a:t>
            </a:r>
          </a:p>
        </p:txBody>
      </p:sp>
      <p:sp>
        <p:nvSpPr>
          <p:cNvPr id="5" name="TextBox 4"/>
          <p:cNvSpPr txBox="1"/>
          <p:nvPr/>
        </p:nvSpPr>
        <p:spPr>
          <a:xfrm>
            <a:off x="822960" y="4206240"/>
            <a:ext cx="10058400" cy="457200"/>
          </a:xfrm>
          <a:prstGeom prst="rect">
            <a:avLst/>
          </a:prstGeom>
          <a:noFill/>
        </p:spPr>
        <p:txBody>
          <a:bodyPr wrap="square" lIns="0" tIns="0" rIns="0" bIns="0">
            <a:spAutoFit/>
          </a:bodyPr>
          <a:lstStyle/>
          <a:p>
            <a:r>
              <a:rPr sz="1600" b="0">
                <a:solidFill>
                  <a:srgbClr val="F0D5D8"/>
                </a:solidFill>
                <a:latin typeface="Calibri"/>
              </a:rPr>
              <a:t>Expositor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marL="0" indent="0" algn="l">
              <a:buNone/>
            </a:pPr>
            <a:r>
              <a:rPr lang="en-US" sz="1100" b="1" kern="0" spc="300" dirty="0">
                <a:solidFill>
                  <a:srgbClr val="6E6E6E"/>
                </a:solidFill>
                <a:latin typeface="Calibri" pitchFamily="34" charset="0"/>
                <a:ea typeface="Calibri" pitchFamily="34" charset="-122"/>
                <a:cs typeface="Calibri" pitchFamily="34" charset="-120"/>
              </a:rPr>
              <a:t>4 · PLANEACIÓN AUTÓNOMA CON OBSTÁCULOS</a:t>
            </a:r>
            <a:endParaRPr lang="en-US" sz="1100" dirty="0"/>
          </a:p>
        </p:txBody>
      </p:sp>
      <p:sp>
        <p:nvSpPr>
          <p:cNvPr id="3" name="Text 1"/>
          <p:cNvSpPr/>
          <p:nvPr/>
        </p:nvSpPr>
        <p:spPr>
          <a:xfrm>
            <a:off x="548640" y="676656"/>
            <a:ext cx="11064240" cy="822960"/>
          </a:xfrm>
          <a:prstGeom prst="rect">
            <a:avLst/>
          </a:prstGeom>
          <a:noFill/>
          <a:ln/>
        </p:spPr>
        <p:txBody>
          <a:bodyPr wrap="square" lIns="0" tIns="0" rIns="0" bIns="0" rtlCol="0" anchor="t"/>
          <a:lstStyle/>
          <a:p>
            <a:pPr marL="0" indent="0" algn="l">
              <a:buNone/>
            </a:pPr>
            <a:r>
              <a:rPr lang="en-US" sz="2700" b="1" dirty="0">
                <a:solidFill>
                  <a:srgbClr val="990011"/>
                </a:solidFill>
                <a:latin typeface="Cambria" pitchFamily="34" charset="0"/>
                <a:ea typeface="Cambria" pitchFamily="34" charset="-122"/>
                <a:cs typeface="Cambria" pitchFamily="34" charset="-120"/>
              </a:rPr>
              <a:t>A*: una ruta libre de obstáculos → trayectoria articular</a:t>
            </a:r>
            <a:endParaRPr lang="en-US" sz="2700" dirty="0"/>
          </a:p>
        </p:txBody>
      </p:sp>
      <p:sp>
        <p:nvSpPr>
          <p:cNvPr id="4" name="Shape 2"/>
          <p:cNvSpPr/>
          <p:nvPr/>
        </p:nvSpPr>
        <p:spPr>
          <a:xfrm>
            <a:off x="548640" y="1691640"/>
            <a:ext cx="5852160" cy="4389120"/>
          </a:xfrm>
          <a:prstGeom prst="roundRect">
            <a:avLst>
              <a:gd name="adj" fmla="val 1250"/>
            </a:avLst>
          </a:prstGeom>
          <a:solidFill>
            <a:srgbClr val="FCF6F5"/>
          </a:solidFill>
          <a:ln w="12700">
            <a:solidFill>
              <a:srgbClr val="D9C7C6"/>
            </a:solidFill>
            <a:prstDash val="solid"/>
          </a:ln>
        </p:spPr>
        <p:txBody>
          <a:bodyPr/>
          <a:lstStyle/>
          <a:p>
            <a:endParaRPr/>
          </a:p>
        </p:txBody>
      </p:sp>
      <p:pic>
        <p:nvPicPr>
          <p:cNvPr id="5" name="Image 0" descr="/tmp/deck/assets/astar.png"/>
          <p:cNvPicPr>
            <a:picLocks noChangeAspect="1"/>
          </p:cNvPicPr>
          <p:nvPr/>
        </p:nvPicPr>
        <p:blipFill>
          <a:blip r:embed="rId3"/>
          <a:srcRect/>
          <a:stretch/>
        </p:blipFill>
        <p:spPr>
          <a:xfrm>
            <a:off x="685800" y="1828800"/>
            <a:ext cx="5577840" cy="4114800"/>
          </a:xfrm>
          <a:prstGeom prst="rect">
            <a:avLst/>
          </a:prstGeom>
        </p:spPr>
      </p:pic>
      <p:sp>
        <p:nvSpPr>
          <p:cNvPr id="6" name="Shape 3"/>
          <p:cNvSpPr/>
          <p:nvPr/>
        </p:nvSpPr>
        <p:spPr>
          <a:xfrm>
            <a:off x="6675120" y="1828800"/>
            <a:ext cx="502920" cy="502920"/>
          </a:xfrm>
          <a:prstGeom prst="roundRect">
            <a:avLst>
              <a:gd name="adj" fmla="val 10909"/>
            </a:avLst>
          </a:prstGeom>
          <a:solidFill>
            <a:srgbClr val="990011"/>
          </a:solidFill>
          <a:ln/>
        </p:spPr>
        <p:txBody>
          <a:bodyPr/>
          <a:lstStyle/>
          <a:p>
            <a:endParaRPr/>
          </a:p>
        </p:txBody>
      </p:sp>
      <p:sp>
        <p:nvSpPr>
          <p:cNvPr id="7" name="Text 4"/>
          <p:cNvSpPr/>
          <p:nvPr/>
        </p:nvSpPr>
        <p:spPr>
          <a:xfrm>
            <a:off x="6675120" y="182880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p:nvPr/>
        </p:nvSpPr>
        <p:spPr>
          <a:xfrm>
            <a:off x="7315200" y="1828800"/>
            <a:ext cx="4480560" cy="5486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Mapa cartesiano XZ con 2 obstáculos circulares</a:t>
            </a:r>
            <a:endParaRPr lang="en-US" sz="1300" dirty="0"/>
          </a:p>
        </p:txBody>
      </p:sp>
      <p:sp>
        <p:nvSpPr>
          <p:cNvPr id="9" name="Shape 6"/>
          <p:cNvSpPr/>
          <p:nvPr/>
        </p:nvSpPr>
        <p:spPr>
          <a:xfrm>
            <a:off x="6675120" y="2670048"/>
            <a:ext cx="502920" cy="502920"/>
          </a:xfrm>
          <a:prstGeom prst="roundRect">
            <a:avLst>
              <a:gd name="adj" fmla="val 10909"/>
            </a:avLst>
          </a:prstGeom>
          <a:solidFill>
            <a:srgbClr val="990011"/>
          </a:solidFill>
          <a:ln/>
        </p:spPr>
        <p:txBody>
          <a:bodyPr/>
          <a:lstStyle/>
          <a:p>
            <a:endParaRPr/>
          </a:p>
        </p:txBody>
      </p:sp>
      <p:sp>
        <p:nvSpPr>
          <p:cNvPr id="10" name="Text 7"/>
          <p:cNvSpPr/>
          <p:nvPr/>
        </p:nvSpPr>
        <p:spPr>
          <a:xfrm>
            <a:off x="6675120" y="2670048"/>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p:nvPr/>
        </p:nvSpPr>
        <p:spPr>
          <a:xfrm>
            <a:off x="7315200" y="2670048"/>
            <a:ext cx="4480560" cy="5486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A* (8 vecinos) → ruta óptima libre de colisión</a:t>
            </a:r>
            <a:endParaRPr lang="en-US" sz="1300" dirty="0"/>
          </a:p>
        </p:txBody>
      </p:sp>
      <p:sp>
        <p:nvSpPr>
          <p:cNvPr id="12" name="Shape 9"/>
          <p:cNvSpPr/>
          <p:nvPr/>
        </p:nvSpPr>
        <p:spPr>
          <a:xfrm>
            <a:off x="6675120" y="3511296"/>
            <a:ext cx="502920" cy="502920"/>
          </a:xfrm>
          <a:prstGeom prst="roundRect">
            <a:avLst>
              <a:gd name="adj" fmla="val 10909"/>
            </a:avLst>
          </a:prstGeom>
          <a:solidFill>
            <a:srgbClr val="990011"/>
          </a:solidFill>
          <a:ln/>
        </p:spPr>
        <p:txBody>
          <a:bodyPr/>
          <a:lstStyle/>
          <a:p>
            <a:endParaRPr/>
          </a:p>
        </p:txBody>
      </p:sp>
      <p:sp>
        <p:nvSpPr>
          <p:cNvPr id="13" name="Text 10"/>
          <p:cNvSpPr/>
          <p:nvPr/>
        </p:nvSpPr>
        <p:spPr>
          <a:xfrm>
            <a:off x="6675120" y="3511296"/>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1"/>
          <p:cNvSpPr/>
          <p:nvPr/>
        </p:nvSpPr>
        <p:spPr>
          <a:xfrm>
            <a:off x="7315200" y="3511296"/>
            <a:ext cx="4480560" cy="5486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13 waypoints, todos alcanzables por cinemática inversa</a:t>
            </a:r>
            <a:endParaRPr lang="en-US" sz="1300" dirty="0"/>
          </a:p>
        </p:txBody>
      </p:sp>
      <p:sp>
        <p:nvSpPr>
          <p:cNvPr id="15" name="Shape 12"/>
          <p:cNvSpPr/>
          <p:nvPr/>
        </p:nvSpPr>
        <p:spPr>
          <a:xfrm>
            <a:off x="6675120" y="4352544"/>
            <a:ext cx="502920" cy="502920"/>
          </a:xfrm>
          <a:prstGeom prst="roundRect">
            <a:avLst>
              <a:gd name="adj" fmla="val 10909"/>
            </a:avLst>
          </a:prstGeom>
          <a:solidFill>
            <a:srgbClr val="990011"/>
          </a:solidFill>
          <a:ln/>
        </p:spPr>
        <p:txBody>
          <a:bodyPr/>
          <a:lstStyle/>
          <a:p>
            <a:endParaRPr/>
          </a:p>
        </p:txBody>
      </p:sp>
      <p:sp>
        <p:nvSpPr>
          <p:cNvPr id="16" name="Text 13"/>
          <p:cNvSpPr/>
          <p:nvPr/>
        </p:nvSpPr>
        <p:spPr>
          <a:xfrm>
            <a:off x="6675120" y="4352544"/>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Text 14"/>
          <p:cNvSpPr/>
          <p:nvPr/>
        </p:nvSpPr>
        <p:spPr>
          <a:xfrm>
            <a:off x="7315200" y="4352544"/>
            <a:ext cx="4480560" cy="5486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Suavizado (pchip) → trayectoria articular qd(t)</a:t>
            </a:r>
            <a:endParaRPr lang="en-US" sz="1300" dirty="0"/>
          </a:p>
        </p:txBody>
      </p:sp>
      <p:sp>
        <p:nvSpPr>
          <p:cNvPr id="18" name="Shape 15"/>
          <p:cNvSpPr/>
          <p:nvPr/>
        </p:nvSpPr>
        <p:spPr>
          <a:xfrm>
            <a:off x="6675120" y="5193792"/>
            <a:ext cx="502920" cy="502920"/>
          </a:xfrm>
          <a:prstGeom prst="roundRect">
            <a:avLst>
              <a:gd name="adj" fmla="val 10909"/>
            </a:avLst>
          </a:prstGeom>
          <a:solidFill>
            <a:srgbClr val="990011"/>
          </a:solidFill>
          <a:ln/>
        </p:spPr>
        <p:txBody>
          <a:bodyPr/>
          <a:lstStyle/>
          <a:p>
            <a:endParaRPr/>
          </a:p>
        </p:txBody>
      </p:sp>
      <p:sp>
        <p:nvSpPr>
          <p:cNvPr id="19" name="Text 16"/>
          <p:cNvSpPr/>
          <p:nvPr/>
        </p:nvSpPr>
        <p:spPr>
          <a:xfrm>
            <a:off x="6675120" y="5193792"/>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0" name="Text 17"/>
          <p:cNvSpPr/>
          <p:nvPr/>
        </p:nvSpPr>
        <p:spPr>
          <a:xfrm>
            <a:off x="7315200" y="5193792"/>
            <a:ext cx="4480560" cy="5486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Los 3 controladores ya vistos siguen la trayectoria qd(t) que genera A*</a:t>
            </a:r>
            <a:endParaRPr lang="en-US" sz="1300" dirty="0"/>
          </a:p>
        </p:txBody>
      </p:sp>
      <p:sp>
        <p:nvSpPr>
          <p:cNvPr id="21" name="Text 18"/>
          <p:cNvSpPr/>
          <p:nvPr/>
        </p:nvSpPr>
        <p:spPr>
          <a:xfrm>
            <a:off x="11612880" y="6455664"/>
            <a:ext cx="457200" cy="274320"/>
          </a:xfrm>
          <a:prstGeom prst="rect">
            <a:avLst/>
          </a:prstGeom>
          <a:noFill/>
          <a:ln/>
        </p:spPr>
        <p:txBody>
          <a:bodyPr wrap="square" lIns="0" tIns="0" rIns="0" bIns="0" rtlCol="0" anchor="ctr"/>
          <a:lstStyle/>
          <a:p>
            <a:pPr marL="0" indent="0" algn="r">
              <a:buNone/>
            </a:pPr>
            <a:r>
              <a:rPr lang="en-US" sz="1000" dirty="0">
                <a:solidFill>
                  <a:srgbClr val="6E6E6E"/>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4 · PLANEACIÓN AUTÓNOMA (v4) · DETALLE</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Seguimiento articular con la ruta A* — v4</a:t>
            </a:r>
          </a:p>
        </p:txBody>
      </p:sp>
      <p:pic>
        <p:nvPicPr>
          <p:cNvPr id="4" name="Picture 3" descr="v4_SeguimientoArticularQ1.png"/>
          <p:cNvPicPr>
            <a:picLocks noChangeAspect="1"/>
          </p:cNvPicPr>
          <p:nvPr/>
        </p:nvPicPr>
        <p:blipFill>
          <a:blip r:embed="rId3"/>
          <a:stretch>
            <a:fillRect/>
          </a:stretch>
        </p:blipFill>
        <p:spPr>
          <a:xfrm>
            <a:off x="548640" y="2000000"/>
            <a:ext cx="3576218" cy="1614066"/>
          </a:xfrm>
          <a:prstGeom prst="rect">
            <a:avLst/>
          </a:prstGeom>
        </p:spPr>
      </p:pic>
      <p:sp>
        <p:nvSpPr>
          <p:cNvPr id="5" name="TextBox 4"/>
          <p:cNvSpPr txBox="1"/>
          <p:nvPr/>
        </p:nvSpPr>
        <p:spPr>
          <a:xfrm>
            <a:off x="548640" y="3659786"/>
            <a:ext cx="3576218" cy="274320"/>
          </a:xfrm>
          <a:prstGeom prst="rect">
            <a:avLst/>
          </a:prstGeom>
          <a:noFill/>
        </p:spPr>
        <p:txBody>
          <a:bodyPr wrap="square" lIns="0" tIns="0" rIns="0" bIns="0">
            <a:spAutoFit/>
          </a:bodyPr>
          <a:lstStyle/>
          <a:p>
            <a:pPr algn="ctr"/>
            <a:r>
              <a:rPr sz="1100" b="0" i="1">
                <a:solidFill>
                  <a:srgbClr val="6E6E6E"/>
                </a:solidFill>
                <a:latin typeface="Calibri"/>
              </a:rPr>
              <a:t>Seguimiento q1 (v4)</a:t>
            </a:r>
          </a:p>
        </p:txBody>
      </p:sp>
      <p:pic>
        <p:nvPicPr>
          <p:cNvPr id="6" name="Picture 5" descr="v4_SeguimientoArticularQ2.png"/>
          <p:cNvPicPr>
            <a:picLocks noChangeAspect="1"/>
          </p:cNvPicPr>
          <p:nvPr/>
        </p:nvPicPr>
        <p:blipFill>
          <a:blip r:embed="rId4"/>
          <a:stretch>
            <a:fillRect/>
          </a:stretch>
        </p:blipFill>
        <p:spPr>
          <a:xfrm>
            <a:off x="4307738" y="2000000"/>
            <a:ext cx="3576218" cy="1614066"/>
          </a:xfrm>
          <a:prstGeom prst="rect">
            <a:avLst/>
          </a:prstGeom>
        </p:spPr>
      </p:pic>
      <p:sp>
        <p:nvSpPr>
          <p:cNvPr id="7" name="TextBox 6"/>
          <p:cNvSpPr txBox="1"/>
          <p:nvPr/>
        </p:nvSpPr>
        <p:spPr>
          <a:xfrm>
            <a:off x="4307738" y="3659786"/>
            <a:ext cx="3576218" cy="274320"/>
          </a:xfrm>
          <a:prstGeom prst="rect">
            <a:avLst/>
          </a:prstGeom>
          <a:noFill/>
        </p:spPr>
        <p:txBody>
          <a:bodyPr wrap="square" lIns="0" tIns="0" rIns="0" bIns="0">
            <a:spAutoFit/>
          </a:bodyPr>
          <a:lstStyle/>
          <a:p>
            <a:pPr algn="ctr"/>
            <a:r>
              <a:rPr sz="1100" b="0" i="1">
                <a:solidFill>
                  <a:srgbClr val="6E6E6E"/>
                </a:solidFill>
                <a:latin typeface="Calibri"/>
              </a:rPr>
              <a:t>Seguimiento q2 (v4)</a:t>
            </a:r>
          </a:p>
        </p:txBody>
      </p:sp>
      <p:pic>
        <p:nvPicPr>
          <p:cNvPr id="8" name="Picture 7" descr="v4_SeguimientoArticularQ3.png"/>
          <p:cNvPicPr>
            <a:picLocks noChangeAspect="1"/>
          </p:cNvPicPr>
          <p:nvPr/>
        </p:nvPicPr>
        <p:blipFill>
          <a:blip r:embed="rId5"/>
          <a:stretch>
            <a:fillRect/>
          </a:stretch>
        </p:blipFill>
        <p:spPr>
          <a:xfrm>
            <a:off x="8066836" y="2000000"/>
            <a:ext cx="3576218" cy="1614066"/>
          </a:xfrm>
          <a:prstGeom prst="rect">
            <a:avLst/>
          </a:prstGeom>
        </p:spPr>
      </p:pic>
      <p:sp>
        <p:nvSpPr>
          <p:cNvPr id="9" name="TextBox 8"/>
          <p:cNvSpPr txBox="1"/>
          <p:nvPr/>
        </p:nvSpPr>
        <p:spPr>
          <a:xfrm>
            <a:off x="8066836" y="3659786"/>
            <a:ext cx="3576218" cy="274320"/>
          </a:xfrm>
          <a:prstGeom prst="rect">
            <a:avLst/>
          </a:prstGeom>
          <a:noFill/>
        </p:spPr>
        <p:txBody>
          <a:bodyPr wrap="square" lIns="0" tIns="0" rIns="0" bIns="0">
            <a:spAutoFit/>
          </a:bodyPr>
          <a:lstStyle/>
          <a:p>
            <a:pPr algn="ctr"/>
            <a:r>
              <a:rPr sz="1100" b="0" i="1">
                <a:solidFill>
                  <a:srgbClr val="6E6E6E"/>
                </a:solidFill>
                <a:latin typeface="Calibri"/>
              </a:rPr>
              <a:t>Seguimiento q3 (v4)</a:t>
            </a:r>
          </a:p>
        </p:txBody>
      </p:sp>
      <p:sp>
        <p:nvSpPr>
          <p:cNvPr id="10" name="TextBox 9"/>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Los mismos tres controladores del Bloque 3, siguiendo ahora la trayectoria qd(t) generada por A*.</a:t>
            </a:r>
          </a:p>
        </p:txBody>
      </p:sp>
      <p:sp>
        <p:nvSpPr>
          <p:cNvPr id="11" name="TextBox 10"/>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4 · PLANEACIÓN AUTÓNOMA (v4) · DETALLE</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Error articular y trayectoria cartesiana — v4</a:t>
            </a:r>
          </a:p>
        </p:txBody>
      </p:sp>
      <p:pic>
        <p:nvPicPr>
          <p:cNvPr id="4" name="Picture 3" descr="v4_ComparacionDeErrorArticular.png"/>
          <p:cNvPicPr>
            <a:picLocks noChangeAspect="1"/>
          </p:cNvPicPr>
          <p:nvPr/>
        </p:nvPicPr>
        <p:blipFill>
          <a:blip r:embed="rId3"/>
          <a:stretch>
            <a:fillRect/>
          </a:stretch>
        </p:blipFill>
        <p:spPr>
          <a:xfrm>
            <a:off x="548640" y="1900000"/>
            <a:ext cx="5410047" cy="2441735"/>
          </a:xfrm>
          <a:prstGeom prst="rect">
            <a:avLst/>
          </a:prstGeom>
        </p:spPr>
      </p:pic>
      <p:sp>
        <p:nvSpPr>
          <p:cNvPr id="5" name="TextBox 4"/>
          <p:cNvSpPr txBox="1"/>
          <p:nvPr/>
        </p:nvSpPr>
        <p:spPr>
          <a:xfrm>
            <a:off x="548640" y="4387455"/>
            <a:ext cx="5410047" cy="274320"/>
          </a:xfrm>
          <a:prstGeom prst="rect">
            <a:avLst/>
          </a:prstGeom>
          <a:noFill/>
        </p:spPr>
        <p:txBody>
          <a:bodyPr wrap="square" lIns="0" tIns="0" rIns="0" bIns="0">
            <a:spAutoFit/>
          </a:bodyPr>
          <a:lstStyle/>
          <a:p>
            <a:pPr algn="ctr"/>
            <a:r>
              <a:rPr sz="1100" b="0" i="1">
                <a:solidFill>
                  <a:srgbClr val="6E6E6E"/>
                </a:solidFill>
                <a:latin typeface="Calibri"/>
              </a:rPr>
              <a:t>Comparación de error articular (v4)</a:t>
            </a:r>
          </a:p>
        </p:txBody>
      </p:sp>
      <p:pic>
        <p:nvPicPr>
          <p:cNvPr id="6" name="Picture 5" descr="v4_TrayectoriaCartesianaDelEfectorFinal.png"/>
          <p:cNvPicPr>
            <a:picLocks noChangeAspect="1"/>
          </p:cNvPicPr>
          <p:nvPr/>
        </p:nvPicPr>
        <p:blipFill>
          <a:blip r:embed="rId4"/>
          <a:stretch>
            <a:fillRect/>
          </a:stretch>
        </p:blipFill>
        <p:spPr>
          <a:xfrm>
            <a:off x="6233007" y="1900000"/>
            <a:ext cx="5410047" cy="2441735"/>
          </a:xfrm>
          <a:prstGeom prst="rect">
            <a:avLst/>
          </a:prstGeom>
        </p:spPr>
      </p:pic>
      <p:sp>
        <p:nvSpPr>
          <p:cNvPr id="7" name="TextBox 6"/>
          <p:cNvSpPr txBox="1"/>
          <p:nvPr/>
        </p:nvSpPr>
        <p:spPr>
          <a:xfrm>
            <a:off x="6233007" y="4387455"/>
            <a:ext cx="5410047" cy="274320"/>
          </a:xfrm>
          <a:prstGeom prst="rect">
            <a:avLst/>
          </a:prstGeom>
          <a:noFill/>
        </p:spPr>
        <p:txBody>
          <a:bodyPr wrap="square" lIns="0" tIns="0" rIns="0" bIns="0">
            <a:spAutoFit/>
          </a:bodyPr>
          <a:lstStyle/>
          <a:p>
            <a:pPr algn="ctr"/>
            <a:r>
              <a:rPr sz="1100" b="0" i="1">
                <a:solidFill>
                  <a:srgbClr val="6E6E6E"/>
                </a:solidFill>
                <a:latin typeface="Calibri"/>
              </a:rPr>
              <a:t>Trayectoria cartesiana del efector final (v4)</a:t>
            </a:r>
          </a:p>
        </p:txBody>
      </p:sp>
      <p:sp>
        <p:nvSpPr>
          <p:cNvPr id="8" name="TextBox 7"/>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El par calculado mantiene 0.70 s de estabilización también sobre la ruta con obstáculos.</a:t>
            </a:r>
          </a:p>
        </p:txBody>
      </p:sp>
      <p:sp>
        <p:nvSpPr>
          <p:cNvPr id="9" name="TextBox 8"/>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274320"/>
          </a:xfrm>
          <a:prstGeom prst="rect">
            <a:avLst/>
          </a:prstGeom>
          <a:noFill/>
        </p:spPr>
        <p:txBody>
          <a:bodyPr wrap="square" lIns="0" tIns="0" rIns="0" bIns="0">
            <a:spAutoFit/>
          </a:bodyPr>
          <a:lstStyle/>
          <a:p>
            <a:pPr algn="l"/>
            <a:r>
              <a:rPr sz="1100" b="1" i="0">
                <a:solidFill>
                  <a:srgbClr val="6E6E6E"/>
                </a:solidFill>
                <a:latin typeface="Calibri"/>
              </a:rPr>
              <a:t>4 · PLANEACIÓN AUTÓNOMA (v4) · DETALLE</a:t>
            </a:r>
          </a:p>
        </p:txBody>
      </p:sp>
      <p:sp>
        <p:nvSpPr>
          <p:cNvPr id="3" name="TextBox 2"/>
          <p:cNvSpPr txBox="1"/>
          <p:nvPr/>
        </p:nvSpPr>
        <p:spPr>
          <a:xfrm>
            <a:off x="548640" y="676656"/>
            <a:ext cx="11064240" cy="822960"/>
          </a:xfrm>
          <a:prstGeom prst="rect">
            <a:avLst/>
          </a:prstGeom>
          <a:noFill/>
        </p:spPr>
        <p:txBody>
          <a:bodyPr wrap="square" lIns="0" tIns="0" rIns="0" bIns="0">
            <a:spAutoFit/>
          </a:bodyPr>
          <a:lstStyle/>
          <a:p>
            <a:pPr algn="l"/>
            <a:r>
              <a:rPr sz="2700" b="1" i="0">
                <a:solidFill>
                  <a:srgbClr val="990011"/>
                </a:solidFill>
                <a:latin typeface="Cambria"/>
              </a:rPr>
              <a:t>Torque por controlador y por articulación — v4</a:t>
            </a:r>
          </a:p>
        </p:txBody>
      </p:sp>
      <p:pic>
        <p:nvPicPr>
          <p:cNvPr id="4" name="Picture 3" descr="v4_NormaDeTorque.png"/>
          <p:cNvPicPr>
            <a:picLocks noChangeAspect="1"/>
          </p:cNvPicPr>
          <p:nvPr/>
        </p:nvPicPr>
        <p:blipFill>
          <a:blip r:embed="rId3"/>
          <a:stretch>
            <a:fillRect/>
          </a:stretch>
        </p:blipFill>
        <p:spPr>
          <a:xfrm>
            <a:off x="3346314" y="1650000"/>
            <a:ext cx="2612373" cy="1959280"/>
          </a:xfrm>
          <a:prstGeom prst="rect">
            <a:avLst/>
          </a:prstGeom>
        </p:spPr>
      </p:pic>
      <p:sp>
        <p:nvSpPr>
          <p:cNvPr id="5" name="TextBox 4"/>
          <p:cNvSpPr txBox="1"/>
          <p:nvPr/>
        </p:nvSpPr>
        <p:spPr>
          <a:xfrm>
            <a:off x="3346314" y="3655000"/>
            <a:ext cx="2612373" cy="182880"/>
          </a:xfrm>
          <a:prstGeom prst="rect">
            <a:avLst/>
          </a:prstGeom>
          <a:noFill/>
        </p:spPr>
        <p:txBody>
          <a:bodyPr wrap="square" lIns="0" tIns="0" rIns="0" bIns="0">
            <a:spAutoFit/>
          </a:bodyPr>
          <a:lstStyle/>
          <a:p>
            <a:pPr algn="ctr"/>
            <a:r>
              <a:rPr sz="1100" b="0" i="1">
                <a:solidFill>
                  <a:srgbClr val="6E6E6E"/>
                </a:solidFill>
                <a:latin typeface="Calibri"/>
              </a:rPr>
              <a:t>Norma de torque por controlador (v4)</a:t>
            </a:r>
          </a:p>
        </p:txBody>
      </p:sp>
      <p:pic>
        <p:nvPicPr>
          <p:cNvPr id="6" name="Picture 5" descr="v4_TorqueJunta1.png"/>
          <p:cNvPicPr>
            <a:picLocks noChangeAspect="1"/>
          </p:cNvPicPr>
          <p:nvPr/>
        </p:nvPicPr>
        <p:blipFill>
          <a:blip r:embed="rId4"/>
          <a:stretch>
            <a:fillRect/>
          </a:stretch>
        </p:blipFill>
        <p:spPr>
          <a:xfrm>
            <a:off x="6233007" y="1650000"/>
            <a:ext cx="2612373" cy="1959280"/>
          </a:xfrm>
          <a:prstGeom prst="rect">
            <a:avLst/>
          </a:prstGeom>
        </p:spPr>
      </p:pic>
      <p:sp>
        <p:nvSpPr>
          <p:cNvPr id="7" name="TextBox 6"/>
          <p:cNvSpPr txBox="1"/>
          <p:nvPr/>
        </p:nvSpPr>
        <p:spPr>
          <a:xfrm>
            <a:off x="6233007" y="3655000"/>
            <a:ext cx="2612373" cy="182880"/>
          </a:xfrm>
          <a:prstGeom prst="rect">
            <a:avLst/>
          </a:prstGeom>
          <a:noFill/>
        </p:spPr>
        <p:txBody>
          <a:bodyPr wrap="square" lIns="0" tIns="0" rIns="0" bIns="0">
            <a:spAutoFit/>
          </a:bodyPr>
          <a:lstStyle/>
          <a:p>
            <a:pPr algn="ctr"/>
            <a:r>
              <a:rPr sz="1100" b="0" i="1">
                <a:solidFill>
                  <a:srgbClr val="6E6E6E"/>
                </a:solidFill>
                <a:latin typeface="Calibri"/>
              </a:rPr>
              <a:t>Torque junta 1 (v4)</a:t>
            </a:r>
          </a:p>
        </p:txBody>
      </p:sp>
      <p:pic>
        <p:nvPicPr>
          <p:cNvPr id="8" name="Picture 7" descr="v4_TorqueJunta2.png"/>
          <p:cNvPicPr>
            <a:picLocks noChangeAspect="1"/>
          </p:cNvPicPr>
          <p:nvPr/>
        </p:nvPicPr>
        <p:blipFill>
          <a:blip r:embed="rId5"/>
          <a:stretch>
            <a:fillRect/>
          </a:stretch>
        </p:blipFill>
        <p:spPr>
          <a:xfrm>
            <a:off x="3346314" y="3920720"/>
            <a:ext cx="2612373" cy="1959280"/>
          </a:xfrm>
          <a:prstGeom prst="rect">
            <a:avLst/>
          </a:prstGeom>
        </p:spPr>
      </p:pic>
      <p:sp>
        <p:nvSpPr>
          <p:cNvPr id="9" name="TextBox 8"/>
          <p:cNvSpPr txBox="1"/>
          <p:nvPr/>
        </p:nvSpPr>
        <p:spPr>
          <a:xfrm>
            <a:off x="3346314" y="5925720"/>
            <a:ext cx="2612373" cy="182880"/>
          </a:xfrm>
          <a:prstGeom prst="rect">
            <a:avLst/>
          </a:prstGeom>
          <a:noFill/>
        </p:spPr>
        <p:txBody>
          <a:bodyPr wrap="square" lIns="0" tIns="0" rIns="0" bIns="0">
            <a:spAutoFit/>
          </a:bodyPr>
          <a:lstStyle/>
          <a:p>
            <a:pPr algn="ctr"/>
            <a:r>
              <a:rPr sz="1100" b="0" i="1">
                <a:solidFill>
                  <a:srgbClr val="6E6E6E"/>
                </a:solidFill>
                <a:latin typeface="Calibri"/>
              </a:rPr>
              <a:t>Torque junta 2 (v4)</a:t>
            </a:r>
          </a:p>
        </p:txBody>
      </p:sp>
      <p:pic>
        <p:nvPicPr>
          <p:cNvPr id="10" name="Picture 9" descr="v4_TorqueJunta3.png"/>
          <p:cNvPicPr>
            <a:picLocks noChangeAspect="1"/>
          </p:cNvPicPr>
          <p:nvPr/>
        </p:nvPicPr>
        <p:blipFill>
          <a:blip r:embed="rId6"/>
          <a:stretch>
            <a:fillRect/>
          </a:stretch>
        </p:blipFill>
        <p:spPr>
          <a:xfrm>
            <a:off x="6233007" y="3920720"/>
            <a:ext cx="2612373" cy="1959280"/>
          </a:xfrm>
          <a:prstGeom prst="rect">
            <a:avLst/>
          </a:prstGeom>
        </p:spPr>
      </p:pic>
      <p:sp>
        <p:nvSpPr>
          <p:cNvPr id="11" name="TextBox 10"/>
          <p:cNvSpPr txBox="1"/>
          <p:nvPr/>
        </p:nvSpPr>
        <p:spPr>
          <a:xfrm>
            <a:off x="6233007" y="5925720"/>
            <a:ext cx="2612373" cy="182880"/>
          </a:xfrm>
          <a:prstGeom prst="rect">
            <a:avLst/>
          </a:prstGeom>
          <a:noFill/>
        </p:spPr>
        <p:txBody>
          <a:bodyPr wrap="square" lIns="0" tIns="0" rIns="0" bIns="0">
            <a:spAutoFit/>
          </a:bodyPr>
          <a:lstStyle/>
          <a:p>
            <a:pPr algn="ctr"/>
            <a:r>
              <a:rPr sz="1100" b="0" i="1">
                <a:solidFill>
                  <a:srgbClr val="6E6E6E"/>
                </a:solidFill>
                <a:latin typeface="Calibri"/>
              </a:rPr>
              <a:t>Torque junta 3 (v4)</a:t>
            </a:r>
          </a:p>
        </p:txBody>
      </p:sp>
      <p:sp>
        <p:nvSpPr>
          <p:cNvPr id="12" name="TextBox 11"/>
          <p:cNvSpPr txBox="1"/>
          <p:nvPr/>
        </p:nvSpPr>
        <p:spPr>
          <a:xfrm>
            <a:off x="548640" y="6263640"/>
            <a:ext cx="11064240" cy="274320"/>
          </a:xfrm>
          <a:prstGeom prst="rect">
            <a:avLst/>
          </a:prstGeom>
          <a:noFill/>
        </p:spPr>
        <p:txBody>
          <a:bodyPr wrap="square" lIns="0" tIns="0" rIns="0" bIns="0">
            <a:spAutoFit/>
          </a:bodyPr>
          <a:lstStyle/>
          <a:p>
            <a:pPr algn="l"/>
            <a:r>
              <a:rPr sz="1100" b="0" i="0">
                <a:solidFill>
                  <a:srgbClr val="6E6E6E"/>
                </a:solidFill>
                <a:latin typeface="Calibri"/>
              </a:rPr>
              <a:t>Torque máximo notablemente menor del par calculado (4.27 N·m) por la trayectoria A* más suave.</a:t>
            </a:r>
          </a:p>
        </p:txBody>
      </p:sp>
      <p:sp>
        <p:nvSpPr>
          <p:cNvPr id="13" name="TextBox 12"/>
          <p:cNvSpPr txBox="1"/>
          <p:nvPr/>
        </p:nvSpPr>
        <p:spPr>
          <a:xfrm>
            <a:off x="11612880" y="6455664"/>
            <a:ext cx="457200" cy="274320"/>
          </a:xfrm>
          <a:prstGeom prst="rect">
            <a:avLst/>
          </a:prstGeom>
          <a:noFill/>
        </p:spPr>
        <p:txBody>
          <a:bodyPr wrap="square" lIns="0" tIns="0" rIns="0" bIns="0">
            <a:spAutoFit/>
          </a:bodyPr>
          <a:lstStyle/>
          <a:p>
            <a:pPr algn="l"/>
            <a:r>
              <a:rPr sz="1000" b="0" i="0">
                <a:solidFill>
                  <a:srgbClr val="6E6E6E"/>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99001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600810"/>
          </a:solidFill>
          <a:ln/>
        </p:spPr>
        <p:txBody>
          <a:bodyPr/>
          <a:lstStyle/>
          <a:p>
            <a:endParaRPr/>
          </a:p>
        </p:txBody>
      </p:sp>
      <p:sp>
        <p:nvSpPr>
          <p:cNvPr id="3" name="Text 1"/>
          <p:cNvSpPr/>
          <p:nvPr/>
        </p:nvSpPr>
        <p:spPr>
          <a:xfrm>
            <a:off x="822960" y="640080"/>
            <a:ext cx="10058400" cy="365760"/>
          </a:xfrm>
          <a:prstGeom prst="rect">
            <a:avLst/>
          </a:prstGeom>
          <a:noFill/>
          <a:ln/>
        </p:spPr>
        <p:txBody>
          <a:bodyPr wrap="square" rtlCol="0" anchor="ctr"/>
          <a:lstStyle/>
          <a:p>
            <a:pPr marL="0" indent="0">
              <a:buNone/>
            </a:pPr>
            <a:r>
              <a:rPr lang="en-US" sz="1300" b="1" kern="0" spc="400" dirty="0">
                <a:solidFill>
                  <a:srgbClr val="E8C8CB"/>
                </a:solidFill>
                <a:latin typeface="Calibri" pitchFamily="34" charset="0"/>
                <a:ea typeface="Calibri" pitchFamily="34" charset="-122"/>
                <a:cs typeface="Calibri" pitchFamily="34" charset="-120"/>
              </a:rPr>
              <a:t>CONCLUSIONES Y CIERRE</a:t>
            </a:r>
            <a:endParaRPr lang="en-US" sz="1300" dirty="0"/>
          </a:p>
        </p:txBody>
      </p:sp>
      <p:sp>
        <p:nvSpPr>
          <p:cNvPr id="4" name="Text 2"/>
          <p:cNvSpPr/>
          <p:nvPr/>
        </p:nvSpPr>
        <p:spPr>
          <a:xfrm>
            <a:off x="822960" y="1051560"/>
            <a:ext cx="7498080" cy="10972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De la cinemática al control con sustento matemático completo</a:t>
            </a:r>
            <a:endParaRPr lang="en-US" sz="2600" dirty="0"/>
          </a:p>
        </p:txBody>
      </p:sp>
      <p:sp>
        <p:nvSpPr>
          <p:cNvPr id="5" name="Text 3"/>
          <p:cNvSpPr/>
          <p:nvPr/>
        </p:nvSpPr>
        <p:spPr>
          <a:xfrm>
            <a:off x="822960" y="2331720"/>
            <a:ext cx="457200" cy="548640"/>
          </a:xfrm>
          <a:prstGeom prst="rect">
            <a:avLst/>
          </a:prstGeom>
          <a:noFill/>
          <a:ln/>
        </p:spPr>
        <p:txBody>
          <a:bodyPr wrap="square" lIns="0" tIns="0" rIns="0" bIns="0" rtlCol="0" anchor="ctr"/>
          <a:lstStyle/>
          <a:p>
            <a:pPr marL="0" indent="0">
              <a:buNone/>
            </a:pPr>
            <a:r>
              <a:rPr lang="en-US" sz="2200" b="1" dirty="0">
                <a:solidFill>
                  <a:srgbClr val="FF8A96"/>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371600" y="2331720"/>
            <a:ext cx="6309360" cy="86868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Modelo dinámico M(q)q̈+C q̇+G=τ obtenido por Jacobianos + Christoffel, sin Lagrange, verificado simétrico y definido positivo.</a:t>
            </a:r>
            <a:endParaRPr lang="en-US" sz="1250" dirty="0"/>
          </a:p>
        </p:txBody>
      </p:sp>
      <p:sp>
        <p:nvSpPr>
          <p:cNvPr id="7" name="Text 5"/>
          <p:cNvSpPr/>
          <p:nvPr/>
        </p:nvSpPr>
        <p:spPr>
          <a:xfrm>
            <a:off x="822960" y="3264408"/>
            <a:ext cx="457200" cy="548640"/>
          </a:xfrm>
          <a:prstGeom prst="rect">
            <a:avLst/>
          </a:prstGeom>
          <a:noFill/>
          <a:ln/>
        </p:spPr>
        <p:txBody>
          <a:bodyPr wrap="square" lIns="0" tIns="0" rIns="0" bIns="0" rtlCol="0" anchor="ctr"/>
          <a:lstStyle/>
          <a:p>
            <a:pPr marL="0" indent="0">
              <a:buNone/>
            </a:pPr>
            <a:r>
              <a:rPr lang="en-US" sz="2200" b="1" dirty="0">
                <a:solidFill>
                  <a:srgbClr val="FF8A96"/>
                </a:solidFill>
                <a:latin typeface="Cambria" pitchFamily="34" charset="0"/>
                <a:ea typeface="Cambria" pitchFamily="34" charset="-122"/>
                <a:cs typeface="Cambria" pitchFamily="34" charset="-120"/>
              </a:rPr>
              <a:t>2</a:t>
            </a:r>
            <a:endParaRPr lang="en-US" sz="2200" dirty="0"/>
          </a:p>
        </p:txBody>
      </p:sp>
      <p:sp>
        <p:nvSpPr>
          <p:cNvPr id="8" name="Text 6"/>
          <p:cNvSpPr/>
          <p:nvPr/>
        </p:nvSpPr>
        <p:spPr>
          <a:xfrm>
            <a:off x="1371600" y="3264408"/>
            <a:ext cx="6309360" cy="86868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Los 3 controladores validados en Simulink y en MATLAB puro (&lt;1% de diferencia); cada uno con su prueba de estabilidad.</a:t>
            </a:r>
            <a:endParaRPr lang="en-US" sz="1250" dirty="0"/>
          </a:p>
        </p:txBody>
      </p:sp>
      <p:sp>
        <p:nvSpPr>
          <p:cNvPr id="9" name="Text 7"/>
          <p:cNvSpPr/>
          <p:nvPr/>
        </p:nvSpPr>
        <p:spPr>
          <a:xfrm>
            <a:off x="822960" y="4197096"/>
            <a:ext cx="457200" cy="548640"/>
          </a:xfrm>
          <a:prstGeom prst="rect">
            <a:avLst/>
          </a:prstGeom>
          <a:noFill/>
          <a:ln/>
        </p:spPr>
        <p:txBody>
          <a:bodyPr wrap="square" lIns="0" tIns="0" rIns="0" bIns="0" rtlCol="0" anchor="ctr"/>
          <a:lstStyle/>
          <a:p>
            <a:pPr marL="0" indent="0">
              <a:buNone/>
            </a:pPr>
            <a:r>
              <a:rPr lang="en-US" sz="2200" b="1" dirty="0">
                <a:solidFill>
                  <a:srgbClr val="FF8A96"/>
                </a:solidFill>
                <a:latin typeface="Cambria" pitchFamily="34" charset="0"/>
                <a:ea typeface="Cambria" pitchFamily="34" charset="-122"/>
                <a:cs typeface="Cambria" pitchFamily="34" charset="-120"/>
              </a:rPr>
              <a:t>3</a:t>
            </a:r>
            <a:endParaRPr lang="en-US" sz="2200" dirty="0"/>
          </a:p>
        </p:txBody>
      </p:sp>
      <p:sp>
        <p:nvSpPr>
          <p:cNvPr id="10" name="Text 8"/>
          <p:cNvSpPr/>
          <p:nvPr/>
        </p:nvSpPr>
        <p:spPr>
          <a:xfrm>
            <a:off x="1371600" y="4197096"/>
            <a:ext cx="6309360" cy="86868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El par calculado es el más eficiente: reduce a ë+Kd·ė+Kp·e=0 y gana en tiempo de estabilización y torque máximo (el torque RMS es prácticamente igual en los tres).</a:t>
            </a:r>
            <a:endParaRPr lang="en-US" sz="1250" dirty="0"/>
          </a:p>
        </p:txBody>
      </p:sp>
      <p:sp>
        <p:nvSpPr>
          <p:cNvPr id="11" name="Text 9"/>
          <p:cNvSpPr/>
          <p:nvPr/>
        </p:nvSpPr>
        <p:spPr>
          <a:xfrm>
            <a:off x="822960" y="5129784"/>
            <a:ext cx="457200" cy="548640"/>
          </a:xfrm>
          <a:prstGeom prst="rect">
            <a:avLst/>
          </a:prstGeom>
          <a:noFill/>
          <a:ln/>
        </p:spPr>
        <p:txBody>
          <a:bodyPr wrap="square" lIns="0" tIns="0" rIns="0" bIns="0" rtlCol="0" anchor="ctr"/>
          <a:lstStyle/>
          <a:p>
            <a:pPr marL="0" indent="0">
              <a:buNone/>
            </a:pPr>
            <a:r>
              <a:rPr lang="en-US" sz="2200" b="1" dirty="0">
                <a:solidFill>
                  <a:srgbClr val="FF8A96"/>
                </a:solidFill>
                <a:latin typeface="Cambria" pitchFamily="34" charset="0"/>
                <a:ea typeface="Cambria" pitchFamily="34" charset="-122"/>
                <a:cs typeface="Cambria" pitchFamily="34" charset="-120"/>
              </a:rPr>
              <a:t>4</a:t>
            </a:r>
            <a:endParaRPr lang="en-US" sz="2200" dirty="0"/>
          </a:p>
        </p:txBody>
      </p:sp>
      <p:sp>
        <p:nvSpPr>
          <p:cNvPr id="12" name="Text 10"/>
          <p:cNvSpPr/>
          <p:nvPr/>
        </p:nvSpPr>
        <p:spPr>
          <a:xfrm>
            <a:off x="1371600" y="5129784"/>
            <a:ext cx="6309360" cy="86868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Planeación A* integrada: ruta libre de obstáculos convertida a trayectoria articular seguida sin perder precisión.</a:t>
            </a:r>
            <a:endParaRPr lang="en-US" sz="1250" dirty="0"/>
          </a:p>
        </p:txBody>
      </p:sp>
      <p:sp>
        <p:nvSpPr>
          <p:cNvPr id="13" name="Text 11"/>
          <p:cNvSpPr/>
          <p:nvPr/>
        </p:nvSpPr>
        <p:spPr>
          <a:xfrm>
            <a:off x="8229600" y="2286000"/>
            <a:ext cx="3291840" cy="320040"/>
          </a:xfrm>
          <a:prstGeom prst="rect">
            <a:avLst/>
          </a:prstGeom>
          <a:noFill/>
          <a:ln/>
        </p:spPr>
        <p:txBody>
          <a:bodyPr wrap="square" rtlCol="0" anchor="ctr"/>
          <a:lstStyle/>
          <a:p>
            <a:pPr marL="0" indent="0">
              <a:buNone/>
            </a:pPr>
            <a:r>
              <a:rPr lang="en-US" sz="1200" b="1" kern="0" spc="300" dirty="0">
                <a:solidFill>
                  <a:srgbClr val="E8C8CB"/>
                </a:solidFill>
                <a:latin typeface="Calibri" pitchFamily="34" charset="0"/>
                <a:ea typeface="Calibri" pitchFamily="34" charset="-122"/>
                <a:cs typeface="Calibri" pitchFamily="34" charset="-120"/>
              </a:rPr>
              <a:t>LAS CIFRAS</a:t>
            </a:r>
            <a:endParaRPr lang="en-US" sz="1200" dirty="0"/>
          </a:p>
        </p:txBody>
      </p:sp>
      <p:sp>
        <p:nvSpPr>
          <p:cNvPr id="14" name="Text 12"/>
          <p:cNvSpPr/>
          <p:nvPr/>
        </p:nvSpPr>
        <p:spPr>
          <a:xfrm>
            <a:off x="8229600" y="2697480"/>
            <a:ext cx="3383280" cy="3657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0.70 s</a:t>
            </a:r>
            <a:endParaRPr lang="en-US" sz="2200" dirty="0"/>
          </a:p>
        </p:txBody>
      </p:sp>
      <p:sp>
        <p:nvSpPr>
          <p:cNvPr id="15" name="Text 13"/>
          <p:cNvSpPr/>
          <p:nvPr/>
        </p:nvSpPr>
        <p:spPr>
          <a:xfrm>
            <a:off x="8229600" y="3063240"/>
            <a:ext cx="3383280" cy="274320"/>
          </a:xfrm>
          <a:prstGeom prst="rect">
            <a:avLst/>
          </a:prstGeom>
          <a:noFill/>
          <a:ln/>
        </p:spPr>
        <p:txBody>
          <a:bodyPr wrap="square" lIns="0" tIns="0" rIns="0" bIns="0" rtlCol="0" anchor="ctr"/>
          <a:lstStyle/>
          <a:p>
            <a:pPr marL="0" indent="0">
              <a:buNone/>
            </a:pPr>
            <a:r>
              <a:rPr lang="en-US" sz="1050" dirty="0">
                <a:solidFill>
                  <a:srgbClr val="F0D5D8"/>
                </a:solidFill>
                <a:latin typeface="Calibri" pitchFamily="34" charset="0"/>
                <a:ea typeface="Calibri" pitchFamily="34" charset="-122"/>
                <a:cs typeface="Calibri" pitchFamily="34" charset="-120"/>
              </a:rPr>
              <a:t>estabilización — par calculado</a:t>
            </a:r>
            <a:endParaRPr lang="en-US" sz="1050" dirty="0"/>
          </a:p>
        </p:txBody>
      </p:sp>
      <p:sp>
        <p:nvSpPr>
          <p:cNvPr id="16" name="Text 14"/>
          <p:cNvSpPr/>
          <p:nvPr/>
        </p:nvSpPr>
        <p:spPr>
          <a:xfrm>
            <a:off x="8229600" y="3520440"/>
            <a:ext cx="3383280" cy="3657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10.03 N·m</a:t>
            </a:r>
            <a:endParaRPr lang="en-US" sz="2200" dirty="0"/>
          </a:p>
        </p:txBody>
      </p:sp>
      <p:sp>
        <p:nvSpPr>
          <p:cNvPr id="17" name="Text 15"/>
          <p:cNvSpPr/>
          <p:nvPr/>
        </p:nvSpPr>
        <p:spPr>
          <a:xfrm>
            <a:off x="8229600" y="3886200"/>
            <a:ext cx="3383280" cy="274320"/>
          </a:xfrm>
          <a:prstGeom prst="rect">
            <a:avLst/>
          </a:prstGeom>
          <a:noFill/>
          <a:ln/>
        </p:spPr>
        <p:txBody>
          <a:bodyPr wrap="square" lIns="0" tIns="0" rIns="0" bIns="0" rtlCol="0" anchor="ctr"/>
          <a:lstStyle/>
          <a:p>
            <a:pPr marL="0" indent="0">
              <a:buNone/>
            </a:pPr>
            <a:r>
              <a:rPr lang="en-US" sz="1050" dirty="0">
                <a:solidFill>
                  <a:srgbClr val="F0D5D8"/>
                </a:solidFill>
                <a:latin typeface="Calibri" pitchFamily="34" charset="0"/>
                <a:ea typeface="Calibri" pitchFamily="34" charset="-122"/>
                <a:cs typeface="Calibri" pitchFamily="34" charset="-120"/>
              </a:rPr>
              <a:t>torque máximo — la mitad</a:t>
            </a:r>
            <a:endParaRPr lang="en-US" sz="1050" dirty="0"/>
          </a:p>
        </p:txBody>
      </p:sp>
      <p:sp>
        <p:nvSpPr>
          <p:cNvPr id="18" name="Text 16"/>
          <p:cNvSpPr/>
          <p:nvPr/>
        </p:nvSpPr>
        <p:spPr>
          <a:xfrm>
            <a:off x="8229600" y="4343400"/>
            <a:ext cx="3383280" cy="3657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Ṁ−2C ≈ 0</a:t>
            </a:r>
            <a:endParaRPr lang="en-US" sz="2200" dirty="0"/>
          </a:p>
        </p:txBody>
      </p:sp>
      <p:sp>
        <p:nvSpPr>
          <p:cNvPr id="19" name="Text 17"/>
          <p:cNvSpPr/>
          <p:nvPr/>
        </p:nvSpPr>
        <p:spPr>
          <a:xfrm>
            <a:off x="8229600" y="4709160"/>
            <a:ext cx="3383280" cy="274320"/>
          </a:xfrm>
          <a:prstGeom prst="rect">
            <a:avLst/>
          </a:prstGeom>
          <a:noFill/>
          <a:ln/>
        </p:spPr>
        <p:txBody>
          <a:bodyPr wrap="square" lIns="0" tIns="0" rIns="0" bIns="0" rtlCol="0" anchor="ctr"/>
          <a:lstStyle/>
          <a:p>
            <a:pPr marL="0" indent="0">
              <a:buNone/>
            </a:pPr>
            <a:r>
              <a:rPr lang="en-US" sz="1050" dirty="0">
                <a:solidFill>
                  <a:srgbClr val="F0D5D8"/>
                </a:solidFill>
                <a:latin typeface="Calibri" pitchFamily="34" charset="0"/>
                <a:ea typeface="Calibri" pitchFamily="34" charset="-122"/>
                <a:cs typeface="Calibri" pitchFamily="34" charset="-120"/>
              </a:rPr>
              <a:t>antisimetría — verificada</a:t>
            </a:r>
            <a:endParaRPr lang="en-US" sz="1050" dirty="0"/>
          </a:p>
        </p:txBody>
      </p:sp>
      <p:sp>
        <p:nvSpPr>
          <p:cNvPr id="20" name="Text 18"/>
          <p:cNvSpPr/>
          <p:nvPr/>
        </p:nvSpPr>
        <p:spPr>
          <a:xfrm>
            <a:off x="8229600" y="5166360"/>
            <a:ext cx="3383280" cy="3657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&lt; 1 %</a:t>
            </a:r>
            <a:endParaRPr lang="en-US" sz="2200" dirty="0"/>
          </a:p>
        </p:txBody>
      </p:sp>
      <p:sp>
        <p:nvSpPr>
          <p:cNvPr id="21" name="Text 19"/>
          <p:cNvSpPr/>
          <p:nvPr/>
        </p:nvSpPr>
        <p:spPr>
          <a:xfrm>
            <a:off x="8229600" y="5532120"/>
            <a:ext cx="3383280" cy="274320"/>
          </a:xfrm>
          <a:prstGeom prst="rect">
            <a:avLst/>
          </a:prstGeom>
          <a:noFill/>
          <a:ln/>
        </p:spPr>
        <p:txBody>
          <a:bodyPr wrap="square" lIns="0" tIns="0" rIns="0" bIns="0" rtlCol="0" anchor="ctr"/>
          <a:lstStyle/>
          <a:p>
            <a:pPr marL="0" indent="0">
              <a:buNone/>
            </a:pPr>
            <a:r>
              <a:rPr lang="en-US" sz="1050" dirty="0">
                <a:solidFill>
                  <a:srgbClr val="F0D5D8"/>
                </a:solidFill>
                <a:latin typeface="Calibri" pitchFamily="34" charset="0"/>
                <a:ea typeface="Calibri" pitchFamily="34" charset="-122"/>
                <a:cs typeface="Calibri" pitchFamily="34" charset="-120"/>
              </a:rPr>
              <a:t>Simulink vs. MATLAB</a:t>
            </a:r>
            <a:endParaRPr lang="en-US" sz="1050" dirty="0"/>
          </a:p>
        </p:txBody>
      </p:sp>
      <p:sp>
        <p:nvSpPr>
          <p:cNvPr id="22" name="Text 20"/>
          <p:cNvSpPr/>
          <p:nvPr/>
        </p:nvSpPr>
        <p:spPr>
          <a:xfrm>
            <a:off x="822960" y="6309360"/>
            <a:ext cx="10058400" cy="274320"/>
          </a:xfrm>
          <a:prstGeom prst="rect">
            <a:avLst/>
          </a:prstGeom>
          <a:noFill/>
          <a:ln/>
        </p:spPr>
        <p:txBody>
          <a:bodyPr wrap="square" rtlCol="0" anchor="ctr"/>
          <a:lstStyle/>
          <a:p>
            <a:pPr marL="0" indent="0">
              <a:buNone/>
            </a:pPr>
            <a:r>
              <a:rPr lang="en-US" sz="1100" i="1" dirty="0">
                <a:solidFill>
                  <a:srgbClr val="E8C8CB"/>
                </a:solidFill>
                <a:latin typeface="Calibri" pitchFamily="34" charset="0"/>
                <a:ea typeface="Calibri" pitchFamily="34" charset="-122"/>
                <a:cs typeface="Calibri" pitchFamily="34" charset="-120"/>
              </a:rPr>
              <a:t>Repositorio: github.com/webconceptos/Robotica3GDL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5557</Words>
  <Application>Microsoft Office PowerPoint</Application>
  <PresentationFormat>Panorámica</PresentationFormat>
  <Paragraphs>382</Paragraphs>
  <Slides>27</Slides>
  <Notes>27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vt:i4>
      </vt:variant>
    </vt:vector>
  </HeadingPairs>
  <TitlesOfParts>
    <vt:vector size="33" baseType="lpstr">
      <vt:lpstr>Arial</vt:lpstr>
      <vt:lpstr>Arial Black</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de un Robot Antropomórfico de 3 GDL</dc:title>
  <dc:subject>Trabajo Final - Robótica y Sistemas Autónomos</dc:subject>
  <dc:creator>Fernando García Atúncar</dc:creator>
  <cp:lastModifiedBy>Fernando García Atúncar</cp:lastModifiedBy>
  <cp:revision>3</cp:revision>
  <dcterms:created xsi:type="dcterms:W3CDTF">2026-08-03T01:51:20Z</dcterms:created>
  <dcterms:modified xsi:type="dcterms:W3CDTF">2026-08-03T06:40:26Z</dcterms:modified>
  <dc:description/>
</cp:coreProperties>
</file>