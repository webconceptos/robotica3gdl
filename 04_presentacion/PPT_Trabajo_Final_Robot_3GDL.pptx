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60" r:id="rId5"/>
    <p:sldId id="259" r:id="rId6"/>
    <p:sldId id="262" r:id="rId7"/>
    <p:sldId id="263" r:id="rId8"/>
    <p:sldId id="271" r:id="rId9"/>
    <p:sldId id="264" r:id="rId10"/>
    <p:sldId id="272" r:id="rId11"/>
    <p:sldId id="265" r:id="rId12"/>
    <p:sldId id="266" r:id="rId13"/>
    <p:sldId id="267" r:id="rId14"/>
    <p:sldId id="273" r:id="rId15"/>
    <p:sldId id="268" r:id="rId16"/>
    <p:sldId id="279" r:id="rId17"/>
    <p:sldId id="284" r:id="rId18"/>
    <p:sldId id="283" r:id="rId19"/>
    <p:sldId id="269" r:id="rId20"/>
    <p:sldId id="275" r:id="rId21"/>
    <p:sldId id="276" r:id="rId22"/>
    <p:sldId id="277" r:id="rId23"/>
    <p:sldId id="278" r:id="rId24"/>
    <p:sldId id="274" r:id="rId25"/>
    <p:sldId id="261" r:id="rId26"/>
    <p:sldId id="280" r:id="rId27"/>
    <p:sldId id="281" r:id="rId28"/>
    <p:sldId id="282" r:id="rId29"/>
    <p:sldId id="270" r:id="rId30"/>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00810"/>
    <a:srgbClr val="7109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149" autoAdjust="0"/>
  </p:normalViewPr>
  <p:slideViewPr>
    <p:cSldViewPr snapToGrid="0" snapToObjects="1">
      <p:cViewPr varScale="1">
        <p:scale>
          <a:sx n="87" d="100"/>
          <a:sy n="87" d="100"/>
        </p:scale>
        <p:origin x="75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40517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(Fernando García, ~35 s):</a:t>
            </a:r>
          </a:p>
          <a:p>
            <a:r>
              <a:t>"Buenas tardes, profesor. Somos el Grupo 2 de la Maestría en Inteligencia Artificial. El trabajo que van a ver no es una simulación cinemática más: es el modelo dinámico completo de un manipulador antropomórfico de 3 grados de libertad, derivado por el método de Jacobianos -sin lagrangiano-, con tres controladores articulares implementados y verificados en Simulink, y una capa de planeación autónoma con obstáculos integrada de punta a punta. Cuatro bloques cronológicos: yo abro con el punto de partida, y cierro con la planeación autónoma y las conclusiones."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(Fernando García, ~30 s):</a:t>
            </a:r>
          </a:p>
          <a:p>
            <a:r>
              <a:t>"Cuatro bloques, en el orden natural en que se construyó el trabajo. Primero, de dónde partimos y las tres preguntas que vertebran toda la exposición. Segundo, Carlos deriva el modelo dinámico completo: inercia, Coriolis y gravedad, con su verificación numérica. Tercero, Gabriela presenta los tres controladores, la justificación de estabilidad de cada uno, y los resultados comparativos. Y yo cierro con la planeación autónoma A* y las conclusiones. Cada bloque responde sus propias preguntas al final."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(Expositor 1, ~15 s):</a:t>
            </a:r>
          </a:p>
          <a:p>
            <a:r>
              <a:t>"Empecemos por el punto de partida y la motivación del trabajo."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(Fernando García, ~70 s):</a:t>
            </a:r>
          </a:p>
          <a:p>
            <a:r>
              <a:t>"Antes de entrar en materia, la trazabilidad del trabajo, porque en control de robots la honestidad sobre qué es nuevo y qué es heredado es tan importante como el resultado mismo. A la izquierda, exactamente lo que trae el trabajo parcial, sin tocar: la cinemática directa e inversa por Denavit-Hartenberg, el Jacobiano geométrico del efector, el análisis de singularidades, y la geometría del robot. A la derecha, todo lo que este trabajo final construye encima: los centros de masa y los Jacobianos por eslabón que alimentan el modelo dinámico, la matriz de inercia, la matriz de Coriolis por Christoffel, el vector de gravedad, los tres controladores dinámicos, y la planeación autónoma. La cinemática nos dice cómo se mueve el robot; lo que agregamos aquí nos dice cuánta fuerza hay que aplicar para que se mueva así. Esa es la frontera exacta entre el parcial y el trabajo final."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(Fernando García, ~85 s):</a:t>
            </a:r>
          </a:p>
          <a:p>
            <a:r>
              <a:t>"El problema de fondo en control de manipuladores es este: la cinemática indica a dónde tiene que llegar el efector, pero no indica cuánto torque aplicar en cada articulación para llegar ahí con precisión, sin oscilar, y sin exigirle al actuador más de lo necesario. Eso solo lo resuelve el modelo dinámico: inercia, fuerzas centrífugas y de Coriolis, gravedad. Trabajamos sobre un robot antropomórfico de 3 grados de libertad, con la geometría y los parámetros físicos del paper de Ashagrie y colegas, 2021 -el mismo paper del trabajo parcial-, así que la validación es directa contra una fuente publicada. Todo el desarrollo responde a tres preguntas técnicas concretas. Uno: ¿cómo se deriva un modelo dinámico consistente sin recurrir al formalismo lagrangiano? Con Jacobianos lineales y angulares, y coeficientes de Christoffel. Dos: entre un controlador de posición y dos controladores de trayectoria -PID no lineal, PD precompensado, par calculado-, ¿cuál realmente compensa mejor la no linealidad del sistema? Y tres: ¿cómo se integra una capa de planeación autónoma con obstáculos sin rediseñar el control? Estas tres preguntas ordenan los tres bloques que siguen."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dirty="0"/>
              <a:t>GUION (</a:t>
            </a:r>
            <a:r>
              <a:rPr lang="es-ES" dirty="0"/>
              <a:t>Carlos Quispe</a:t>
            </a:r>
            <a:r>
              <a:rPr dirty="0"/>
              <a:t>, ~15 s):</a:t>
            </a:r>
          </a:p>
          <a:p>
            <a:r>
              <a:rPr dirty="0"/>
              <a:t>"Gracias. </a:t>
            </a:r>
            <a:r>
              <a:rPr dirty="0" err="1"/>
              <a:t>Entro</a:t>
            </a:r>
            <a:r>
              <a:rPr dirty="0"/>
              <a:t> </a:t>
            </a:r>
            <a:r>
              <a:rPr dirty="0" err="1"/>
              <a:t>yo</a:t>
            </a:r>
            <a:r>
              <a:rPr dirty="0"/>
              <a:t> con el </a:t>
            </a:r>
            <a:r>
              <a:rPr dirty="0" err="1"/>
              <a:t>modelo</a:t>
            </a:r>
            <a:r>
              <a:rPr dirty="0"/>
              <a:t> </a:t>
            </a:r>
            <a:r>
              <a:rPr dirty="0" err="1"/>
              <a:t>dinámico</a:t>
            </a:r>
            <a:r>
              <a:rPr dirty="0"/>
              <a:t> del robot. Punto clave </a:t>
            </a:r>
            <a:r>
              <a:rPr dirty="0" err="1"/>
              <a:t>desde</a:t>
            </a:r>
            <a:r>
              <a:rPr dirty="0"/>
              <a:t> </a:t>
            </a:r>
            <a:r>
              <a:rPr dirty="0" err="1"/>
              <a:t>ya</a:t>
            </a:r>
            <a:r>
              <a:rPr dirty="0"/>
              <a:t>: </a:t>
            </a:r>
            <a:r>
              <a:rPr dirty="0" err="1"/>
              <a:t>este</a:t>
            </a:r>
            <a:r>
              <a:rPr dirty="0"/>
              <a:t> </a:t>
            </a:r>
            <a:r>
              <a:rPr dirty="0" err="1"/>
              <a:t>modelo</a:t>
            </a:r>
            <a:r>
              <a:rPr dirty="0"/>
              <a:t> NO se </a:t>
            </a:r>
            <a:r>
              <a:rPr dirty="0" err="1"/>
              <a:t>deriva</a:t>
            </a:r>
            <a:r>
              <a:rPr dirty="0"/>
              <a:t> con el </a:t>
            </a:r>
            <a:r>
              <a:rPr dirty="0" err="1"/>
              <a:t>lagrangiano</a:t>
            </a:r>
            <a:r>
              <a:rPr dirty="0"/>
              <a:t>, </a:t>
            </a:r>
            <a:r>
              <a:rPr dirty="0" err="1"/>
              <a:t>sino</a:t>
            </a:r>
            <a:r>
              <a:rPr dirty="0"/>
              <a:t> con </a:t>
            </a:r>
            <a:r>
              <a:rPr dirty="0" err="1"/>
              <a:t>Jacobianos</a:t>
            </a:r>
            <a:r>
              <a:rPr dirty="0"/>
              <a:t> y </a:t>
            </a:r>
            <a:r>
              <a:rPr dirty="0" err="1"/>
              <a:t>coeficientes</a:t>
            </a:r>
            <a:r>
              <a:rPr dirty="0"/>
              <a:t> de Christoffel, </a:t>
            </a:r>
            <a:r>
              <a:rPr dirty="0" err="1"/>
              <a:t>tal</a:t>
            </a:r>
            <a:r>
              <a:rPr dirty="0"/>
              <a:t> como </a:t>
            </a:r>
            <a:r>
              <a:rPr dirty="0" err="1"/>
              <a:t>pidió</a:t>
            </a:r>
            <a:r>
              <a:rPr dirty="0"/>
              <a:t> el </a:t>
            </a:r>
            <a:r>
              <a:rPr dirty="0" err="1"/>
              <a:t>docente</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(Carlos Quispe, ~95 s):</a:t>
            </a:r>
          </a:p>
          <a:p>
            <a:r>
              <a:t>"El punto de partida es la energía cinética del sistema, expresada como la suma de la energía cinética traslacional y rotacional de cada eslabón, usando los Jacobianos lineales y angulares del centro de masa. De ahí sale, de forma directa, la matriz de inercia generalizada M de q: para cada eslabón, la contribución traslacional es la masa por el Jacobiano lineal transpuesto por el Jacobiano lineal, y la contribución rotacional es el Jacobiano angular transformado por la matriz de rotación y el tensor de inercia del eslabón. Cada una de estas piezas -rotaciones, centros de masa, Jacobianos- sale directamente de la cadena cinemática Denavit-Hartenberg, sin un solo paso de derivación lagrangiana. Dos detalles que muestran que esto es geometría del robot, no álgebra ciega: el Jacobiano lineal del primer eslabón es idénticamente cero, porque su centro de masa está sobre el propio eje de giro de la base; y los Jacobianos angulares tienen la estructura triangular por bloques característica de toda cadena cinemática serial, donde una articulación posterior nunca afecta el movimiento de un eslabón anterior. El resultado es una matriz de 3 por 3 simétrica y definida positiva -condición necesaria para que represente físicamente una matriz de inercia-, y en un momento la vamos a verificar numéricamente, no solo a afirmarla."</a:t>
            </a:r>
          </a:p>
          <a:p/>
          <a:p>
            <a:r>
              <a:t>PREGUNTA PROBABLE DEL DOCENTE:</a:t>
            </a:r>
          </a:p>
          <a:p>
            <a:r>
              <a:t>P: "¿Por qué Jacobianos y no Lagrange?"</a:t>
            </a:r>
          </a:p>
          <a:p>
            <a:r>
              <a:t>R: Indicación explícita del docente; además permite verificar cada término por separado y detectar errores -por ejemplo, así se detectó una matriz de rotación mal orientada-, algo más difícil con una única expresión lagrangiana cerrada.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s-PE"/>
          </a:p>
        </p:txBody>
      </p:sp>
      <p:sp>
        <p:nvSpPr>
          <p:cNvPr id="3" name="Notes Placeholder 2"/>
          <p:cNvSpPr>
            <a:spLocks noGrp="1"/>
          </p:cNvSpPr>
          <p:nvPr>
            <p:ph type="body" sz="quarter" idx="3"/>
          </p:nvPr>
        </p:nvSpPr>
        <p:spPr/>
        <p:txBody>
          <a:bodyPr/>
          <a:lstStyle/>
          <a:p>
            <a:r>
              <a:t>GUION (Carlos Quispe, ~55 s):</a:t>
            </a:r>
          </a:p>
          <a:p>
            <a:r>
              <a:t>"Esto no se queda en el papel. Esta es la función inertia_matrix_3dof exactamente como corre en MATLAB: recibe los Jacobianos y las rotaciones que salen de la cinemática, ensambla las tres contribuciones traslacionales y las tres rotacionales en una sola línea vectorizada, y cierra con una simetrización numérica -M ya es simétrica por construcción matemática, esa línea solo elimina el ruido de punto flotante que introduce cualquier cómputo numérico-. Es código puramente numérico, sin el toolbox simbólico, porque un bloque MATLAB Function de Simulink no admite símbolos: tiene que ejecutar en tiempo real dentro del lazo de simulación."</a:t>
            </a:r>
          </a:p>
        </p:txBody>
      </p:sp>
      <p:sp>
        <p:nvSpPr>
          <p:cNvPr id="4" name="Slide Number Placeholder 3"/>
          <p:cNvSpPr>
            <a:spLocks noGrp="1"/>
          </p:cNvSpPr>
          <p:nvPr>
            <p:ph type="sldNum" sz="quarter" idx="5"/>
          </p:nvPr>
        </p:nvSpPr>
        <p:spPr/>
        <p:txBody>
          <a:bodyPr/>
          <a:lstStyle/>
          <a:p>
            <a:endParaRPr lang="es-P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(Carlos Quispe, ~85 s):</a:t>
            </a:r>
          </a:p>
          <a:p>
            <a:r>
              <a:t>"La matriz de Coriolis se obtiene de M de q por los coeficientes de Christoffel de primer tipo, con n igual a 3: cada coeficiente combina tres derivadas parciales de la matriz de inercia, y C se ensambla sumando esos coeficientes ponderados por la velocidad articular. No es un método ad hoc: es el resultado clásico de la mecánica de sistemas lagrangianos, aplicado aquí sin pasar por el lagrangiano, usando solo la estructura algebraica que ya tenemos en M de q. El vector de gravedad es el gradiente de la energía potencial, y en este robot tiene una forma cerrada muy limpia: G uno es idénticamente cero, porque la articulación de la base gira sobre un eje vertical y no cambia la altura de ningún centro de masa; G dos y G tres dependen del coseno de q dos y de q dos más q tres, exactamente lo que uno esperaría físicamente de un hombro y un codo sosteniendo peso contra la gravedad. Y aquí está la propiedad que le da rigor matemático a todo el bloque de control que viene después: la matriz M punto menos dos C es antisimétrica. Esta es la propiedad de pasividad del sistema mecánico -el mismo argumento que sustenta las pruebas clásicas de estabilidad de Lyapunov en control de robots-, y no la dejamos como afirmación teórica: la verificamos numéricamente en el código, con un residuo del orden de diez a la menos once."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s-PE"/>
          </a:p>
        </p:txBody>
      </p:sp>
      <p:sp>
        <p:nvSpPr>
          <p:cNvPr id="3" name="Notes Placeholder 2"/>
          <p:cNvSpPr>
            <a:spLocks noGrp="1"/>
          </p:cNvSpPr>
          <p:nvPr>
            <p:ph type="body" sz="quarter" idx="3"/>
          </p:nvPr>
        </p:nvSpPr>
        <p:spPr/>
        <p:txBody>
          <a:bodyPr/>
          <a:lstStyle/>
          <a:p>
            <a:r>
              <a:t>GUION (Carlos Quispe, ~55 s):</a:t>
            </a:r>
          </a:p>
          <a:p>
            <a:r>
              <a:t>"El mismo rigor, en código. La función coriolis_matrix_3dof implementa un triple bucle sobre los índices i, j, k que ejecuta exactamente la fórmula de Christoffel que acaban de ver, término por término. La derivada de M respecto a cada coordenada articular se obtiene por diferencias finitas centradas, con un paso de una millonésima, porque -otra vez- un bloque MATLAB Function no admite diferenciación simbólica en tiempo de ejecución. Esta implementación numérica coincide con la derivación simbólica independiente con un error del orden de diez a la menos diez: dos caminos matemáticos distintos llegando al mismo resultado."</a:t>
            </a:r>
          </a:p>
        </p:txBody>
      </p:sp>
      <p:sp>
        <p:nvSpPr>
          <p:cNvPr id="4" name="Slide Number Placeholder 3"/>
          <p:cNvSpPr>
            <a:spLocks noGrp="1"/>
          </p:cNvSpPr>
          <p:nvPr>
            <p:ph type="sldNum" sz="quarter" idx="5"/>
          </p:nvPr>
        </p:nvSpPr>
        <p:spPr/>
        <p:txBody>
          <a:bodyPr/>
          <a:lstStyle/>
          <a:p>
            <a:endParaRPr lang="es-P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(Carlos Quispe, ~75 s):</a:t>
            </a:r>
          </a:p>
          <a:p>
            <a:r>
              <a:t>"Cierro mi bloque con la validación. En un punto de prueba arbitrario, la matriz M sale simétrica con los tres autovalores estrictamente positivos -cero coma cero once, cero coma veintitrés, cero coma treinta y cinco-, confirmando que es definida positiva, la condición física no negociable para que sea una matriz de inercia válida. G uno sale exactamente cero, tal como predice la geometría. Y la versión simbólica y la numérica de C coinciden con un error del orden de diez a la menos diez. La figura de la derecha es la prueba más honesta de todas: dinámica libre, sin ningún controlador, el robot oscila sin amortiguarse como un péndulo doble conservativo -comportamiento exactamente esperado de un sistema sin disipación-. Y noten algo que a primera vista parece contraintuitivo: q uno se mueve, aunque G uno sea cero y parta del reposo. Eso es el acoplamiento de Coriolis transmitiendo momento angular desde q dos y q tres hacia la base; si el modelo no lo capturara, sabríamos que algo está mal derivado. Con el modelo matemáticamente validado, le paso el control a Gabriela."</a:t>
            </a:r>
          </a:p>
          <a:p/>
          <a:p>
            <a:r>
              <a:t>PREGUNTA PROBABLE DEL DOCENTE:</a:t>
            </a:r>
          </a:p>
          <a:p>
            <a:r>
              <a:t>P: "¿Por qué q1 se mueve si G1=0 y parte del reposo?"</a:t>
            </a:r>
          </a:p>
          <a:p>
            <a:r>
              <a:t>R: Por el acoplamiento de Coriolis -términos C(1,2) y C(1,3)-, conservación de momento angular; el método de Jacobianos lo captura correctamente.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dirty="0"/>
              <a:t>GUION (</a:t>
            </a:r>
            <a:r>
              <a:rPr lang="en-US" sz="1200" i="1" dirty="0">
                <a:solidFill>
                  <a:srgbClr val="F0D5D8"/>
                </a:solidFill>
                <a:latin typeface="Calibri" pitchFamily="34" charset="0"/>
                <a:ea typeface="Calibri" pitchFamily="34" charset="-122"/>
                <a:cs typeface="Calibri" pitchFamily="34" charset="-120"/>
              </a:rPr>
              <a:t>Gabriela Villegas</a:t>
            </a:r>
            <a:r>
              <a:rPr dirty="0"/>
              <a:t>, ~15 s):</a:t>
            </a:r>
          </a:p>
          <a:p>
            <a:r>
              <a:rPr dirty="0"/>
              <a:t>"Gracias. Con el </a:t>
            </a:r>
            <a:r>
              <a:rPr dirty="0" err="1"/>
              <a:t>modelo</a:t>
            </a:r>
            <a:r>
              <a:rPr dirty="0"/>
              <a:t> </a:t>
            </a:r>
            <a:r>
              <a:rPr dirty="0" err="1"/>
              <a:t>dinámico</a:t>
            </a:r>
            <a:r>
              <a:rPr dirty="0"/>
              <a:t> </a:t>
            </a:r>
            <a:r>
              <a:rPr dirty="0" err="1"/>
              <a:t>ya</a:t>
            </a:r>
            <a:r>
              <a:rPr dirty="0"/>
              <a:t> disponible, </a:t>
            </a:r>
            <a:r>
              <a:rPr dirty="0" err="1"/>
              <a:t>presento</a:t>
            </a:r>
            <a:r>
              <a:rPr dirty="0"/>
              <a:t> </a:t>
            </a:r>
            <a:r>
              <a:rPr dirty="0" err="1"/>
              <a:t>los</a:t>
            </a:r>
            <a:r>
              <a:rPr dirty="0"/>
              <a:t> </a:t>
            </a:r>
            <a:r>
              <a:rPr dirty="0" err="1"/>
              <a:t>tres</a:t>
            </a:r>
            <a:r>
              <a:rPr dirty="0"/>
              <a:t> </a:t>
            </a:r>
            <a:r>
              <a:rPr dirty="0" err="1"/>
              <a:t>controladores</a:t>
            </a:r>
            <a:r>
              <a:rPr dirty="0"/>
              <a:t>, </a:t>
            </a:r>
            <a:r>
              <a:rPr dirty="0" err="1"/>
              <a:t>su</a:t>
            </a:r>
            <a:r>
              <a:rPr dirty="0"/>
              <a:t> </a:t>
            </a:r>
            <a:r>
              <a:rPr dirty="0" err="1"/>
              <a:t>justificación</a:t>
            </a:r>
            <a:r>
              <a:rPr dirty="0"/>
              <a:t> de </a:t>
            </a:r>
            <a:r>
              <a:rPr dirty="0" err="1"/>
              <a:t>estabilidad</a:t>
            </a:r>
            <a:r>
              <a:rPr dirty="0"/>
              <a:t>, la </a:t>
            </a:r>
            <a:r>
              <a:rPr dirty="0" err="1"/>
              <a:t>implementación</a:t>
            </a:r>
            <a:r>
              <a:rPr dirty="0"/>
              <a:t> en Simulink, y </a:t>
            </a:r>
            <a:r>
              <a:rPr dirty="0" err="1"/>
              <a:t>los</a:t>
            </a:r>
            <a:r>
              <a:rPr dirty="0"/>
              <a:t> </a:t>
            </a:r>
            <a:r>
              <a:rPr dirty="0" err="1"/>
              <a:t>resultados</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(Gabriela Villegas, ~110 s):</a:t>
            </a:r>
          </a:p>
          <a:p>
            <a:r>
              <a:t>"Tres leyes de control, tres filosofías distintas de cuánto confían en el modelo dinámico. El PID no lineal regula posición y compensa gravedad de forma explícita, pero no conoce ni la inercia ni el acoplamiento de Coriolis del sistema. El PD con precompensación ya incorpora el modelo completo, pero evaluado en la trayectoria deseada, no en el estado real del robot. Y el par calculado -lo que en la literatura de control de robots se conoce como computed torque control, o control por linealización por realimentación- evalúa el modelo dinámico completo sobre el estado real medido. Esa es la diferencia que importa. Si sustituyen la ley del par calculado dentro de la ecuación de la dinámica, el término de Coriolis y el de gravedad se cancelan exactamente, y como M de q es invertible por ser definida positiva, lo que queda es una ecuación de error puramente lineal: e dos puntos más Kd por e punto más Kp por e, igual a cero. Es un sistema lineal, desacoplado articulación por articulación, y exponencialmente estable con Kd igual a dos raíz de Kp para amortiguamiento crítico. Esa cancelación exacta de la no linealidad -no una aproximación, una cancelación exacta- es la razón matemática de que el par calculado converja más rápido y con menos esfuerzo de control. El PID, en cambio, se demuestra estable con una función de Lyapunov que usa exactamente la propiedad de pasividad, la antisimetría de M punto menos dos C, que vimos en el bloque anterior. Y el PD precompensado cancela solo de forma aproximada, porque el error entre evaluar el modelo en la trayectoria deseada y evaluarlo en el estado real nunca desaparece del todo mientras haya error de seguimiento."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s-PE"/>
          </a:p>
        </p:txBody>
      </p:sp>
      <p:sp>
        <p:nvSpPr>
          <p:cNvPr id="3" name="Notes Placeholder 2"/>
          <p:cNvSpPr>
            <a:spLocks noGrp="1"/>
          </p:cNvSpPr>
          <p:nvPr>
            <p:ph type="body" sz="quarter" idx="3"/>
          </p:nvPr>
        </p:nvSpPr>
        <p:spPr/>
        <p:txBody>
          <a:bodyPr/>
          <a:lstStyle/>
          <a:p>
            <a:r>
              <a:t>GUION (Gabriela Villegas, ~55 s):</a:t>
            </a:r>
          </a:p>
          <a:p>
            <a:r>
              <a:t>"Y esta ley de control, la que acabamos de deducir, es exactamente la que corre dentro de Simulink: el bloque mlfb_par_calculado. Calcula el error de posición y de velocidad, llama a tres funciones locales que replican bit a bit las mismas fórmulas de M, C y G que ya vimos, arma el vector de aceleración deseada corregida, y devuelve el torque como M por ese vector más C por q punto más G. Nada de esto es una simplificación para la presentación: el PID no lineal y el PD precompensado son archivos hermanos, con exactamente la misma estructura interna."</a:t>
            </a:r>
          </a:p>
        </p:txBody>
      </p:sp>
      <p:sp>
        <p:nvSpPr>
          <p:cNvPr id="4" name="Slide Number Placeholder 3"/>
          <p:cNvSpPr>
            <a:spLocks noGrp="1"/>
          </p:cNvSpPr>
          <p:nvPr>
            <p:ph type="sldNum" sz="quarter" idx="5"/>
          </p:nvPr>
        </p:nvSpPr>
        <p:spPr/>
        <p:txBody>
          <a:bodyPr/>
          <a:lstStyle/>
          <a:p>
            <a:endParaRPr lang="es-P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(Gabriela Villegas, ~75 s):</a:t>
            </a:r>
          </a:p>
          <a:p>
            <a:r>
              <a:t>"Así se traduce todo esto a Simulink, como exige el enunciado del trabajo. Cada controlador vive en un subsistema independiente, pero los tres reciben exactamente la misma trayectoria deseada, para que la comparación sea metodológicamente justa. La cadena de señal es: la trayectoria entra por un bloque From Workspace, el controlador -un MATLAB Function- calcula el torque, ese torque pasa por una saturación física de más menos 80, 80 y 60 newton-metro por articulación, entra a la planta dinámica -otro MATLAB Function que resuelve la aceleración articular como M inversa por el torque menos C q punto menos G-, y dos integradores en cascada devuelven la velocidad y la posición, que se realimentan al controlador cerrando el lazo. La captura es el Scope real, corriendo dentro de Simulink, no una simulación aparte: las tres articulaciones del par calculado convergen limpiamente a la referencia."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a:t>GUION (</a:t>
            </a:r>
            <a:r>
              <a:rPr lang="en-US" sz="1200" i="1" dirty="0">
                <a:solidFill>
                  <a:srgbClr val="F0D5D8"/>
                </a:solidFill>
                <a:latin typeface="Calibri" pitchFamily="34" charset="0"/>
                <a:ea typeface="Calibri" pitchFamily="34" charset="-122"/>
                <a:cs typeface="Calibri" pitchFamily="34" charset="-120"/>
              </a:rPr>
              <a:t>Gabriela Villegas</a:t>
            </a:r>
            <a:r>
              <a:rPr lang="es-PE" dirty="0"/>
              <a:t>, ~15 s): “Aquí el detalle del error por cada articulación -paso rápido-: el PID deja ese rizado que mencioné, PD y par calculado se estabilizan más cerca de cero.”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9B287-87E5-2523-DCC1-A2345B2862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34AC1E-31CD-11FA-CE72-A0FAC07563CB}"/>
              </a:ext>
            </a:extLst>
          </p:cNvPr>
          <p:cNvSpPr>
            <a:spLocks noGrp="1" noRot="1" noChangeAspect="1"/>
          </p:cNvSpPr>
          <p:nvPr>
            <p:ph type="sldImg"/>
          </p:nvPr>
        </p:nvSpPr>
        <p:spPr/>
        <p:txBody>
          <a:bodyPr/>
          <a:lstStyle/>
          <a:p>
            <a:endParaRPr lang="es-PE"/>
          </a:p>
        </p:txBody>
      </p:sp>
      <p:sp>
        <p:nvSpPr>
          <p:cNvPr id="3" name="Notes Placeholder 2">
            <a:extLst>
              <a:ext uri="{FF2B5EF4-FFF2-40B4-BE49-F238E27FC236}">
                <a16:creationId xmlns:a16="http://schemas.microsoft.com/office/drawing/2014/main" id="{CE67BADE-3C6B-AEAE-E23F-E6F28CEAB4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a:t>GUION (</a:t>
            </a:r>
            <a:r>
              <a:rPr lang="en-US" sz="1200" i="1" dirty="0">
                <a:solidFill>
                  <a:srgbClr val="F0D5D8"/>
                </a:solidFill>
                <a:latin typeface="Calibri" pitchFamily="34" charset="0"/>
                <a:ea typeface="Calibri" pitchFamily="34" charset="-122"/>
                <a:cs typeface="Calibri" pitchFamily="34" charset="-120"/>
              </a:rPr>
              <a:t>Gabriela Villegas</a:t>
            </a:r>
            <a:r>
              <a:rPr lang="es-PE" dirty="0"/>
              <a:t>, ~15 s): “Aquí el detalle del error por cada articulación -paso rápido-: el PID deja ese rizado que mencioné, PD y par calculado se estabilizan más cerca de cero.”</a:t>
            </a:r>
          </a:p>
        </p:txBody>
      </p:sp>
    </p:spTree>
    <p:extLst>
      <p:ext uri="{BB962C8B-B14F-4D97-AF65-F5344CB8AC3E}">
        <p14:creationId xmlns:p14="http://schemas.microsoft.com/office/powerpoint/2010/main" val="19445684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ECB48-BE4A-7899-B86C-05335FF7E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1FF33-13B0-19A3-C473-FD02080667AE}"/>
              </a:ext>
            </a:extLst>
          </p:cNvPr>
          <p:cNvSpPr>
            <a:spLocks noGrp="1" noRot="1" noChangeAspect="1"/>
          </p:cNvSpPr>
          <p:nvPr>
            <p:ph type="sldImg"/>
          </p:nvPr>
        </p:nvSpPr>
        <p:spPr/>
        <p:txBody>
          <a:bodyPr/>
          <a:lstStyle/>
          <a:p>
            <a:endParaRPr lang="es-PE"/>
          </a:p>
        </p:txBody>
      </p:sp>
      <p:sp>
        <p:nvSpPr>
          <p:cNvPr id="3" name="Notes Placeholder 2">
            <a:extLst>
              <a:ext uri="{FF2B5EF4-FFF2-40B4-BE49-F238E27FC236}">
                <a16:creationId xmlns:a16="http://schemas.microsoft.com/office/drawing/2014/main" id="{61A2D0A1-4F15-0083-E3EE-FA4399AA1EA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a:t>GUION (</a:t>
            </a:r>
            <a:r>
              <a:rPr lang="en-US" sz="1200" i="1" dirty="0">
                <a:solidFill>
                  <a:srgbClr val="F0D5D8"/>
                </a:solidFill>
                <a:latin typeface="Calibri" pitchFamily="34" charset="0"/>
                <a:ea typeface="Calibri" pitchFamily="34" charset="-122"/>
                <a:cs typeface="Calibri" pitchFamily="34" charset="-120"/>
              </a:rPr>
              <a:t>Gabriela Villegas</a:t>
            </a:r>
            <a:r>
              <a:rPr lang="es-PE" dirty="0"/>
              <a:t>, ~15 s): “Aquí el detalle del error por cada articulación -paso rápido-: el PID deja ese rizado que mencioné, PD y par calculado se estabilizan más cerca de cero.”</a:t>
            </a:r>
          </a:p>
        </p:txBody>
      </p:sp>
    </p:spTree>
    <p:extLst>
      <p:ext uri="{BB962C8B-B14F-4D97-AF65-F5344CB8AC3E}">
        <p14:creationId xmlns:p14="http://schemas.microsoft.com/office/powerpoint/2010/main" val="342724081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(Gabriela Villegas, ~110 s):</a:t>
            </a:r>
          </a:p>
          <a:p>
            <a:r>
              <a:t>"Los tres controladores, misma trayectoria, misma condición inicial con error respecto a la referencia. El error máximo es idéntico en los tres porque ocurre en el instante cero, antes de que cualquier ley de control tenga oportunidad de actuar -es una propiedad de la condición inicial, no de la calidad del controlador-. A partir de ahí, el par calculado domina en las dos métricas que realmente importan en un sistema físico: tiempo de estabilización, 0.70 segundos contra 1.89 del PID; y torque máximo, 10.03 newton-metro contra 18 y 20 de los otros dos -prácticamente la mitad del esfuerzo de actuación en el transitorio-. El torque RMS, en cambio, es prácticamente igual en los tres, entre 4.2 y 4.3 newton-metro: eso tiene una explicación física clara, en régimen permanente el torque requerido es casi enteramente compensación de gravedad, y ahí los tres controladores hacen lo mismo. La ventaja real del par calculado no está en el esfuerzo sostenido, está en cuánto le cuesta llegar ahí y qué tan rápido lo hace. Y esto no es un resultado aislado de una plataforma: lo reprodujimos también en MATLAB puro, sin Simulink, integrando con un solver de paso variable, con menos de 1% de diferencia frente a estos números."</a:t>
            </a:r>
          </a:p>
          <a:p/>
          <a:p>
            <a:r>
              <a:t>PREGUNTAS PROBABLES DEL DOCENTE:</a:t>
            </a:r>
          </a:p>
          <a:p>
            <a:r>
              <a:t>P1: "¿Por qué el error máximo es idéntico en los tres controladores?"</a:t>
            </a:r>
          </a:p>
          <a:p>
            <a:r>
              <a:t>R1: Ocurre en t=0, antes de que actúe cualquier controlador; depende solo de la condición inicial impuesta.</a:t>
            </a:r>
          </a:p>
          <a:p>
            <a:r>
              <a:t>P2: "¿Por qué el PID difiere en tiempo de estabilización entre Simulink y MATLAB puro?"</a:t>
            </a:r>
          </a:p>
          <a:p>
            <a:r>
              <a:t>R2: El PID no incorpora anti-windup; esa no linealidad lo hace sensible a diferencias mínimas entre dos integraciones numéricas equivalentes. Queda como recomendación/pregunta al docente.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a:t>GUION (</a:t>
            </a:r>
            <a:r>
              <a:rPr lang="en-US" sz="1200" i="1" dirty="0">
                <a:solidFill>
                  <a:srgbClr val="F0D5D8"/>
                </a:solidFill>
                <a:latin typeface="Calibri" pitchFamily="34" charset="0"/>
                <a:ea typeface="Calibri" pitchFamily="34" charset="-122"/>
                <a:cs typeface="Calibri" pitchFamily="34" charset="-120"/>
              </a:rPr>
              <a:t>Gabriela Villegas</a:t>
            </a:r>
            <a:r>
              <a:rPr lang="es-PE" dirty="0"/>
              <a:t>, ~15 s): “Esta es la evidencia completa de la validación cruzada en MATLAB puro: seguimiento articular de las tres juntas, prácticamente idéntico a Simulink.”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a:t>GUION (</a:t>
            </a:r>
            <a:r>
              <a:rPr lang="en-US" sz="1200" i="1" dirty="0">
                <a:solidFill>
                  <a:srgbClr val="F0D5D8"/>
                </a:solidFill>
                <a:latin typeface="Calibri" pitchFamily="34" charset="0"/>
                <a:ea typeface="Calibri" pitchFamily="34" charset="-122"/>
                <a:cs typeface="Calibri" pitchFamily="34" charset="-120"/>
              </a:rPr>
              <a:t>Gabriela Villegas</a:t>
            </a:r>
            <a:r>
              <a:rPr lang="es-PE" dirty="0"/>
              <a:t>, ~15 s): “El error articular comparado y la trayectoria cartesiana del efector, también en MATLAB puro -mismos números que ya vimos, menos de 1% de diferencia-.”</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a:t>GUION (</a:t>
            </a:r>
            <a:r>
              <a:rPr lang="en-US" sz="1200" i="1" dirty="0">
                <a:solidFill>
                  <a:srgbClr val="F0D5D8"/>
                </a:solidFill>
                <a:latin typeface="Calibri" pitchFamily="34" charset="0"/>
                <a:ea typeface="Calibri" pitchFamily="34" charset="-122"/>
                <a:cs typeface="Calibri" pitchFamily="34" charset="-120"/>
              </a:rPr>
              <a:t>Gabriela Villegas</a:t>
            </a:r>
            <a:r>
              <a:rPr lang="es-PE" dirty="0"/>
              <a:t>, ~15 s): “Y el torque por controlador y por articulación en esa misma validación cruzada. Sigo con la implementación en Simulink.”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a:t>GUION (</a:t>
            </a:r>
            <a:r>
              <a:rPr lang="en-US" sz="1200" i="1" dirty="0">
                <a:solidFill>
                  <a:srgbClr val="F0D5D8"/>
                </a:solidFill>
                <a:latin typeface="Calibri" pitchFamily="34" charset="0"/>
                <a:ea typeface="Calibri" pitchFamily="34" charset="-122"/>
                <a:cs typeface="Calibri" pitchFamily="34" charset="-120"/>
              </a:rPr>
              <a:t>Gabriela Villegas</a:t>
            </a:r>
            <a:r>
              <a:rPr lang="es-PE" dirty="0"/>
              <a:t>, ~15 s): “Los tres Scopes reales de Simulink, uno por controlador: en los tres, las tres articulaciones convergen.”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s-PE"/>
          </a:p>
        </p:txBody>
      </p:sp>
      <p:sp>
        <p:nvSpPr>
          <p:cNvPr id="3" name="Notes Placeholder 2"/>
          <p:cNvSpPr>
            <a:spLocks noGrp="1"/>
          </p:cNvSpPr>
          <p:nvPr>
            <p:ph type="body" sz="quarter" idx="3"/>
          </p:nvPr>
        </p:nvSpPr>
        <p:spPr/>
        <p:txBody>
          <a:bodyPr/>
          <a:lstStyle/>
          <a:p>
            <a:r>
              <a:t>GUION (Expositor 1, ~15 s):</a:t>
            </a:r>
          </a:p>
          <a:p>
            <a:r>
              <a:t>"Gracias. Cierro yo con la planeación autónoma y las conclusiones."</a:t>
            </a:r>
          </a:p>
        </p:txBody>
      </p:sp>
      <p:sp>
        <p:nvSpPr>
          <p:cNvPr id="4" name="Slide Number Placeholder 3"/>
          <p:cNvSpPr>
            <a:spLocks noGrp="1"/>
          </p:cNvSpPr>
          <p:nvPr>
            <p:ph type="sldNum" sz="quarter" idx="5"/>
          </p:nvPr>
        </p:nvSpPr>
        <p:spPr/>
        <p:txBody>
          <a:bodyPr/>
          <a:lstStyle/>
          <a:p>
            <a:endParaRPr lang="es-P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(Fernando García, ~85 s):</a:t>
            </a:r>
          </a:p>
          <a:p>
            <a:r>
              <a:t>"Cerramos el círculo del trabajo: los mismos tres controladores que acaban de ver, sin ninguna modificación, ahora siguen una trayectoria generada autónomamente en presencia de obstáculos. Esto es, en sí mismo, una decisión de arquitectura: separar completamente la capa de planeación de la capa de control, un principio estándar en sistemas robóticos autónomos. El flujo es: un mapa cartesiano en el plano X-Z con dos obstáculos circulares; el algoritmo A*, con conectividad de 8 vecinos y una heurística admisible, encuentra la ruta óptima libre de colisión sobre esa grilla; los 13 waypoints resultantes son, todos, alcanzables por cinemática inversa -cero puntos descartados-; se suavizan con una interpolación pchip para obtener una trayectoria articular continua y derivable; y esa trayectoria la siguen, sin ningún cambio de ganancias ni de estructura, los tres controladores que Gabriela ya presentó. El hecho de que no hiciera falta ningún controlador nuevo es la mejor evidencia de que el diseño de control del bloque anterior es robusto frente al tipo de trayectoria que reciba."</a:t>
            </a:r>
          </a:p>
          <a:p/>
          <a:p>
            <a:r>
              <a:t>PREGUNTA PROBABLE DEL DOCENTE:</a:t>
            </a:r>
          </a:p>
          <a:p>
            <a:r>
              <a:t>P: "¿La planeación A* puede ejecutarse dentro de Simulink o solo en MATLAB?"</a:t>
            </a:r>
          </a:p>
          <a:p>
            <a:r>
              <a:t>R: Se planifica en MATLAB y se entrega la trayectoria articular deseada qd(t) a Simulink. Queda como pregunta abierta al docente si desea que el propio Simulink ejecute el algoritmo de búsqueda.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(Fernando García, ~15 s): “El seguimiento articular completo con la ruta A*, para las tres juntas y los tres controladores ya vistos.”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(Fernando García, ~15 s): “Error articular y trayectoria cartesiana del efector siguiendo la ruta con obstáculos.”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(Fernando García, ~15 s): “Y el torque correspondiente: el par calculado vuelve a ser el más eficiente, con el pico más bajo.”</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(Fernando García - cierre, ~85 s):</a:t>
            </a:r>
          </a:p>
          <a:p>
            <a:r>
              <a:t>"Para cerrar. Obtuvimos un modelo dinámico completo, M de q q dos puntos más C q punto más G igual a tau, derivado exclusivamente por Jacobianos y coeficientes de Christoffel, sin lagrangiano, y lo verificamos matemáticamente: simétrico, definido positivo, y con la propiedad de pasividad confirmada numéricamente. Los tres controladores están validados en dos plataformas independientes, Simulink y MATLAB puro, con menos de 1% de diferencia entre ellas, y cada uno con su propia demostración formal de estabilidad, no solo con una gráfica que converge. El par calculado es, matemática y experimentalmente, el más eficiente: reduce el sistema en lazo cerrado a una dinámica de error lineal exacta, y eso se traduce en menor tiempo de estabilización y menor torque máximo -el torque RMS es prácticamente igual en los tres, por eso no lo destacamos como diferenciador-. Y la planeación autónoma con A* se integró sin tocar una sola ganancia de control, sin perder precisión de seguimiento. En síntesis: partimos de la cinemática del trabajo parcial y llegamos a un sistema de control articular con sustento matemático completo, verificado en dos plataformas, e integrado con planeación autónoma de extremo a extremo. Muchas gracias, quedamos abiertos a sus preguntas."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C49212-93B8-D1B2-B0AE-47DBBFC1DA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A16128-C252-8156-9EBE-C8DE3C524A4E}"/>
              </a:ext>
            </a:extLst>
          </p:cNvPr>
          <p:cNvSpPr>
            <a:spLocks noGrp="1" noRot="1" noChangeAspect="1"/>
          </p:cNvSpPr>
          <p:nvPr>
            <p:ph type="sldImg"/>
          </p:nvPr>
        </p:nvSpPr>
        <p:spPr/>
        <p:txBody>
          <a:bodyPr/>
          <a:lstStyle/>
          <a:p>
            <a:endParaRPr lang="es-PE"/>
          </a:p>
        </p:txBody>
      </p:sp>
      <p:sp>
        <p:nvSpPr>
          <p:cNvPr id="3" name="Notes Placeholder 2">
            <a:extLst>
              <a:ext uri="{FF2B5EF4-FFF2-40B4-BE49-F238E27FC236}">
                <a16:creationId xmlns:a16="http://schemas.microsoft.com/office/drawing/2014/main" id="{30EF70D7-D83D-3BA1-D235-821965639549}"/>
              </a:ext>
            </a:extLst>
          </p:cNvPr>
          <p:cNvSpPr>
            <a:spLocks noGrp="1"/>
          </p:cNvSpPr>
          <p:nvPr>
            <p:ph type="body" idx="1"/>
          </p:nvPr>
        </p:nvSpPr>
        <p:spPr/>
        <p:txBody>
          <a:bodyPr/>
          <a:lstStyle/>
          <a:p>
            <a:r>
              <a:rPr dirty="0"/>
              <a:t>GUION (</a:t>
            </a:r>
            <a:r>
              <a:rPr lang="es-PE" dirty="0"/>
              <a:t>Fernando García</a:t>
            </a:r>
            <a:r>
              <a:rPr dirty="0"/>
              <a:t> - </a:t>
            </a:r>
            <a:r>
              <a:rPr dirty="0" err="1"/>
              <a:t>cierre</a:t>
            </a:r>
            <a:r>
              <a:rPr dirty="0"/>
              <a:t>, ~</a:t>
            </a:r>
            <a:r>
              <a:rPr lang="es-ES" dirty="0"/>
              <a:t>1</a:t>
            </a:r>
            <a:r>
              <a:rPr dirty="0"/>
              <a:t>0 s):</a:t>
            </a:r>
          </a:p>
          <a:p>
            <a:r>
              <a:rPr dirty="0"/>
              <a:t>"</a:t>
            </a:r>
            <a:r>
              <a:rPr dirty="0" err="1"/>
              <a:t>Recordar</a:t>
            </a:r>
            <a:r>
              <a:rPr dirty="0"/>
              <a:t>: </a:t>
            </a:r>
            <a:r>
              <a:rPr dirty="0" err="1"/>
              <a:t>todo</a:t>
            </a:r>
            <a:r>
              <a:rPr dirty="0"/>
              <a:t> </a:t>
            </a:r>
            <a:r>
              <a:rPr dirty="0" err="1"/>
              <a:t>está</a:t>
            </a:r>
            <a:r>
              <a:rPr dirty="0"/>
              <a:t> </a:t>
            </a:r>
            <a:r>
              <a:rPr dirty="0" err="1"/>
              <a:t>versionado</a:t>
            </a:r>
            <a:r>
              <a:rPr dirty="0"/>
              <a:t> y es reproducible en el </a:t>
            </a:r>
            <a:r>
              <a:rPr dirty="0" err="1"/>
              <a:t>repositorio</a:t>
            </a:r>
            <a:r>
              <a:rPr dirty="0"/>
              <a:t>.</a:t>
            </a:r>
          </a:p>
        </p:txBody>
      </p:sp>
      <p:sp>
        <p:nvSpPr>
          <p:cNvPr id="4" name="Slide Number Placeholder 3">
            <a:extLst>
              <a:ext uri="{FF2B5EF4-FFF2-40B4-BE49-F238E27FC236}">
                <a16:creationId xmlns:a16="http://schemas.microsoft.com/office/drawing/2014/main" id="{A1A88D14-80D2-6731-25CB-122CAEF3B709}"/>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2155203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microsoft.com/office/2007/relationships/hdphoto" Target="../media/hdphoto2.wdp"/></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png"/><Relationship Id="rId4" Type="http://schemas.microsoft.com/office/2007/relationships/hdphoto" Target="../media/hdphoto3.wdp"/><Relationship Id="rId5"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1.png"/><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990011"/>
        </a:solidFill>
        <a:effectLst/>
      </p:bgPr>
    </p:bg>
    <p:spTree>
      <p:nvGrpSpPr>
        <p:cNvPr id="1" name=""/>
        <p:cNvGrpSpPr/>
        <p:nvPr/>
      </p:nvGrpSpPr>
      <p:grpSpPr>
        <a:xfrm>
          <a:off x="0" y="0"/>
          <a:ext cx="0" cy="0"/>
          <a:chOff x="0" y="0"/>
          <a:chExt cx="0" cy="0"/>
        </a:xfrm>
      </p:grpSpPr>
      <p:sp>
        <p:nvSpPr>
          <p:cNvPr id="2" name="Shape 0"/>
          <p:cNvSpPr/>
          <p:nvPr/>
        </p:nvSpPr>
        <p:spPr>
          <a:xfrm>
            <a:off x="-15088" y="20313"/>
            <a:ext cx="12191695" cy="6858000"/>
          </a:xfrm>
          <a:prstGeom prst="rect">
            <a:avLst/>
          </a:prstGeom>
          <a:solidFill>
            <a:srgbClr val="600810"/>
          </a:solidFill>
          <a:ln/>
        </p:spPr>
        <p:txBody>
          <a:bodyPr/>
          <a:lstStyle/>
          <a:p>
            <a:endParaRPr lang="es-PE" noProof="0" dirty="0"/>
          </a:p>
        </p:txBody>
      </p:sp>
      <p:pic>
        <p:nvPicPr>
          <p:cNvPr id="9" name="Image 0" descr="/tmp/tesis_v6/img/logo_uni.png">
            <a:extLst>
              <a:ext uri="{FF2B5EF4-FFF2-40B4-BE49-F238E27FC236}">
                <a16:creationId xmlns:a16="http://schemas.microsoft.com/office/drawing/2014/main" id="{DB14F3E5-1F2A-B5A5-30DF-08DB1DE3A128}"/>
              </a:ext>
            </a:extLst>
          </p:cNvPr>
          <p:cNvPicPr>
            <a:picLocks noChangeAspect="1"/>
          </p:cNvPicPr>
          <p:nvPr/>
        </p:nvPicPr>
        <p:blipFill>
          <a:blip r:embed="rId3">
            <a:extLst>
              <a:ext uri="{BEBA8EAE-BF5A-486C-A8C5-ECC9F3942E4B}">
                <a14:imgProps xmlns:a14="http://schemas.microsoft.com/office/drawing/2010/main">
                  <a14:imgLayer r:embed="rId4">
                    <a14:imgEffect>
                      <a14:saturation sat="33000"/>
                    </a14:imgEffect>
                    <a14:imgEffect>
                      <a14:brightnessContrast bright="20000"/>
                    </a14:imgEffect>
                  </a14:imgLayer>
                </a14:imgProps>
              </a:ext>
            </a:extLst>
          </a:blip>
          <a:stretch>
            <a:fillRect/>
          </a:stretch>
        </p:blipFill>
        <p:spPr>
          <a:xfrm>
            <a:off x="4026738" y="274321"/>
            <a:ext cx="3779519" cy="4754879"/>
          </a:xfrm>
          <a:prstGeom prst="rect">
            <a:avLst/>
          </a:prstGeom>
        </p:spPr>
      </p:pic>
      <p:sp>
        <p:nvSpPr>
          <p:cNvPr id="3" name="Text 1"/>
          <p:cNvSpPr/>
          <p:nvPr/>
        </p:nvSpPr>
        <p:spPr>
          <a:xfrm>
            <a:off x="822960" y="914400"/>
            <a:ext cx="10515600" cy="365760"/>
          </a:xfrm>
          <a:prstGeom prst="rect">
            <a:avLst/>
          </a:prstGeom>
          <a:noFill/>
          <a:ln/>
        </p:spPr>
        <p:txBody>
          <a:bodyPr wrap="square" rtlCol="0" anchor="ctr"/>
          <a:lstStyle/>
          <a:p>
            <a:pPr marL="0" indent="0" algn="ctr">
              <a:buNone/>
            </a:pPr>
            <a:r>
              <a:rPr lang="es-PE" sz="2000" b="1" kern="0" spc="200" noProof="0" dirty="0">
                <a:solidFill>
                  <a:srgbClr val="E8C8CB"/>
                </a:solidFill>
                <a:latin typeface="Arial" panose="020B0604020202020204" pitchFamily="34" charset="0"/>
                <a:ea typeface="Calibri" pitchFamily="34" charset="-122"/>
                <a:cs typeface="Arial" panose="020B0604020202020204" pitchFamily="34" charset="0"/>
              </a:rPr>
              <a:t>UNIVERSIDAD NACIONAL DE INGENIERÍA</a:t>
            </a:r>
          </a:p>
          <a:p>
            <a:pPr marL="0" indent="0" algn="ctr">
              <a:buNone/>
            </a:pPr>
            <a:r>
              <a:rPr lang="es-PE" sz="1250" b="1" kern="0" spc="200" noProof="0" dirty="0">
                <a:solidFill>
                  <a:srgbClr val="E8C8CB"/>
                </a:solidFill>
                <a:latin typeface="Calibri" pitchFamily="34" charset="0"/>
                <a:ea typeface="Calibri" pitchFamily="34" charset="-122"/>
                <a:cs typeface="Calibri" pitchFamily="34" charset="-120"/>
              </a:rPr>
              <a:t>UNIDAD DE POSTGRADO FACULTAD DE INGENIERIA INDUSTRIAL Y DE SISTEMAS</a:t>
            </a:r>
          </a:p>
          <a:p>
            <a:pPr marL="0" indent="0" algn="ctr">
              <a:buNone/>
            </a:pPr>
            <a:r>
              <a:rPr lang="es-PE" sz="1250" b="1" kern="0" spc="200" noProof="0" dirty="0">
                <a:solidFill>
                  <a:srgbClr val="E8C8CB"/>
                </a:solidFill>
                <a:latin typeface="Calibri" pitchFamily="34" charset="0"/>
                <a:ea typeface="Calibri" pitchFamily="34" charset="-122"/>
                <a:cs typeface="Calibri" pitchFamily="34" charset="-120"/>
              </a:rPr>
              <a:t>MAESTRÍA EN INTELIGENCIA ARTIFICIAL</a:t>
            </a:r>
            <a:endParaRPr lang="es-PE" sz="1250" noProof="0" dirty="0"/>
          </a:p>
        </p:txBody>
      </p:sp>
      <p:sp>
        <p:nvSpPr>
          <p:cNvPr id="4" name="Text 2"/>
          <p:cNvSpPr/>
          <p:nvPr/>
        </p:nvSpPr>
        <p:spPr>
          <a:xfrm>
            <a:off x="2236863" y="2692385"/>
            <a:ext cx="7359268" cy="914400"/>
          </a:xfrm>
          <a:prstGeom prst="rect">
            <a:avLst/>
          </a:prstGeom>
          <a:noFill/>
          <a:ln/>
        </p:spPr>
        <p:txBody>
          <a:bodyPr wrap="square" rtlCol="0" anchor="ctr"/>
          <a:lstStyle/>
          <a:p>
            <a:pPr marL="0" indent="0" algn="ctr">
              <a:buNone/>
            </a:pPr>
            <a:r>
              <a:rPr lang="es-PE" sz="2800" noProof="0" dirty="0">
                <a:solidFill>
                  <a:srgbClr val="FFFFFF"/>
                </a:solidFill>
                <a:latin typeface="Arial Black" panose="020B0A04020102020204" pitchFamily="34" charset="0"/>
                <a:ea typeface="Cambria" pitchFamily="34" charset="-122"/>
                <a:cs typeface="Cambria" pitchFamily="34" charset="-120"/>
              </a:rPr>
              <a:t>CONTROL DE UN ROBOT ANTROPOMÓRFICO DE 3 GDL</a:t>
            </a:r>
            <a:endParaRPr lang="es-PE" sz="2800" noProof="0" dirty="0">
              <a:latin typeface="Arial Black" panose="020B0A04020102020204" pitchFamily="34" charset="0"/>
            </a:endParaRPr>
          </a:p>
        </p:txBody>
      </p:sp>
      <p:sp>
        <p:nvSpPr>
          <p:cNvPr id="5" name="Text 3"/>
          <p:cNvSpPr/>
          <p:nvPr/>
        </p:nvSpPr>
        <p:spPr>
          <a:xfrm>
            <a:off x="1295400" y="3449313"/>
            <a:ext cx="9601200" cy="640080"/>
          </a:xfrm>
          <a:prstGeom prst="rect">
            <a:avLst/>
          </a:prstGeom>
          <a:noFill/>
          <a:ln/>
        </p:spPr>
        <p:txBody>
          <a:bodyPr wrap="square" rtlCol="0" anchor="ctr"/>
          <a:lstStyle/>
          <a:p>
            <a:pPr marL="0" indent="0" algn="ctr">
              <a:buNone/>
            </a:pPr>
            <a:r>
              <a:rPr lang="es-PE" sz="1500" i="1" noProof="0" dirty="0">
                <a:solidFill>
                  <a:srgbClr val="F0D5D8"/>
                </a:solidFill>
                <a:latin typeface="Calibri" pitchFamily="34" charset="0"/>
                <a:ea typeface="Calibri" pitchFamily="34" charset="-122"/>
                <a:cs typeface="Calibri" pitchFamily="34" charset="-120"/>
              </a:rPr>
              <a:t>Modelo dinámico por Jacobianos, controladores articulares en Simulink y planeación autónoma con obstáculos</a:t>
            </a:r>
            <a:endParaRPr lang="es-PE" sz="1500" noProof="0" dirty="0"/>
          </a:p>
        </p:txBody>
      </p:sp>
      <p:sp>
        <p:nvSpPr>
          <p:cNvPr id="6" name="Text 4"/>
          <p:cNvSpPr/>
          <p:nvPr/>
        </p:nvSpPr>
        <p:spPr>
          <a:xfrm>
            <a:off x="2698582" y="5453349"/>
            <a:ext cx="3382178" cy="903384"/>
          </a:xfrm>
          <a:prstGeom prst="rect">
            <a:avLst/>
          </a:prstGeom>
          <a:noFill/>
          <a:ln/>
        </p:spPr>
        <p:txBody>
          <a:bodyPr wrap="square" rtlCol="0" anchor="ctr"/>
          <a:lstStyle/>
          <a:p>
            <a:pPr marL="0" indent="0">
              <a:lnSpc>
                <a:spcPct val="150000"/>
              </a:lnSpc>
              <a:buNone/>
            </a:pPr>
            <a:r>
              <a:rPr lang="es-PE" sz="1200" noProof="0" dirty="0">
                <a:solidFill>
                  <a:srgbClr val="FFFFFF"/>
                </a:solidFill>
                <a:latin typeface="Arial" panose="020B0604020202020204" pitchFamily="34" charset="0"/>
                <a:ea typeface="Calibri" pitchFamily="34" charset="-122"/>
                <a:cs typeface="Arial" panose="020B0604020202020204" pitchFamily="34" charset="0"/>
              </a:rPr>
              <a:t>Fernando García Atúncar  </a:t>
            </a:r>
          </a:p>
          <a:p>
            <a:pPr marL="0" indent="0">
              <a:lnSpc>
                <a:spcPct val="150000"/>
              </a:lnSpc>
              <a:buNone/>
            </a:pPr>
            <a:r>
              <a:rPr lang="es-PE" sz="1200" noProof="0" dirty="0">
                <a:solidFill>
                  <a:srgbClr val="FFFFFF"/>
                </a:solidFill>
                <a:latin typeface="Arial" panose="020B0604020202020204" pitchFamily="34" charset="0"/>
                <a:ea typeface="Calibri" pitchFamily="34" charset="-122"/>
                <a:cs typeface="Arial" panose="020B0604020202020204" pitchFamily="34" charset="0"/>
              </a:rPr>
              <a:t>Carlos Gerardo Quispe Reynoso   </a:t>
            </a:r>
          </a:p>
          <a:p>
            <a:pPr marL="0" indent="0">
              <a:lnSpc>
                <a:spcPct val="150000"/>
              </a:lnSpc>
              <a:buNone/>
            </a:pPr>
            <a:r>
              <a:rPr lang="es-PE" sz="1200" noProof="0" dirty="0">
                <a:solidFill>
                  <a:srgbClr val="FFFFFF"/>
                </a:solidFill>
                <a:latin typeface="Arial" panose="020B0604020202020204" pitchFamily="34" charset="0"/>
                <a:ea typeface="Calibri" pitchFamily="34" charset="-122"/>
                <a:cs typeface="Arial" panose="020B0604020202020204" pitchFamily="34" charset="0"/>
              </a:rPr>
              <a:t>Gabriela Graciela Villegas Vásquez</a:t>
            </a:r>
            <a:endParaRPr lang="es-PE" sz="1200" noProof="0" dirty="0">
              <a:latin typeface="Arial" panose="020B0604020202020204" pitchFamily="34" charset="0"/>
              <a:cs typeface="Arial" panose="020B0604020202020204" pitchFamily="34" charset="0"/>
            </a:endParaRPr>
          </a:p>
        </p:txBody>
      </p:sp>
      <p:sp>
        <p:nvSpPr>
          <p:cNvPr id="7" name="Text 5"/>
          <p:cNvSpPr/>
          <p:nvPr/>
        </p:nvSpPr>
        <p:spPr>
          <a:xfrm>
            <a:off x="7768544" y="5303520"/>
            <a:ext cx="4117003" cy="1188720"/>
          </a:xfrm>
          <a:prstGeom prst="rect">
            <a:avLst/>
          </a:prstGeom>
          <a:noFill/>
          <a:ln/>
        </p:spPr>
        <p:txBody>
          <a:bodyPr wrap="square" rtlCol="0" anchor="ctr"/>
          <a:lstStyle/>
          <a:p>
            <a:pPr>
              <a:lnSpc>
                <a:spcPct val="150000"/>
              </a:lnSpc>
            </a:pPr>
            <a:r>
              <a:rPr lang="es-PE" sz="1200" noProof="0" dirty="0">
                <a:solidFill>
                  <a:srgbClr val="FFFFFF"/>
                </a:solidFill>
                <a:latin typeface="Arial" panose="020B0604020202020204" pitchFamily="34" charset="0"/>
                <a:ea typeface="Calibri" pitchFamily="34" charset="-122"/>
                <a:cs typeface="Arial" panose="020B0604020202020204" pitchFamily="34" charset="0"/>
              </a:rPr>
              <a:t>Curso: Robótica y Sistemas Autónomos     </a:t>
            </a:r>
          </a:p>
          <a:p>
            <a:pPr>
              <a:lnSpc>
                <a:spcPct val="150000"/>
              </a:lnSpc>
            </a:pPr>
            <a:r>
              <a:rPr lang="es-PE" sz="1200" noProof="0" dirty="0">
                <a:solidFill>
                  <a:srgbClr val="FFFFFF"/>
                </a:solidFill>
                <a:latin typeface="Arial" panose="020B0604020202020204" pitchFamily="34" charset="0"/>
                <a:ea typeface="Calibri" pitchFamily="34" charset="-122"/>
                <a:cs typeface="Arial" panose="020B0604020202020204" pitchFamily="34" charset="0"/>
              </a:rPr>
              <a:t>Docente: Ing. Wilson Dennis Reyes Vásquez     </a:t>
            </a:r>
          </a:p>
          <a:p>
            <a:pPr>
              <a:lnSpc>
                <a:spcPct val="150000"/>
              </a:lnSpc>
            </a:pPr>
            <a:r>
              <a:rPr lang="es-PE" sz="1200" noProof="0" dirty="0">
                <a:solidFill>
                  <a:srgbClr val="FFFFFF"/>
                </a:solidFill>
                <a:latin typeface="Arial" panose="020B0604020202020204" pitchFamily="34" charset="0"/>
                <a:ea typeface="Calibri" pitchFamily="34" charset="-122"/>
                <a:cs typeface="Arial" panose="020B0604020202020204" pitchFamily="34" charset="0"/>
              </a:rPr>
              <a:t>Ciclo académico: 2026 - 1</a:t>
            </a:r>
          </a:p>
        </p:txBody>
      </p:sp>
      <p:sp>
        <p:nvSpPr>
          <p:cNvPr id="11" name="Shape 0">
            <a:extLst>
              <a:ext uri="{FF2B5EF4-FFF2-40B4-BE49-F238E27FC236}">
                <a16:creationId xmlns:a16="http://schemas.microsoft.com/office/drawing/2014/main" id="{02D8E5AB-802D-9D65-B0C7-9A5700ECA4A7}"/>
              </a:ext>
            </a:extLst>
          </p:cNvPr>
          <p:cNvSpPr/>
          <p:nvPr/>
        </p:nvSpPr>
        <p:spPr>
          <a:xfrm>
            <a:off x="9079992" y="-1463040"/>
            <a:ext cx="4754880" cy="4754880"/>
          </a:xfrm>
          <a:prstGeom prst="ellipse">
            <a:avLst/>
          </a:prstGeom>
          <a:solidFill>
            <a:srgbClr val="990011">
              <a:alpha val="38000"/>
            </a:srgbClr>
          </a:solidFill>
          <a:ln/>
        </p:spPr>
        <p:txBody>
          <a:bodyPr/>
          <a:lstStyle/>
          <a:p>
            <a:endParaRPr lang="es-PE" noProof="0" dirty="0"/>
          </a:p>
        </p:txBody>
      </p:sp>
      <p:sp>
        <p:nvSpPr>
          <p:cNvPr id="13" name="Shape 1">
            <a:extLst>
              <a:ext uri="{FF2B5EF4-FFF2-40B4-BE49-F238E27FC236}">
                <a16:creationId xmlns:a16="http://schemas.microsoft.com/office/drawing/2014/main" id="{3C06BDC0-F4FD-E8E8-ADF4-824198BCCC2E}"/>
              </a:ext>
            </a:extLst>
          </p:cNvPr>
          <p:cNvSpPr/>
          <p:nvPr/>
        </p:nvSpPr>
        <p:spPr>
          <a:xfrm>
            <a:off x="-1645920" y="4480560"/>
            <a:ext cx="4206240" cy="4206240"/>
          </a:xfrm>
          <a:prstGeom prst="ellipse">
            <a:avLst/>
          </a:prstGeom>
          <a:solidFill>
            <a:srgbClr val="990011">
              <a:alpha val="28000"/>
            </a:srgbClr>
          </a:solidFill>
          <a:ln/>
        </p:spPr>
        <p:txBody>
          <a:bodyPr/>
          <a:lstStyle/>
          <a:p>
            <a:endParaRPr lang="es-PE"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s-PE" sz="1100" b="1" kern="0" spc="300" noProof="0" dirty="0">
                <a:solidFill>
                  <a:srgbClr val="6E6E6E"/>
                </a:solidFill>
                <a:latin typeface="Calibri" pitchFamily="34" charset="0"/>
                <a:ea typeface="Calibri" pitchFamily="34" charset="-122"/>
                <a:cs typeface="Calibri" pitchFamily="34" charset="-120"/>
              </a:rPr>
              <a:t>CONTENIDO DE LA SUSTENTACIÓN</a:t>
            </a:r>
            <a:endParaRPr lang="es-PE" sz="1100" noProof="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s-PE" sz="2700" b="1" noProof="0" dirty="0">
                <a:solidFill>
                  <a:srgbClr val="990011"/>
                </a:solidFill>
                <a:latin typeface="Cambria" pitchFamily="34" charset="0"/>
                <a:ea typeface="Cambria" pitchFamily="34" charset="-122"/>
                <a:cs typeface="Cambria" pitchFamily="34" charset="-120"/>
              </a:rPr>
              <a:t>Guion de la exposición</a:t>
            </a:r>
            <a:endParaRPr lang="es-PE" sz="2700" noProof="0" dirty="0"/>
          </a:p>
        </p:txBody>
      </p:sp>
      <p:sp>
        <p:nvSpPr>
          <p:cNvPr id="4" name="Shape 2"/>
          <p:cNvSpPr/>
          <p:nvPr/>
        </p:nvSpPr>
        <p:spPr>
          <a:xfrm>
            <a:off x="548640" y="1783080"/>
            <a:ext cx="822960" cy="980000"/>
          </a:xfrm>
          <a:prstGeom prst="roundRect">
            <a:avLst>
              <a:gd name="adj" fmla="val 6667"/>
            </a:avLst>
          </a:prstGeom>
          <a:solidFill>
            <a:srgbClr val="990011"/>
          </a:solidFill>
          <a:ln/>
        </p:spPr>
        <p:txBody>
          <a:bodyPr/>
          <a:lstStyle/>
          <a:p>
            <a:endParaRPr lang="es-PE" noProof="0" dirty="0"/>
          </a:p>
        </p:txBody>
      </p:sp>
      <p:sp>
        <p:nvSpPr>
          <p:cNvPr id="5" name="Text 3"/>
          <p:cNvSpPr/>
          <p:nvPr/>
        </p:nvSpPr>
        <p:spPr>
          <a:xfrm>
            <a:off x="548640" y="1783080"/>
            <a:ext cx="822960" cy="980000"/>
          </a:xfrm>
          <a:prstGeom prst="rect">
            <a:avLst/>
          </a:prstGeom>
          <a:noFill/>
          <a:ln/>
        </p:spPr>
        <p:txBody>
          <a:bodyPr wrap="square" rtlCol="0" anchor="ctr"/>
          <a:lstStyle/>
          <a:p>
            <a:pPr marL="0" indent="0" algn="ctr">
              <a:buNone/>
            </a:pPr>
            <a:r>
              <a:rPr lang="es-PE" sz="3400" b="1" noProof="0" dirty="0">
                <a:solidFill>
                  <a:srgbClr val="FFFFFF"/>
                </a:solidFill>
                <a:latin typeface="Cambria" pitchFamily="34" charset="0"/>
                <a:ea typeface="Cambria" pitchFamily="34" charset="-122"/>
                <a:cs typeface="Cambria" pitchFamily="34" charset="-120"/>
              </a:rPr>
              <a:t>1</a:t>
            </a:r>
            <a:endParaRPr lang="es-PE" sz="3400" noProof="0" dirty="0"/>
          </a:p>
        </p:txBody>
      </p:sp>
      <p:sp>
        <p:nvSpPr>
          <p:cNvPr id="6" name="Shape 4"/>
          <p:cNvSpPr/>
          <p:nvPr/>
        </p:nvSpPr>
        <p:spPr>
          <a:xfrm>
            <a:off x="1508760" y="1783080"/>
            <a:ext cx="10104120" cy="980000"/>
          </a:xfrm>
          <a:prstGeom prst="roundRect">
            <a:avLst>
              <a:gd name="adj" fmla="val 5217"/>
            </a:avLst>
          </a:prstGeom>
          <a:solidFill>
            <a:srgbClr val="FCF6F5"/>
          </a:solidFill>
          <a:ln w="12700">
            <a:solidFill>
              <a:srgbClr val="D9C7C6"/>
            </a:solidFill>
            <a:prstDash val="solid"/>
          </a:ln>
        </p:spPr>
        <p:txBody>
          <a:bodyPr/>
          <a:lstStyle/>
          <a:p>
            <a:endParaRPr lang="es-PE" noProof="0" dirty="0"/>
          </a:p>
        </p:txBody>
      </p:sp>
      <p:sp>
        <p:nvSpPr>
          <p:cNvPr id="7" name="Text 5"/>
          <p:cNvSpPr/>
          <p:nvPr/>
        </p:nvSpPr>
        <p:spPr>
          <a:xfrm>
            <a:off x="1737360" y="1929384"/>
            <a:ext cx="9601200" cy="384048"/>
          </a:xfrm>
          <a:prstGeom prst="rect">
            <a:avLst/>
          </a:prstGeom>
          <a:noFill/>
          <a:ln/>
        </p:spPr>
        <p:txBody>
          <a:bodyPr wrap="square" lIns="0" tIns="0" rIns="0" bIns="0" rtlCol="0" anchor="ctr"/>
          <a:lstStyle/>
          <a:p>
            <a:pPr marL="0" indent="0">
              <a:buNone/>
            </a:pPr>
            <a:r>
              <a:rPr lang="es-PE" sz="1700" b="1" noProof="0" dirty="0">
                <a:solidFill>
                  <a:srgbClr val="990011"/>
                </a:solidFill>
                <a:latin typeface="Calibri" pitchFamily="34" charset="0"/>
                <a:ea typeface="Calibri" pitchFamily="34" charset="-122"/>
                <a:cs typeface="Calibri" pitchFamily="34" charset="-120"/>
              </a:rPr>
              <a:t>Punto de partida y motivación</a:t>
            </a:r>
            <a:endParaRPr lang="es-PE" sz="1700" noProof="0" dirty="0"/>
          </a:p>
        </p:txBody>
      </p:sp>
      <p:sp>
        <p:nvSpPr>
          <p:cNvPr id="8" name="Text 6"/>
          <p:cNvSpPr/>
          <p:nvPr/>
        </p:nvSpPr>
        <p:spPr>
          <a:xfrm>
            <a:off x="1737360" y="2331720"/>
            <a:ext cx="9601200" cy="384048"/>
          </a:xfrm>
          <a:prstGeom prst="rect">
            <a:avLst/>
          </a:prstGeom>
          <a:noFill/>
          <a:ln/>
        </p:spPr>
        <p:txBody>
          <a:bodyPr wrap="square" lIns="0" tIns="0" rIns="0" bIns="0" rtlCol="0" anchor="ctr"/>
          <a:lstStyle/>
          <a:p>
            <a:pPr marL="0" indent="0">
              <a:buNone/>
            </a:pPr>
            <a:r>
              <a:rPr lang="es-PE" sz="1250" noProof="0" dirty="0">
                <a:solidFill>
                  <a:srgbClr val="6E6E6E"/>
                </a:solidFill>
                <a:latin typeface="Calibri" pitchFamily="34" charset="0"/>
                <a:ea typeface="Calibri" pitchFamily="34" charset="-122"/>
                <a:cs typeface="Calibri" pitchFamily="34" charset="-120"/>
              </a:rPr>
              <a:t>Fernando García— de dónde parte el trabajo (cinemática del parcial) y las tres preguntas guía</a:t>
            </a:r>
            <a:endParaRPr lang="es-PE" sz="1250" noProof="0" dirty="0"/>
          </a:p>
        </p:txBody>
      </p:sp>
      <p:sp>
        <p:nvSpPr>
          <p:cNvPr id="9" name="Shape 7"/>
          <p:cNvSpPr/>
          <p:nvPr/>
        </p:nvSpPr>
        <p:spPr>
          <a:xfrm>
            <a:off x="548640" y="2953580"/>
            <a:ext cx="822960" cy="980000"/>
          </a:xfrm>
          <a:prstGeom prst="roundRect">
            <a:avLst>
              <a:gd name="adj" fmla="val 6667"/>
            </a:avLst>
          </a:prstGeom>
          <a:solidFill>
            <a:srgbClr val="990011"/>
          </a:solidFill>
          <a:ln/>
        </p:spPr>
        <p:txBody>
          <a:bodyPr/>
          <a:lstStyle/>
          <a:p>
            <a:endParaRPr lang="es-PE" noProof="0" dirty="0"/>
          </a:p>
        </p:txBody>
      </p:sp>
      <p:sp>
        <p:nvSpPr>
          <p:cNvPr id="10" name="Text 8"/>
          <p:cNvSpPr/>
          <p:nvPr/>
        </p:nvSpPr>
        <p:spPr>
          <a:xfrm>
            <a:off x="548640" y="2953580"/>
            <a:ext cx="822960" cy="980000"/>
          </a:xfrm>
          <a:prstGeom prst="rect">
            <a:avLst/>
          </a:prstGeom>
          <a:noFill/>
          <a:ln/>
        </p:spPr>
        <p:txBody>
          <a:bodyPr wrap="square" rtlCol="0" anchor="ctr"/>
          <a:lstStyle/>
          <a:p>
            <a:pPr marL="0" indent="0" algn="ctr">
              <a:buNone/>
            </a:pPr>
            <a:r>
              <a:rPr lang="es-PE" sz="3400" b="1" noProof="0" dirty="0">
                <a:solidFill>
                  <a:srgbClr val="FFFFFF"/>
                </a:solidFill>
                <a:latin typeface="Cambria" pitchFamily="34" charset="0"/>
                <a:ea typeface="Cambria" pitchFamily="34" charset="-122"/>
                <a:cs typeface="Cambria" pitchFamily="34" charset="-120"/>
              </a:rPr>
              <a:t>2</a:t>
            </a:r>
            <a:endParaRPr lang="es-PE" sz="3400" noProof="0" dirty="0"/>
          </a:p>
        </p:txBody>
      </p:sp>
      <p:sp>
        <p:nvSpPr>
          <p:cNvPr id="11" name="Shape 9"/>
          <p:cNvSpPr/>
          <p:nvPr/>
        </p:nvSpPr>
        <p:spPr>
          <a:xfrm>
            <a:off x="1508760" y="2953580"/>
            <a:ext cx="10104120" cy="980000"/>
          </a:xfrm>
          <a:prstGeom prst="roundRect">
            <a:avLst>
              <a:gd name="adj" fmla="val 5217"/>
            </a:avLst>
          </a:prstGeom>
          <a:solidFill>
            <a:srgbClr val="FCF6F5"/>
          </a:solidFill>
          <a:ln w="12700">
            <a:solidFill>
              <a:srgbClr val="D9C7C6"/>
            </a:solidFill>
            <a:prstDash val="solid"/>
          </a:ln>
        </p:spPr>
        <p:txBody>
          <a:bodyPr/>
          <a:lstStyle/>
          <a:p>
            <a:endParaRPr lang="es-PE" noProof="0" dirty="0"/>
          </a:p>
        </p:txBody>
      </p:sp>
      <p:sp>
        <p:nvSpPr>
          <p:cNvPr id="12" name="Text 10"/>
          <p:cNvSpPr/>
          <p:nvPr/>
        </p:nvSpPr>
        <p:spPr>
          <a:xfrm>
            <a:off x="1737360" y="3099884"/>
            <a:ext cx="9601200" cy="384048"/>
          </a:xfrm>
          <a:prstGeom prst="rect">
            <a:avLst/>
          </a:prstGeom>
          <a:noFill/>
          <a:ln/>
        </p:spPr>
        <p:txBody>
          <a:bodyPr wrap="square" lIns="0" tIns="0" rIns="0" bIns="0" rtlCol="0" anchor="ctr"/>
          <a:lstStyle/>
          <a:p>
            <a:pPr marL="0" indent="0">
              <a:buNone/>
            </a:pPr>
            <a:r>
              <a:rPr lang="es-PE" sz="1700" b="1" noProof="0" dirty="0">
                <a:solidFill>
                  <a:srgbClr val="990011"/>
                </a:solidFill>
                <a:latin typeface="Calibri" pitchFamily="34" charset="0"/>
                <a:ea typeface="Calibri" pitchFamily="34" charset="-122"/>
                <a:cs typeface="Calibri" pitchFamily="34" charset="-120"/>
              </a:rPr>
              <a:t>Modelo dinámico por Jacobianos</a:t>
            </a:r>
            <a:endParaRPr lang="es-PE" sz="1700" noProof="0" dirty="0"/>
          </a:p>
        </p:txBody>
      </p:sp>
      <p:sp>
        <p:nvSpPr>
          <p:cNvPr id="13" name="Text 11"/>
          <p:cNvSpPr/>
          <p:nvPr/>
        </p:nvSpPr>
        <p:spPr>
          <a:xfrm>
            <a:off x="1737360" y="3502220"/>
            <a:ext cx="9601200" cy="384048"/>
          </a:xfrm>
          <a:prstGeom prst="rect">
            <a:avLst/>
          </a:prstGeom>
          <a:noFill/>
          <a:ln/>
        </p:spPr>
        <p:txBody>
          <a:bodyPr wrap="square" lIns="0" tIns="0" rIns="0" bIns="0" rtlCol="0" anchor="ctr"/>
          <a:lstStyle/>
          <a:p>
            <a:pPr marL="0" indent="0">
              <a:buNone/>
            </a:pPr>
            <a:r>
              <a:rPr lang="es-PE" sz="1250" noProof="0" dirty="0">
                <a:solidFill>
                  <a:srgbClr val="6E6E6E"/>
                </a:solidFill>
                <a:latin typeface="Calibri" pitchFamily="34" charset="0"/>
                <a:ea typeface="Calibri" pitchFamily="34" charset="-122"/>
                <a:cs typeface="Calibri" pitchFamily="34" charset="-120"/>
              </a:rPr>
              <a:t>Carlos Quispe— M(q), Coriolis (Christoffel), G(q) y validación numérica</a:t>
            </a:r>
            <a:endParaRPr lang="es-PE" sz="1250" noProof="0" dirty="0"/>
          </a:p>
        </p:txBody>
      </p:sp>
      <p:sp>
        <p:nvSpPr>
          <p:cNvPr id="14" name="Shape 12"/>
          <p:cNvSpPr/>
          <p:nvPr/>
        </p:nvSpPr>
        <p:spPr>
          <a:xfrm>
            <a:off x="548640" y="4124080"/>
            <a:ext cx="822960" cy="980000"/>
          </a:xfrm>
          <a:prstGeom prst="roundRect">
            <a:avLst>
              <a:gd name="adj" fmla="val 6667"/>
            </a:avLst>
          </a:prstGeom>
          <a:solidFill>
            <a:srgbClr val="990011"/>
          </a:solidFill>
          <a:ln/>
        </p:spPr>
        <p:txBody>
          <a:bodyPr/>
          <a:lstStyle/>
          <a:p>
            <a:endParaRPr lang="es-PE" noProof="0" dirty="0"/>
          </a:p>
        </p:txBody>
      </p:sp>
      <p:sp>
        <p:nvSpPr>
          <p:cNvPr id="20" name="Shape 12"/>
          <p:cNvSpPr/>
          <p:nvPr/>
        </p:nvSpPr>
        <p:spPr>
          <a:xfrm>
            <a:off x="548640" y="5294580"/>
            <a:ext cx="822960" cy="980000"/>
          </a:xfrm>
          <a:prstGeom prst="roundRect">
            <a:avLst>
              <a:gd name="adj" fmla="val 6667"/>
            </a:avLst>
          </a:prstGeom>
          <a:solidFill>
            <a:srgbClr val="990011"/>
          </a:solidFill>
          <a:ln/>
        </p:spPr>
        <p:txBody>
          <a:bodyPr/>
          <a:lstStyle/>
          <a:p>
            <a:endParaRPr lang="es-PE" noProof="0" dirty="0"/>
          </a:p>
        </p:txBody>
      </p:sp>
      <p:sp>
        <p:nvSpPr>
          <p:cNvPr id="15" name="Text 13"/>
          <p:cNvSpPr/>
          <p:nvPr/>
        </p:nvSpPr>
        <p:spPr>
          <a:xfrm>
            <a:off x="548640" y="4124080"/>
            <a:ext cx="822960" cy="980000"/>
          </a:xfrm>
          <a:prstGeom prst="rect">
            <a:avLst/>
          </a:prstGeom>
          <a:noFill/>
          <a:ln/>
        </p:spPr>
        <p:txBody>
          <a:bodyPr wrap="square" rtlCol="0" anchor="ctr"/>
          <a:lstStyle/>
          <a:p>
            <a:pPr marL="0" indent="0" algn="ctr">
              <a:buNone/>
            </a:pPr>
            <a:r>
              <a:rPr lang="es-PE" sz="3400" b="1" noProof="0" dirty="0">
                <a:solidFill>
                  <a:srgbClr val="FFFFFF"/>
                </a:solidFill>
                <a:latin typeface="Cambria" pitchFamily="34" charset="0"/>
                <a:ea typeface="Cambria" pitchFamily="34" charset="-122"/>
                <a:cs typeface="Cambria" pitchFamily="34" charset="-120"/>
              </a:rPr>
              <a:t>3</a:t>
            </a:r>
            <a:endParaRPr lang="es-PE" sz="3400" noProof="0" dirty="0"/>
          </a:p>
        </p:txBody>
      </p:sp>
      <p:sp>
        <p:nvSpPr>
          <p:cNvPr id="21" name="Text 13"/>
          <p:cNvSpPr/>
          <p:nvPr/>
        </p:nvSpPr>
        <p:spPr>
          <a:xfrm>
            <a:off x="548640" y="5294580"/>
            <a:ext cx="822960" cy="980000"/>
          </a:xfrm>
          <a:prstGeom prst="rect">
            <a:avLst/>
          </a:prstGeom>
          <a:noFill/>
          <a:ln/>
        </p:spPr>
        <p:txBody>
          <a:bodyPr wrap="square" rtlCol="0" anchor="ctr"/>
          <a:lstStyle/>
          <a:p>
            <a:pPr marL="0" indent="0" algn="ctr">
              <a:buNone/>
            </a:pPr>
            <a:r>
              <a:rPr lang="es-PE" sz="3400" b="1" noProof="0" dirty="0">
                <a:solidFill>
                  <a:srgbClr val="FFFFFF"/>
                </a:solidFill>
                <a:latin typeface="Cambria" pitchFamily="34" charset="0"/>
                <a:ea typeface="Cambria" pitchFamily="34" charset="-122"/>
                <a:cs typeface="Cambria" pitchFamily="34" charset="-120"/>
              </a:rPr>
              <a:t>4</a:t>
            </a:r>
            <a:endParaRPr lang="es-PE" sz="3400" noProof="0" dirty="0"/>
          </a:p>
        </p:txBody>
      </p:sp>
      <p:sp>
        <p:nvSpPr>
          <p:cNvPr id="16" name="Shape 14"/>
          <p:cNvSpPr/>
          <p:nvPr/>
        </p:nvSpPr>
        <p:spPr>
          <a:xfrm>
            <a:off x="1508760" y="4124080"/>
            <a:ext cx="10104120" cy="980000"/>
          </a:xfrm>
          <a:prstGeom prst="roundRect">
            <a:avLst>
              <a:gd name="adj" fmla="val 5217"/>
            </a:avLst>
          </a:prstGeom>
          <a:solidFill>
            <a:srgbClr val="FCF6F5"/>
          </a:solidFill>
          <a:ln w="12700">
            <a:solidFill>
              <a:srgbClr val="D9C7C6"/>
            </a:solidFill>
            <a:prstDash val="solid"/>
          </a:ln>
        </p:spPr>
        <p:txBody>
          <a:bodyPr/>
          <a:lstStyle/>
          <a:p>
            <a:endParaRPr lang="es-PE" noProof="0" dirty="0"/>
          </a:p>
        </p:txBody>
      </p:sp>
      <p:sp>
        <p:nvSpPr>
          <p:cNvPr id="22" name="Shape 14"/>
          <p:cNvSpPr/>
          <p:nvPr/>
        </p:nvSpPr>
        <p:spPr>
          <a:xfrm>
            <a:off x="1508760" y="5294580"/>
            <a:ext cx="10104120" cy="980000"/>
          </a:xfrm>
          <a:prstGeom prst="roundRect">
            <a:avLst>
              <a:gd name="adj" fmla="val 5217"/>
            </a:avLst>
          </a:prstGeom>
          <a:solidFill>
            <a:srgbClr val="FCF6F5"/>
          </a:solidFill>
          <a:ln w="12700">
            <a:solidFill>
              <a:srgbClr val="D9C7C6"/>
            </a:solidFill>
            <a:prstDash val="solid"/>
          </a:ln>
        </p:spPr>
        <p:txBody>
          <a:bodyPr/>
          <a:lstStyle/>
          <a:p>
            <a:endParaRPr lang="es-PE" noProof="0" dirty="0"/>
          </a:p>
        </p:txBody>
      </p:sp>
      <p:sp>
        <p:nvSpPr>
          <p:cNvPr id="17" name="Text 15"/>
          <p:cNvSpPr/>
          <p:nvPr/>
        </p:nvSpPr>
        <p:spPr>
          <a:xfrm>
            <a:off x="1737360" y="4270384"/>
            <a:ext cx="9601200" cy="384048"/>
          </a:xfrm>
          <a:prstGeom prst="rect">
            <a:avLst/>
          </a:prstGeom>
          <a:noFill/>
          <a:ln/>
        </p:spPr>
        <p:txBody>
          <a:bodyPr wrap="square" lIns="0" tIns="0" rIns="0" bIns="0" rtlCol="0" anchor="ctr"/>
          <a:lstStyle/>
          <a:p>
            <a:pPr marL="0" indent="0">
              <a:buNone/>
            </a:pPr>
            <a:r>
              <a:rPr lang="es-PE" sz="1700" b="1" noProof="0" dirty="0">
                <a:solidFill>
                  <a:srgbClr val="990011"/>
                </a:solidFill>
                <a:latin typeface="Calibri" pitchFamily="34" charset="0"/>
                <a:ea typeface="Calibri" pitchFamily="34" charset="-122"/>
                <a:cs typeface="Calibri" pitchFamily="34" charset="-120"/>
              </a:rPr>
              <a:t>Control e implementación</a:t>
            </a:r>
            <a:endParaRPr lang="es-PE" sz="1700" noProof="0" dirty="0"/>
          </a:p>
        </p:txBody>
      </p:sp>
      <p:sp>
        <p:nvSpPr>
          <p:cNvPr id="23" name="Text 15"/>
          <p:cNvSpPr/>
          <p:nvPr/>
        </p:nvSpPr>
        <p:spPr>
          <a:xfrm>
            <a:off x="1737360" y="5440884"/>
            <a:ext cx="9601200" cy="384048"/>
          </a:xfrm>
          <a:prstGeom prst="rect">
            <a:avLst/>
          </a:prstGeom>
          <a:noFill/>
          <a:ln/>
        </p:spPr>
        <p:txBody>
          <a:bodyPr wrap="square" lIns="0" tIns="0" rIns="0" bIns="0" rtlCol="0" anchor="ctr"/>
          <a:lstStyle/>
          <a:p>
            <a:pPr marL="0" indent="0">
              <a:buNone/>
            </a:pPr>
            <a:r>
              <a:rPr lang="es-PE" sz="1700" b="1" noProof="0" dirty="0">
                <a:solidFill>
                  <a:srgbClr val="990011"/>
                </a:solidFill>
                <a:latin typeface="Calibri" pitchFamily="34" charset="0"/>
                <a:ea typeface="Calibri" pitchFamily="34" charset="-122"/>
                <a:cs typeface="Calibri" pitchFamily="34" charset="-120"/>
              </a:rPr>
              <a:t>Planeación autónoma y conclusiones</a:t>
            </a:r>
            <a:endParaRPr lang="es-PE" sz="1700" noProof="0" dirty="0"/>
          </a:p>
        </p:txBody>
      </p:sp>
      <p:sp>
        <p:nvSpPr>
          <p:cNvPr id="18" name="Text 16"/>
          <p:cNvSpPr/>
          <p:nvPr/>
        </p:nvSpPr>
        <p:spPr>
          <a:xfrm>
            <a:off x="1737360" y="4672720"/>
            <a:ext cx="9601200" cy="384048"/>
          </a:xfrm>
          <a:prstGeom prst="rect">
            <a:avLst/>
          </a:prstGeom>
          <a:noFill/>
          <a:ln/>
        </p:spPr>
        <p:txBody>
          <a:bodyPr wrap="square" lIns="0" tIns="0" rIns="0" bIns="0" rtlCol="0" anchor="ctr"/>
          <a:lstStyle/>
          <a:p>
            <a:pPr marL="0" indent="0">
              <a:buNone/>
            </a:pPr>
            <a:r>
              <a:rPr lang="es-PE" sz="1250" noProof="0" dirty="0">
                <a:solidFill>
                  <a:srgbClr val="6E6E6E"/>
                </a:solidFill>
                <a:latin typeface="Calibri" pitchFamily="34" charset="0"/>
                <a:ea typeface="Calibri" pitchFamily="34" charset="-122"/>
                <a:cs typeface="Calibri" pitchFamily="34" charset="-120"/>
              </a:rPr>
              <a:t>Gabriela Villegas— controladores, prueba de estabilidad, Simulink y resultados</a:t>
            </a:r>
            <a:endParaRPr lang="es-PE" sz="1250" noProof="0" dirty="0"/>
          </a:p>
        </p:txBody>
      </p:sp>
      <p:sp>
        <p:nvSpPr>
          <p:cNvPr id="24" name="Text 16"/>
          <p:cNvSpPr/>
          <p:nvPr/>
        </p:nvSpPr>
        <p:spPr>
          <a:xfrm>
            <a:off x="1737360" y="5843220"/>
            <a:ext cx="9601200" cy="384048"/>
          </a:xfrm>
          <a:prstGeom prst="rect">
            <a:avLst/>
          </a:prstGeom>
          <a:noFill/>
          <a:ln/>
        </p:spPr>
        <p:txBody>
          <a:bodyPr wrap="square" lIns="0" tIns="0" rIns="0" bIns="0" rtlCol="0" anchor="ctr"/>
          <a:lstStyle/>
          <a:p>
            <a:pPr marL="0" indent="0">
              <a:buNone/>
            </a:pPr>
            <a:r>
              <a:rPr lang="es-PE" sz="1250" noProof="0" dirty="0">
                <a:solidFill>
                  <a:srgbClr val="6E6E6E"/>
                </a:solidFill>
                <a:latin typeface="Calibri" pitchFamily="34" charset="0"/>
                <a:ea typeface="Calibri" pitchFamily="34" charset="-122"/>
                <a:cs typeface="Calibri" pitchFamily="34" charset="-120"/>
              </a:rPr>
              <a:t>Fernando García— ruta A* con los controladores ya vistos, y cierre</a:t>
            </a:r>
            <a:endParaRPr lang="es-PE" sz="1250" noProof="0" dirty="0"/>
          </a:p>
        </p:txBody>
      </p:sp>
      <p:sp>
        <p:nvSpPr>
          <p:cNvPr id="19" name="Text 17"/>
          <p:cNvSpPr/>
          <p:nvPr/>
        </p:nvSpPr>
        <p:spPr>
          <a:xfrm>
            <a:off x="11612880" y="6455664"/>
            <a:ext cx="457200" cy="274320"/>
          </a:xfrm>
          <a:prstGeom prst="rect">
            <a:avLst/>
          </a:prstGeom>
          <a:noFill/>
          <a:ln/>
        </p:spPr>
        <p:txBody>
          <a:bodyPr wrap="square" lIns="0" tIns="0" rIns="0" bIns="0" rtlCol="0" anchor="ctr"/>
          <a:lstStyle/>
          <a:p>
            <a:pPr marL="0" indent="0" algn="r">
              <a:buNone/>
            </a:pPr>
            <a:r>
              <a:rPr lang="es-PE" sz="1000" noProof="0" dirty="0">
                <a:solidFill>
                  <a:srgbClr val="6E6E6E"/>
                </a:solidFill>
                <a:latin typeface="Calibri" pitchFamily="34" charset="0"/>
                <a:ea typeface="Calibri" pitchFamily="34" charset="-122"/>
                <a:cs typeface="Calibri" pitchFamily="34" charset="-120"/>
              </a:rPr>
              <a:t>2</a:t>
            </a:r>
            <a:endParaRPr lang="es-PE" sz="10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990011"/>
        </a:solidFill>
        <a:effectLst/>
      </p:bgPr>
    </p:bg>
    <p:spTree>
      <p:nvGrpSpPr>
        <p:cNvPr id="1" name=""/>
        <p:cNvGrpSpPr/>
        <p:nvPr/>
      </p:nvGrpSpPr>
      <p:grpSpPr>
        <a:xfrm>
          <a:off x="0" y="0"/>
          <a:ext cx="0" cy="0"/>
          <a:chOff x="0" y="0"/>
          <a:chExt cx="0" cy="0"/>
        </a:xfrm>
      </p:grpSpPr>
      <p:sp>
        <p:nvSpPr>
          <p:cNvPr id="7" name="Shape 0">
            <a:extLst>
              <a:ext uri="{FF2B5EF4-FFF2-40B4-BE49-F238E27FC236}">
                <a16:creationId xmlns:a16="http://schemas.microsoft.com/office/drawing/2014/main" id="{82EE99BA-E09F-84FD-C799-46AB9812306B}"/>
              </a:ext>
            </a:extLst>
          </p:cNvPr>
          <p:cNvSpPr/>
          <p:nvPr/>
        </p:nvSpPr>
        <p:spPr>
          <a:xfrm>
            <a:off x="-15088" y="20313"/>
            <a:ext cx="12191695" cy="6858000"/>
          </a:xfrm>
          <a:prstGeom prst="rect">
            <a:avLst/>
          </a:prstGeom>
          <a:solidFill>
            <a:srgbClr val="600810"/>
          </a:solidFill>
          <a:ln/>
        </p:spPr>
        <p:txBody>
          <a:bodyPr/>
          <a:lstStyle/>
          <a:p>
            <a:endParaRPr lang="es-PE" noProof="0" dirty="0"/>
          </a:p>
        </p:txBody>
      </p:sp>
      <p:sp>
        <p:nvSpPr>
          <p:cNvPr id="3" name="Text 1"/>
          <p:cNvSpPr/>
          <p:nvPr/>
        </p:nvSpPr>
        <p:spPr>
          <a:xfrm>
            <a:off x="822960" y="2286000"/>
            <a:ext cx="10058400" cy="457200"/>
          </a:xfrm>
          <a:prstGeom prst="rect">
            <a:avLst/>
          </a:prstGeom>
          <a:noFill/>
          <a:ln/>
        </p:spPr>
        <p:txBody>
          <a:bodyPr wrap="square" rtlCol="0" anchor="ctr"/>
          <a:lstStyle/>
          <a:p>
            <a:pPr marL="0" indent="0">
              <a:buNone/>
            </a:pPr>
            <a:r>
              <a:rPr lang="es-PE" sz="1500" b="1" kern="0" spc="400" noProof="0" dirty="0">
                <a:solidFill>
                  <a:srgbClr val="E8C8CB"/>
                </a:solidFill>
                <a:latin typeface="Calibri" pitchFamily="34" charset="0"/>
                <a:ea typeface="Calibri" pitchFamily="34" charset="-122"/>
                <a:cs typeface="Calibri" pitchFamily="34" charset="-120"/>
              </a:rPr>
              <a:t>BLOQUE 1</a:t>
            </a:r>
            <a:endParaRPr lang="es-PE" sz="1500" noProof="0" dirty="0"/>
          </a:p>
        </p:txBody>
      </p:sp>
      <p:sp>
        <p:nvSpPr>
          <p:cNvPr id="4" name="Text 2"/>
          <p:cNvSpPr/>
          <p:nvPr/>
        </p:nvSpPr>
        <p:spPr>
          <a:xfrm>
            <a:off x="822960" y="2834640"/>
            <a:ext cx="10515600" cy="1188720"/>
          </a:xfrm>
          <a:prstGeom prst="rect">
            <a:avLst/>
          </a:prstGeom>
          <a:noFill/>
          <a:ln/>
        </p:spPr>
        <p:txBody>
          <a:bodyPr wrap="square" rtlCol="0" anchor="ctr"/>
          <a:lstStyle/>
          <a:p>
            <a:pPr marL="0" indent="0">
              <a:buNone/>
            </a:pPr>
            <a:r>
              <a:rPr lang="es-PE" sz="3400" b="1" noProof="0" dirty="0">
                <a:solidFill>
                  <a:srgbClr val="FFFFFF"/>
                </a:solidFill>
                <a:latin typeface="Cambria" pitchFamily="34" charset="0"/>
                <a:ea typeface="Cambria" pitchFamily="34" charset="-122"/>
                <a:cs typeface="Cambria" pitchFamily="34" charset="-120"/>
              </a:rPr>
              <a:t>Punto de partida y motivación</a:t>
            </a:r>
            <a:endParaRPr lang="es-PE" sz="3400" noProof="0" dirty="0"/>
          </a:p>
        </p:txBody>
      </p:sp>
      <p:sp>
        <p:nvSpPr>
          <p:cNvPr id="5" name="Text 3"/>
          <p:cNvSpPr/>
          <p:nvPr/>
        </p:nvSpPr>
        <p:spPr>
          <a:xfrm>
            <a:off x="822960" y="4206240"/>
            <a:ext cx="10058400" cy="457200"/>
          </a:xfrm>
          <a:prstGeom prst="rect">
            <a:avLst/>
          </a:prstGeom>
          <a:noFill/>
          <a:ln/>
        </p:spPr>
        <p:txBody>
          <a:bodyPr wrap="square" rtlCol="0" anchor="ctr"/>
          <a:lstStyle/>
          <a:p>
            <a:pPr marL="0" indent="0">
              <a:buNone/>
            </a:pPr>
            <a:r>
              <a:rPr lang="es-PE" sz="1600" i="1" noProof="0" dirty="0">
                <a:solidFill>
                  <a:srgbClr val="F0D5D8"/>
                </a:solidFill>
                <a:latin typeface="Calibri" pitchFamily="34" charset="0"/>
                <a:ea typeface="Calibri" pitchFamily="34" charset="-122"/>
                <a:cs typeface="Calibri" pitchFamily="34" charset="-120"/>
              </a:rPr>
              <a:t>Fernando García</a:t>
            </a:r>
            <a:endParaRPr lang="es-PE" sz="160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s-PE" sz="1100" b="1" kern="0" spc="300" noProof="0" dirty="0">
                <a:solidFill>
                  <a:srgbClr val="6E6E6E"/>
                </a:solidFill>
                <a:latin typeface="Calibri" pitchFamily="34" charset="0"/>
                <a:ea typeface="Calibri" pitchFamily="34" charset="-122"/>
                <a:cs typeface="Calibri" pitchFamily="34" charset="-120"/>
              </a:rPr>
              <a:t>1 · PUNTO DE PARTIDA</a:t>
            </a:r>
            <a:endParaRPr lang="es-PE" sz="1100" noProof="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s-PE" sz="2700" b="1" noProof="0" dirty="0">
                <a:solidFill>
                  <a:srgbClr val="990011"/>
                </a:solidFill>
                <a:latin typeface="Cambria" pitchFamily="34" charset="0"/>
                <a:ea typeface="Cambria" pitchFamily="34" charset="-122"/>
                <a:cs typeface="Cambria" pitchFamily="34" charset="-120"/>
              </a:rPr>
              <a:t>Del trabajo parcial al trabajo final: trazabilidad</a:t>
            </a:r>
            <a:endParaRPr lang="es-PE" sz="2700" noProof="0" dirty="0"/>
          </a:p>
        </p:txBody>
      </p:sp>
      <p:sp>
        <p:nvSpPr>
          <p:cNvPr id="4" name="Shape 2"/>
          <p:cNvSpPr/>
          <p:nvPr/>
        </p:nvSpPr>
        <p:spPr>
          <a:xfrm>
            <a:off x="548640" y="1737360"/>
            <a:ext cx="5486400" cy="4297680"/>
          </a:xfrm>
          <a:prstGeom prst="roundRect">
            <a:avLst>
              <a:gd name="adj" fmla="val 1277"/>
            </a:avLst>
          </a:prstGeom>
          <a:solidFill>
            <a:srgbClr val="FCF6F5"/>
          </a:solidFill>
          <a:ln w="12700">
            <a:solidFill>
              <a:srgbClr val="D9C7C6"/>
            </a:solidFill>
            <a:prstDash val="solid"/>
          </a:ln>
        </p:spPr>
        <p:txBody>
          <a:bodyPr/>
          <a:lstStyle/>
          <a:p>
            <a:endParaRPr lang="es-PE" noProof="0" dirty="0"/>
          </a:p>
        </p:txBody>
      </p:sp>
      <p:sp>
        <p:nvSpPr>
          <p:cNvPr id="5" name="Text 3"/>
          <p:cNvSpPr/>
          <p:nvPr/>
        </p:nvSpPr>
        <p:spPr>
          <a:xfrm>
            <a:off x="731520" y="1874520"/>
            <a:ext cx="5120640" cy="365760"/>
          </a:xfrm>
          <a:prstGeom prst="rect">
            <a:avLst/>
          </a:prstGeom>
          <a:noFill/>
          <a:ln/>
        </p:spPr>
        <p:txBody>
          <a:bodyPr wrap="square" lIns="0" tIns="0" rIns="0" bIns="0" rtlCol="0" anchor="ctr"/>
          <a:lstStyle/>
          <a:p>
            <a:pPr marL="0" indent="0">
              <a:buNone/>
            </a:pPr>
            <a:r>
              <a:rPr lang="es-PE" sz="1500" b="1" noProof="0" dirty="0">
                <a:solidFill>
                  <a:srgbClr val="990011"/>
                </a:solidFill>
                <a:latin typeface="Calibri" pitchFamily="34" charset="0"/>
                <a:ea typeface="Calibri" pitchFamily="34" charset="-122"/>
                <a:cs typeface="Calibri" pitchFamily="34" charset="-120"/>
              </a:rPr>
              <a:t>Heredado del parcial (sin cambios)</a:t>
            </a:r>
            <a:endParaRPr lang="es-PE" sz="1500" noProof="0" dirty="0"/>
          </a:p>
        </p:txBody>
      </p:sp>
      <p:sp>
        <p:nvSpPr>
          <p:cNvPr id="6" name="Text 4"/>
          <p:cNvSpPr/>
          <p:nvPr/>
        </p:nvSpPr>
        <p:spPr>
          <a:xfrm>
            <a:off x="777240" y="2331720"/>
            <a:ext cx="5074920" cy="3566160"/>
          </a:xfrm>
          <a:prstGeom prst="rect">
            <a:avLst/>
          </a:prstGeom>
          <a:noFill/>
          <a:ln/>
        </p:spPr>
        <p:txBody>
          <a:bodyPr wrap="square" rtlCol="0" anchor="t"/>
          <a:lstStyle/>
          <a:p>
            <a:pPr marL="342900" indent="-342900">
              <a:spcAft>
                <a:spcPts val="800"/>
              </a:spcAft>
              <a:buSzPct val="100000"/>
              <a:buChar char="•"/>
            </a:pPr>
            <a:r>
              <a:rPr lang="es-PE" sz="2400" noProof="0" dirty="0">
                <a:solidFill>
                  <a:srgbClr val="2B2B2B"/>
                </a:solidFill>
                <a:latin typeface="Calibri" pitchFamily="34" charset="0"/>
                <a:ea typeface="Calibri" pitchFamily="34" charset="-122"/>
                <a:cs typeface="Calibri" pitchFamily="34" charset="-120"/>
              </a:rPr>
              <a:t>Cinemática directa e inversa por DH (fk_3dof, ik_3dof)</a:t>
            </a:r>
            <a:endParaRPr lang="es-PE" sz="2400" noProof="0" dirty="0"/>
          </a:p>
          <a:p>
            <a:pPr marL="342900" indent="-342900">
              <a:spcAft>
                <a:spcPts val="800"/>
              </a:spcAft>
              <a:buSzPct val="100000"/>
              <a:buChar char="•"/>
            </a:pPr>
            <a:r>
              <a:rPr lang="es-PE" sz="2400" noProof="0" dirty="0">
                <a:solidFill>
                  <a:srgbClr val="2B2B2B"/>
                </a:solidFill>
                <a:latin typeface="Calibri" pitchFamily="34" charset="0"/>
                <a:ea typeface="Calibri" pitchFamily="34" charset="-122"/>
                <a:cs typeface="Calibri" pitchFamily="34" charset="-120"/>
              </a:rPr>
              <a:t>Jacobiano translacional del efector</a:t>
            </a:r>
            <a:endParaRPr lang="es-PE" sz="2400" noProof="0" dirty="0"/>
          </a:p>
          <a:p>
            <a:pPr marL="342900" indent="-342900">
              <a:spcAft>
                <a:spcPts val="800"/>
              </a:spcAft>
              <a:buSzPct val="100000"/>
              <a:buChar char="•"/>
            </a:pPr>
            <a:r>
              <a:rPr lang="es-PE" sz="2400" noProof="0" dirty="0">
                <a:solidFill>
                  <a:srgbClr val="2B2B2B"/>
                </a:solidFill>
                <a:latin typeface="Calibri" pitchFamily="34" charset="0"/>
                <a:ea typeface="Calibri" pitchFamily="34" charset="-122"/>
                <a:cs typeface="Calibri" pitchFamily="34" charset="-120"/>
              </a:rPr>
              <a:t>Análisis de singularidades</a:t>
            </a:r>
            <a:endParaRPr lang="es-PE" sz="2400" noProof="0" dirty="0"/>
          </a:p>
          <a:p>
            <a:pPr marL="342900" indent="-342900">
              <a:spcAft>
                <a:spcPts val="800"/>
              </a:spcAft>
              <a:buSzPct val="100000"/>
              <a:buChar char="•"/>
            </a:pPr>
            <a:r>
              <a:rPr lang="es-PE" sz="2400" noProof="0" dirty="0">
                <a:solidFill>
                  <a:srgbClr val="2B2B2B"/>
                </a:solidFill>
                <a:latin typeface="Calibri" pitchFamily="34" charset="0"/>
                <a:ea typeface="Calibri" pitchFamily="34" charset="-122"/>
                <a:cs typeface="Calibri" pitchFamily="34" charset="-120"/>
              </a:rPr>
              <a:t>Geometría L1=0.15, L2=0.50, L3=0.50 m</a:t>
            </a:r>
            <a:endParaRPr lang="es-PE" sz="2400" noProof="0" dirty="0"/>
          </a:p>
          <a:p>
            <a:pPr marL="342900" indent="-342900">
              <a:spcAft>
                <a:spcPts val="800"/>
              </a:spcAft>
              <a:buSzPct val="100000"/>
              <a:buChar char="•"/>
            </a:pPr>
            <a:r>
              <a:rPr lang="es-PE" sz="2400" noProof="0" dirty="0">
                <a:solidFill>
                  <a:srgbClr val="2B2B2B"/>
                </a:solidFill>
                <a:latin typeface="Calibri" pitchFamily="34" charset="0"/>
                <a:ea typeface="Calibri" pitchFamily="34" charset="-122"/>
                <a:cs typeface="Calibri" pitchFamily="34" charset="-120"/>
              </a:rPr>
              <a:t>Control cinemático por pseudoinversa amortiguada</a:t>
            </a:r>
            <a:endParaRPr lang="es-PE" sz="2400" noProof="0" dirty="0"/>
          </a:p>
        </p:txBody>
      </p:sp>
      <p:sp>
        <p:nvSpPr>
          <p:cNvPr id="7" name="Shape 5"/>
          <p:cNvSpPr/>
          <p:nvPr/>
        </p:nvSpPr>
        <p:spPr>
          <a:xfrm>
            <a:off x="6172200" y="1737360"/>
            <a:ext cx="5486400" cy="4297680"/>
          </a:xfrm>
          <a:prstGeom prst="roundRect">
            <a:avLst>
              <a:gd name="adj" fmla="val 1277"/>
            </a:avLst>
          </a:prstGeom>
          <a:solidFill>
            <a:srgbClr val="600810"/>
          </a:solidFill>
          <a:ln/>
        </p:spPr>
        <p:txBody>
          <a:bodyPr/>
          <a:lstStyle/>
          <a:p>
            <a:endParaRPr lang="es-PE" noProof="0" dirty="0"/>
          </a:p>
        </p:txBody>
      </p:sp>
      <p:sp>
        <p:nvSpPr>
          <p:cNvPr id="8" name="Text 6"/>
          <p:cNvSpPr/>
          <p:nvPr/>
        </p:nvSpPr>
        <p:spPr>
          <a:xfrm>
            <a:off x="6355080" y="1874520"/>
            <a:ext cx="5120640" cy="365760"/>
          </a:xfrm>
          <a:prstGeom prst="rect">
            <a:avLst/>
          </a:prstGeom>
          <a:noFill/>
          <a:ln/>
        </p:spPr>
        <p:txBody>
          <a:bodyPr wrap="square" lIns="0" tIns="0" rIns="0" bIns="0" rtlCol="0" anchor="ctr"/>
          <a:lstStyle/>
          <a:p>
            <a:pPr marL="0" indent="0">
              <a:buNone/>
            </a:pPr>
            <a:r>
              <a:rPr lang="es-PE" sz="1500" b="1" noProof="0" dirty="0">
                <a:solidFill>
                  <a:srgbClr val="FFFFFF"/>
                </a:solidFill>
                <a:latin typeface="Calibri" pitchFamily="34" charset="0"/>
                <a:ea typeface="Calibri" pitchFamily="34" charset="-122"/>
                <a:cs typeface="Calibri" pitchFamily="34" charset="-120"/>
              </a:rPr>
              <a:t>Agregado para el trabajo final</a:t>
            </a:r>
            <a:endParaRPr lang="es-PE" sz="1500" noProof="0" dirty="0"/>
          </a:p>
        </p:txBody>
      </p:sp>
      <p:sp>
        <p:nvSpPr>
          <p:cNvPr id="9" name="Text 7"/>
          <p:cNvSpPr/>
          <p:nvPr/>
        </p:nvSpPr>
        <p:spPr>
          <a:xfrm>
            <a:off x="6400800" y="2331720"/>
            <a:ext cx="5074920" cy="3566160"/>
          </a:xfrm>
          <a:prstGeom prst="rect">
            <a:avLst/>
          </a:prstGeom>
          <a:noFill/>
          <a:ln/>
        </p:spPr>
        <p:txBody>
          <a:bodyPr wrap="square" rtlCol="0" anchor="t"/>
          <a:lstStyle/>
          <a:p>
            <a:pPr marL="342900" indent="-342900">
              <a:spcAft>
                <a:spcPts val="800"/>
              </a:spcAft>
              <a:buSzPct val="100000"/>
              <a:buChar char="•"/>
            </a:pPr>
            <a:r>
              <a:rPr lang="es-PE" sz="2200" noProof="0" dirty="0">
                <a:solidFill>
                  <a:srgbClr val="FFFFFF"/>
                </a:solidFill>
                <a:latin typeface="Calibri" pitchFamily="34" charset="0"/>
                <a:ea typeface="Calibri" pitchFamily="34" charset="-122"/>
                <a:cs typeface="Calibri" pitchFamily="34" charset="-120"/>
              </a:rPr>
              <a:t>Centros de masa y Jacobianos </a:t>
            </a:r>
            <a:r>
              <a:rPr lang="es-PE" sz="2200" noProof="0" dirty="0" err="1">
                <a:solidFill>
                  <a:srgbClr val="FFFFFF"/>
                </a:solidFill>
                <a:latin typeface="Calibri" pitchFamily="34" charset="0"/>
                <a:ea typeface="Calibri" pitchFamily="34" charset="-122"/>
                <a:cs typeface="Calibri" pitchFamily="34" charset="-120"/>
              </a:rPr>
              <a:t>Jv</a:t>
            </a:r>
            <a:r>
              <a:rPr lang="es-PE" sz="2200" noProof="0" dirty="0">
                <a:solidFill>
                  <a:srgbClr val="FFFFFF"/>
                </a:solidFill>
                <a:latin typeface="Calibri" pitchFamily="34" charset="0"/>
                <a:ea typeface="Calibri" pitchFamily="34" charset="-122"/>
                <a:cs typeface="Calibri" pitchFamily="34" charset="-120"/>
              </a:rPr>
              <a:t>ᵢ, </a:t>
            </a:r>
            <a:r>
              <a:rPr lang="es-PE" sz="2200" noProof="0" dirty="0" err="1">
                <a:solidFill>
                  <a:srgbClr val="FFFFFF"/>
                </a:solidFill>
                <a:latin typeface="Calibri" pitchFamily="34" charset="0"/>
                <a:ea typeface="Calibri" pitchFamily="34" charset="-122"/>
                <a:cs typeface="Calibri" pitchFamily="34" charset="-120"/>
              </a:rPr>
              <a:t>Jw</a:t>
            </a:r>
            <a:r>
              <a:rPr lang="es-PE" sz="2200" noProof="0" dirty="0">
                <a:solidFill>
                  <a:srgbClr val="FFFFFF"/>
                </a:solidFill>
                <a:latin typeface="Calibri" pitchFamily="34" charset="0"/>
                <a:ea typeface="Calibri" pitchFamily="34" charset="-122"/>
                <a:cs typeface="Calibri" pitchFamily="34" charset="-120"/>
              </a:rPr>
              <a:t>ᵢ por eslabón</a:t>
            </a:r>
            <a:endParaRPr lang="es-PE" sz="2200" noProof="0" dirty="0"/>
          </a:p>
          <a:p>
            <a:pPr marL="342900" indent="-342900">
              <a:spcAft>
                <a:spcPts val="800"/>
              </a:spcAft>
              <a:buSzPct val="100000"/>
              <a:buChar char="•"/>
            </a:pPr>
            <a:r>
              <a:rPr lang="es-PE" sz="2200" noProof="0" dirty="0">
                <a:solidFill>
                  <a:srgbClr val="FFFFFF"/>
                </a:solidFill>
                <a:latin typeface="Calibri" pitchFamily="34" charset="0"/>
                <a:ea typeface="Calibri" pitchFamily="34" charset="-122"/>
                <a:cs typeface="Calibri" pitchFamily="34" charset="-120"/>
              </a:rPr>
              <a:t>Matriz de inercia M(q) por Jacobianos</a:t>
            </a:r>
            <a:endParaRPr lang="es-PE" sz="2200" noProof="0" dirty="0"/>
          </a:p>
          <a:p>
            <a:pPr marL="342900" indent="-342900">
              <a:spcAft>
                <a:spcPts val="800"/>
              </a:spcAft>
              <a:buSzPct val="100000"/>
              <a:buChar char="•"/>
            </a:pPr>
            <a:r>
              <a:rPr lang="es-PE" sz="2200" noProof="0" dirty="0">
                <a:solidFill>
                  <a:srgbClr val="FFFFFF"/>
                </a:solidFill>
                <a:latin typeface="Calibri" pitchFamily="34" charset="0"/>
                <a:ea typeface="Calibri" pitchFamily="34" charset="-122"/>
                <a:cs typeface="Calibri" pitchFamily="34" charset="-120"/>
              </a:rPr>
              <a:t>Coriolis C(</a:t>
            </a:r>
            <a:r>
              <a:rPr lang="es-PE" sz="2200" noProof="0" dirty="0" err="1">
                <a:solidFill>
                  <a:srgbClr val="FFFFFF"/>
                </a:solidFill>
                <a:latin typeface="Calibri" pitchFamily="34" charset="0"/>
                <a:ea typeface="Calibri" pitchFamily="34" charset="-122"/>
                <a:cs typeface="Calibri" pitchFamily="34" charset="-120"/>
              </a:rPr>
              <a:t>q,q</a:t>
            </a:r>
            <a:r>
              <a:rPr lang="es-PE" sz="2200" noProof="0" dirty="0">
                <a:solidFill>
                  <a:srgbClr val="FFFFFF"/>
                </a:solidFill>
                <a:latin typeface="Calibri" pitchFamily="34" charset="0"/>
                <a:ea typeface="Calibri" pitchFamily="34" charset="-122"/>
                <a:cs typeface="Calibri" pitchFamily="34" charset="-120"/>
              </a:rPr>
              <a:t>̇) por Christoffel (n = 3)</a:t>
            </a:r>
            <a:endParaRPr lang="es-PE" sz="2200" noProof="0" dirty="0"/>
          </a:p>
          <a:p>
            <a:pPr marL="342900" indent="-342900">
              <a:spcAft>
                <a:spcPts val="800"/>
              </a:spcAft>
              <a:buSzPct val="100000"/>
              <a:buChar char="•"/>
            </a:pPr>
            <a:r>
              <a:rPr lang="es-PE" sz="2200" noProof="0" dirty="0">
                <a:solidFill>
                  <a:srgbClr val="FFFFFF"/>
                </a:solidFill>
                <a:latin typeface="Calibri" pitchFamily="34" charset="0"/>
                <a:ea typeface="Calibri" pitchFamily="34" charset="-122"/>
                <a:cs typeface="Calibri" pitchFamily="34" charset="-120"/>
              </a:rPr>
              <a:t>Gravedad G(q) desde energía potencial</a:t>
            </a:r>
            <a:endParaRPr lang="es-PE" sz="2200" noProof="0" dirty="0"/>
          </a:p>
          <a:p>
            <a:pPr marL="342900" indent="-342900">
              <a:spcAft>
                <a:spcPts val="800"/>
              </a:spcAft>
              <a:buSzPct val="100000"/>
              <a:buChar char="•"/>
            </a:pPr>
            <a:r>
              <a:rPr lang="es-PE" sz="2200" noProof="0" dirty="0">
                <a:solidFill>
                  <a:srgbClr val="FFFFFF"/>
                </a:solidFill>
                <a:latin typeface="Calibri" pitchFamily="34" charset="0"/>
                <a:ea typeface="Calibri" pitchFamily="34" charset="-122"/>
                <a:cs typeface="Calibri" pitchFamily="34" charset="-120"/>
              </a:rPr>
              <a:t>3 controladores dinámicos en Simulink</a:t>
            </a:r>
            <a:endParaRPr lang="es-PE" sz="2200" noProof="0" dirty="0"/>
          </a:p>
          <a:p>
            <a:pPr marL="342900" indent="-342900">
              <a:spcAft>
                <a:spcPts val="800"/>
              </a:spcAft>
              <a:buSzPct val="100000"/>
              <a:buChar char="•"/>
            </a:pPr>
            <a:r>
              <a:rPr lang="es-PE" sz="2200" noProof="0" dirty="0">
                <a:solidFill>
                  <a:srgbClr val="FFFFFF"/>
                </a:solidFill>
                <a:latin typeface="Calibri" pitchFamily="34" charset="0"/>
                <a:ea typeface="Calibri" pitchFamily="34" charset="-122"/>
                <a:cs typeface="Calibri" pitchFamily="34" charset="-120"/>
              </a:rPr>
              <a:t>Planeación autónoma A* con obstáculos</a:t>
            </a:r>
            <a:endParaRPr lang="es-PE" sz="2200" noProof="0" dirty="0"/>
          </a:p>
        </p:txBody>
      </p:sp>
      <p:sp>
        <p:nvSpPr>
          <p:cNvPr id="10" name="Text 8"/>
          <p:cNvSpPr/>
          <p:nvPr/>
        </p:nvSpPr>
        <p:spPr>
          <a:xfrm>
            <a:off x="11612880" y="6455664"/>
            <a:ext cx="457200" cy="274320"/>
          </a:xfrm>
          <a:prstGeom prst="rect">
            <a:avLst/>
          </a:prstGeom>
          <a:noFill/>
          <a:ln/>
        </p:spPr>
        <p:txBody>
          <a:bodyPr wrap="square" lIns="0" tIns="0" rIns="0" bIns="0" rtlCol="0" anchor="ctr"/>
          <a:lstStyle/>
          <a:p>
            <a:pPr marL="0" indent="0" algn="r">
              <a:buNone/>
            </a:pPr>
            <a:r>
              <a:rPr lang="es-PE" sz="1000" noProof="0" dirty="0">
                <a:solidFill>
                  <a:srgbClr val="6E6E6E"/>
                </a:solidFill>
                <a:latin typeface="Calibri" pitchFamily="34" charset="0"/>
                <a:ea typeface="Calibri" pitchFamily="34" charset="-122"/>
                <a:cs typeface="Calibri" pitchFamily="34" charset="-120"/>
              </a:rPr>
              <a:t>4</a:t>
            </a:r>
            <a:endParaRPr lang="es-PE" sz="10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s-PE" sz="1100" b="1" kern="0" spc="300" noProof="0" dirty="0">
                <a:solidFill>
                  <a:srgbClr val="6E6E6E"/>
                </a:solidFill>
                <a:latin typeface="Calibri" pitchFamily="34" charset="0"/>
                <a:ea typeface="Calibri" pitchFamily="34" charset="-122"/>
                <a:cs typeface="Calibri" pitchFamily="34" charset="-120"/>
              </a:rPr>
              <a:t>1 · INTRODUCCIÓN</a:t>
            </a:r>
            <a:endParaRPr lang="es-PE" sz="1100" noProof="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s-PE" sz="2700" b="1" noProof="0" dirty="0">
                <a:solidFill>
                  <a:srgbClr val="990011"/>
                </a:solidFill>
                <a:latin typeface="Cambria" pitchFamily="34" charset="0"/>
                <a:ea typeface="Cambria" pitchFamily="34" charset="-122"/>
                <a:cs typeface="Cambria" pitchFamily="34" charset="-120"/>
              </a:rPr>
              <a:t>Alcanzar la posición no basta: hay que vencer la dinámica</a:t>
            </a:r>
            <a:endParaRPr lang="es-PE" sz="2700" noProof="0" dirty="0"/>
          </a:p>
        </p:txBody>
      </p:sp>
      <p:sp>
        <p:nvSpPr>
          <p:cNvPr id="4" name="Text 2"/>
          <p:cNvSpPr/>
          <p:nvPr/>
        </p:nvSpPr>
        <p:spPr>
          <a:xfrm>
            <a:off x="548640" y="1600200"/>
            <a:ext cx="6400800" cy="1463040"/>
          </a:xfrm>
          <a:prstGeom prst="rect">
            <a:avLst/>
          </a:prstGeom>
          <a:noFill/>
          <a:ln/>
        </p:spPr>
        <p:txBody>
          <a:bodyPr wrap="square" lIns="0" tIns="0" rIns="0" bIns="0" rtlCol="0" anchor="t"/>
          <a:lstStyle/>
          <a:p>
            <a:pPr marL="0" indent="0" algn="just">
              <a:lnSpc>
                <a:spcPct val="105000"/>
              </a:lnSpc>
              <a:buNone/>
            </a:pPr>
            <a:r>
              <a:rPr lang="es-PE" sz="1450" b="1" noProof="0" dirty="0">
                <a:solidFill>
                  <a:srgbClr val="2B2B2B"/>
                </a:solidFill>
                <a:latin typeface="Calibri" pitchFamily="34" charset="0"/>
                <a:ea typeface="Calibri" pitchFamily="34" charset="-122"/>
                <a:cs typeface="Calibri" pitchFamily="34" charset="-120"/>
              </a:rPr>
              <a:t>Un manipulador debe seguir una trayectoria compensando su propia dinámica —inercia, Coriolis y gravedad— con precisión, estabilidad y torque razonable. Este trabajo lo resuelve sobre un robot antropomórfico de 3 GDL, partiendo de la base cinemática del parcial (Ashagrie et al., 2021).</a:t>
            </a:r>
            <a:endParaRPr lang="es-PE" sz="1450" b="1" noProof="0" dirty="0"/>
          </a:p>
        </p:txBody>
      </p:sp>
      <p:sp>
        <p:nvSpPr>
          <p:cNvPr id="5" name="Shape 3"/>
          <p:cNvSpPr/>
          <p:nvPr/>
        </p:nvSpPr>
        <p:spPr>
          <a:xfrm>
            <a:off x="548640" y="2586761"/>
            <a:ext cx="6400800" cy="868680"/>
          </a:xfrm>
          <a:prstGeom prst="roundRect">
            <a:avLst>
              <a:gd name="adj" fmla="val 6316"/>
            </a:avLst>
          </a:prstGeom>
          <a:solidFill>
            <a:srgbClr val="FCF6F5"/>
          </a:solidFill>
          <a:ln w="12700">
            <a:solidFill>
              <a:srgbClr val="D9C7C6"/>
            </a:solidFill>
            <a:prstDash val="solid"/>
          </a:ln>
        </p:spPr>
        <p:txBody>
          <a:bodyPr/>
          <a:lstStyle/>
          <a:p>
            <a:endParaRPr lang="es-PE" sz="2800" noProof="0" dirty="0"/>
          </a:p>
        </p:txBody>
      </p:sp>
      <p:sp>
        <p:nvSpPr>
          <p:cNvPr id="6" name="Text 4"/>
          <p:cNvSpPr/>
          <p:nvPr/>
        </p:nvSpPr>
        <p:spPr>
          <a:xfrm>
            <a:off x="731520" y="2696489"/>
            <a:ext cx="6035040" cy="365760"/>
          </a:xfrm>
          <a:prstGeom prst="rect">
            <a:avLst/>
          </a:prstGeom>
          <a:noFill/>
          <a:ln/>
        </p:spPr>
        <p:txBody>
          <a:bodyPr wrap="square" lIns="0" tIns="0" rIns="0" bIns="0" rtlCol="0" anchor="ctr"/>
          <a:lstStyle/>
          <a:p>
            <a:pPr marL="0" indent="0">
              <a:buNone/>
            </a:pPr>
            <a:r>
              <a:rPr lang="es-PE" b="1" noProof="0" dirty="0">
                <a:solidFill>
                  <a:srgbClr val="990011"/>
                </a:solidFill>
                <a:latin typeface="Calibri" pitchFamily="34" charset="0"/>
                <a:ea typeface="Calibri" pitchFamily="34" charset="-122"/>
                <a:cs typeface="Calibri" pitchFamily="34" charset="-120"/>
              </a:rPr>
              <a:t>¿Cómo derivar la dinámica sin Lagrange?</a:t>
            </a:r>
            <a:endParaRPr lang="es-PE" noProof="0" dirty="0"/>
          </a:p>
        </p:txBody>
      </p:sp>
      <p:sp>
        <p:nvSpPr>
          <p:cNvPr id="7" name="Text 5"/>
          <p:cNvSpPr/>
          <p:nvPr/>
        </p:nvSpPr>
        <p:spPr>
          <a:xfrm>
            <a:off x="731520" y="3043961"/>
            <a:ext cx="6035040" cy="347472"/>
          </a:xfrm>
          <a:prstGeom prst="rect">
            <a:avLst/>
          </a:prstGeom>
          <a:noFill/>
          <a:ln/>
        </p:spPr>
        <p:txBody>
          <a:bodyPr wrap="square" lIns="0" tIns="0" rIns="0" bIns="0" rtlCol="0" anchor="ctr"/>
          <a:lstStyle/>
          <a:p>
            <a:pPr marL="0" indent="0">
              <a:buNone/>
            </a:pPr>
            <a:r>
              <a:rPr lang="es-PE" sz="1600" noProof="0" dirty="0">
                <a:solidFill>
                  <a:srgbClr val="6E6E6E"/>
                </a:solidFill>
                <a:latin typeface="Calibri" pitchFamily="34" charset="0"/>
                <a:ea typeface="Calibri" pitchFamily="34" charset="-122"/>
                <a:cs typeface="Calibri" pitchFamily="34" charset="-120"/>
              </a:rPr>
              <a:t>Solo con Jacobianos y coeficientes de Christoffel.</a:t>
            </a:r>
            <a:endParaRPr lang="es-PE" sz="1600" noProof="0" dirty="0"/>
          </a:p>
        </p:txBody>
      </p:sp>
      <p:sp>
        <p:nvSpPr>
          <p:cNvPr id="8" name="Shape 6"/>
          <p:cNvSpPr/>
          <p:nvPr/>
        </p:nvSpPr>
        <p:spPr>
          <a:xfrm>
            <a:off x="548640" y="3717534"/>
            <a:ext cx="6400800" cy="868680"/>
          </a:xfrm>
          <a:prstGeom prst="roundRect">
            <a:avLst>
              <a:gd name="adj" fmla="val 6316"/>
            </a:avLst>
          </a:prstGeom>
          <a:solidFill>
            <a:srgbClr val="FCF6F5"/>
          </a:solidFill>
          <a:ln w="12700">
            <a:solidFill>
              <a:srgbClr val="D9C7C6"/>
            </a:solidFill>
            <a:prstDash val="solid"/>
          </a:ln>
        </p:spPr>
        <p:txBody>
          <a:bodyPr/>
          <a:lstStyle/>
          <a:p>
            <a:endParaRPr lang="es-PE" sz="2800" noProof="0" dirty="0"/>
          </a:p>
        </p:txBody>
      </p:sp>
      <p:sp>
        <p:nvSpPr>
          <p:cNvPr id="9" name="Text 7"/>
          <p:cNvSpPr/>
          <p:nvPr/>
        </p:nvSpPr>
        <p:spPr>
          <a:xfrm>
            <a:off x="731520" y="3827262"/>
            <a:ext cx="6035040" cy="365760"/>
          </a:xfrm>
          <a:prstGeom prst="rect">
            <a:avLst/>
          </a:prstGeom>
          <a:noFill/>
          <a:ln/>
        </p:spPr>
        <p:txBody>
          <a:bodyPr wrap="square" lIns="0" tIns="0" rIns="0" bIns="0" rtlCol="0" anchor="ctr"/>
          <a:lstStyle/>
          <a:p>
            <a:pPr marL="0" indent="0">
              <a:buNone/>
            </a:pPr>
            <a:r>
              <a:rPr lang="es-PE" b="1" noProof="0" dirty="0">
                <a:solidFill>
                  <a:srgbClr val="990011"/>
                </a:solidFill>
                <a:latin typeface="Calibri" pitchFamily="34" charset="0"/>
                <a:ea typeface="Calibri" pitchFamily="34" charset="-122"/>
                <a:cs typeface="Calibri" pitchFamily="34" charset="-120"/>
              </a:rPr>
              <a:t>¿Qué controlador es mejor?</a:t>
            </a:r>
            <a:endParaRPr lang="es-PE" noProof="0" dirty="0"/>
          </a:p>
        </p:txBody>
      </p:sp>
      <p:sp>
        <p:nvSpPr>
          <p:cNvPr id="10" name="Text 8"/>
          <p:cNvSpPr/>
          <p:nvPr/>
        </p:nvSpPr>
        <p:spPr>
          <a:xfrm>
            <a:off x="731520" y="4174734"/>
            <a:ext cx="6035040" cy="347472"/>
          </a:xfrm>
          <a:prstGeom prst="rect">
            <a:avLst/>
          </a:prstGeom>
          <a:noFill/>
          <a:ln/>
        </p:spPr>
        <p:txBody>
          <a:bodyPr wrap="square" lIns="0" tIns="0" rIns="0" bIns="0" rtlCol="0" anchor="ctr"/>
          <a:lstStyle/>
          <a:p>
            <a:pPr marL="0" indent="0">
              <a:buNone/>
            </a:pPr>
            <a:r>
              <a:rPr lang="es-PE" sz="1600" noProof="0" dirty="0">
                <a:solidFill>
                  <a:srgbClr val="6E6E6E"/>
                </a:solidFill>
                <a:latin typeface="Calibri" pitchFamily="34" charset="0"/>
                <a:ea typeface="Calibri" pitchFamily="34" charset="-122"/>
                <a:cs typeface="Calibri" pitchFamily="34" charset="-120"/>
              </a:rPr>
              <a:t>PID no lineal vs. PD precompensado vs. par calculado, misma dinámica.</a:t>
            </a:r>
            <a:endParaRPr lang="es-PE" sz="1600" noProof="0" dirty="0"/>
          </a:p>
        </p:txBody>
      </p:sp>
      <p:sp>
        <p:nvSpPr>
          <p:cNvPr id="11" name="Shape 9"/>
          <p:cNvSpPr/>
          <p:nvPr/>
        </p:nvSpPr>
        <p:spPr>
          <a:xfrm>
            <a:off x="548640" y="4826273"/>
            <a:ext cx="6400800" cy="868680"/>
          </a:xfrm>
          <a:prstGeom prst="roundRect">
            <a:avLst>
              <a:gd name="adj" fmla="val 6316"/>
            </a:avLst>
          </a:prstGeom>
          <a:solidFill>
            <a:srgbClr val="FCF6F5"/>
          </a:solidFill>
          <a:ln w="12700">
            <a:solidFill>
              <a:srgbClr val="D9C7C6"/>
            </a:solidFill>
            <a:prstDash val="solid"/>
          </a:ln>
        </p:spPr>
        <p:txBody>
          <a:bodyPr/>
          <a:lstStyle/>
          <a:p>
            <a:endParaRPr lang="es-PE" sz="2800" noProof="0" dirty="0"/>
          </a:p>
        </p:txBody>
      </p:sp>
      <p:sp>
        <p:nvSpPr>
          <p:cNvPr id="12" name="Text 10"/>
          <p:cNvSpPr/>
          <p:nvPr/>
        </p:nvSpPr>
        <p:spPr>
          <a:xfrm>
            <a:off x="731520" y="4936001"/>
            <a:ext cx="6035040" cy="365760"/>
          </a:xfrm>
          <a:prstGeom prst="rect">
            <a:avLst/>
          </a:prstGeom>
          <a:noFill/>
          <a:ln/>
        </p:spPr>
        <p:txBody>
          <a:bodyPr wrap="square" lIns="0" tIns="0" rIns="0" bIns="0" rtlCol="0" anchor="ctr"/>
          <a:lstStyle/>
          <a:p>
            <a:pPr marL="0" indent="0">
              <a:buNone/>
            </a:pPr>
            <a:r>
              <a:rPr lang="es-PE" b="1" noProof="0" dirty="0">
                <a:solidFill>
                  <a:srgbClr val="990011"/>
                </a:solidFill>
                <a:latin typeface="Calibri" pitchFamily="34" charset="0"/>
                <a:ea typeface="Calibri" pitchFamily="34" charset="-122"/>
                <a:cs typeface="Calibri" pitchFamily="34" charset="-120"/>
              </a:rPr>
              <a:t>¿Cómo integrar planeación autónoma?</a:t>
            </a:r>
            <a:endParaRPr lang="es-PE" noProof="0" dirty="0"/>
          </a:p>
        </p:txBody>
      </p:sp>
      <p:sp>
        <p:nvSpPr>
          <p:cNvPr id="13" name="Text 11"/>
          <p:cNvSpPr/>
          <p:nvPr/>
        </p:nvSpPr>
        <p:spPr>
          <a:xfrm>
            <a:off x="731520" y="5283473"/>
            <a:ext cx="6035040" cy="347472"/>
          </a:xfrm>
          <a:prstGeom prst="rect">
            <a:avLst/>
          </a:prstGeom>
          <a:noFill/>
          <a:ln/>
        </p:spPr>
        <p:txBody>
          <a:bodyPr wrap="square" lIns="0" tIns="0" rIns="0" bIns="0" rtlCol="0" anchor="ctr"/>
          <a:lstStyle/>
          <a:p>
            <a:pPr marL="0" indent="0">
              <a:buNone/>
            </a:pPr>
            <a:r>
              <a:rPr lang="es-PE" sz="1600" noProof="0" dirty="0">
                <a:solidFill>
                  <a:srgbClr val="6E6E6E"/>
                </a:solidFill>
                <a:latin typeface="Calibri" pitchFamily="34" charset="0"/>
                <a:ea typeface="Calibri" pitchFamily="34" charset="-122"/>
                <a:cs typeface="Calibri" pitchFamily="34" charset="-120"/>
              </a:rPr>
              <a:t>Ruta A* con obstáculos → trayectoria articular.</a:t>
            </a:r>
            <a:endParaRPr lang="es-PE" sz="1600" noProof="0" dirty="0"/>
          </a:p>
        </p:txBody>
      </p:sp>
      <p:sp>
        <p:nvSpPr>
          <p:cNvPr id="14" name="Shape 12"/>
          <p:cNvSpPr/>
          <p:nvPr/>
        </p:nvSpPr>
        <p:spPr>
          <a:xfrm>
            <a:off x="7223760" y="1600200"/>
            <a:ext cx="4434840" cy="4480560"/>
          </a:xfrm>
          <a:prstGeom prst="roundRect">
            <a:avLst>
              <a:gd name="adj" fmla="val 1237"/>
            </a:avLst>
          </a:prstGeom>
          <a:solidFill>
            <a:srgbClr val="FCF6F5"/>
          </a:solidFill>
          <a:ln w="12700">
            <a:solidFill>
              <a:srgbClr val="D9C7C6"/>
            </a:solidFill>
            <a:prstDash val="solid"/>
          </a:ln>
        </p:spPr>
        <p:txBody>
          <a:bodyPr/>
          <a:lstStyle/>
          <a:p>
            <a:endParaRPr lang="es-PE" noProof="0" dirty="0"/>
          </a:p>
        </p:txBody>
      </p:sp>
      <p:pic>
        <p:nvPicPr>
          <p:cNvPr id="15" name="Image 0" descr="/tmp/deck/assets/robot.png"/>
          <p:cNvPicPr>
            <a:picLocks noChangeAspect="1"/>
          </p:cNvPicPr>
          <p:nvPr/>
        </p:nvPicPr>
        <p:blipFill>
          <a:blip r:embed="rId3"/>
          <a:srcRect/>
          <a:stretch/>
        </p:blipFill>
        <p:spPr>
          <a:xfrm>
            <a:off x="7360920" y="1737360"/>
            <a:ext cx="4160520" cy="4023360"/>
          </a:xfrm>
          <a:prstGeom prst="rect">
            <a:avLst/>
          </a:prstGeom>
        </p:spPr>
      </p:pic>
      <p:sp>
        <p:nvSpPr>
          <p:cNvPr id="16" name="Text 13"/>
          <p:cNvSpPr/>
          <p:nvPr/>
        </p:nvSpPr>
        <p:spPr>
          <a:xfrm>
            <a:off x="7223760" y="5806440"/>
            <a:ext cx="4434840" cy="274320"/>
          </a:xfrm>
          <a:prstGeom prst="rect">
            <a:avLst/>
          </a:prstGeom>
          <a:noFill/>
          <a:ln/>
        </p:spPr>
        <p:txBody>
          <a:bodyPr wrap="square" rtlCol="0" anchor="ctr"/>
          <a:lstStyle/>
          <a:p>
            <a:pPr marL="0" indent="0" algn="ctr">
              <a:buNone/>
            </a:pPr>
            <a:r>
              <a:rPr lang="es-PE" sz="1400" b="1" i="1" noProof="0" dirty="0">
                <a:solidFill>
                  <a:srgbClr val="6E6E6E"/>
                </a:solidFill>
                <a:latin typeface="Calibri" pitchFamily="34" charset="0"/>
                <a:ea typeface="Calibri" pitchFamily="34" charset="-122"/>
                <a:cs typeface="Calibri" pitchFamily="34" charset="-120"/>
              </a:rPr>
              <a:t>Configuración cinemática del robot 3 GDL</a:t>
            </a:r>
            <a:endParaRPr lang="es-PE" sz="1400" b="1" noProof="0" dirty="0"/>
          </a:p>
        </p:txBody>
      </p:sp>
      <p:sp>
        <p:nvSpPr>
          <p:cNvPr id="17" name="Text 14"/>
          <p:cNvSpPr/>
          <p:nvPr/>
        </p:nvSpPr>
        <p:spPr>
          <a:xfrm>
            <a:off x="11612880" y="6455664"/>
            <a:ext cx="457200" cy="274320"/>
          </a:xfrm>
          <a:prstGeom prst="rect">
            <a:avLst/>
          </a:prstGeom>
          <a:noFill/>
          <a:ln/>
        </p:spPr>
        <p:txBody>
          <a:bodyPr wrap="square" lIns="0" tIns="0" rIns="0" bIns="0" rtlCol="0" anchor="ctr"/>
          <a:lstStyle/>
          <a:p>
            <a:pPr marL="0" indent="0" algn="r">
              <a:buNone/>
            </a:pPr>
            <a:r>
              <a:rPr lang="es-PE" sz="1000" noProof="0" dirty="0">
                <a:solidFill>
                  <a:srgbClr val="6E6E6E"/>
                </a:solidFill>
                <a:latin typeface="Calibri" pitchFamily="34" charset="0"/>
                <a:ea typeface="Calibri" pitchFamily="34" charset="-122"/>
                <a:cs typeface="Calibri" pitchFamily="34" charset="-120"/>
              </a:rPr>
              <a:t>5</a:t>
            </a:r>
            <a:endParaRPr lang="es-PE" sz="10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990011"/>
        </a:solidFill>
        <a:effectLst/>
      </p:bgPr>
    </p:bg>
    <p:spTree>
      <p:nvGrpSpPr>
        <p:cNvPr id="1" name=""/>
        <p:cNvGrpSpPr/>
        <p:nvPr/>
      </p:nvGrpSpPr>
      <p:grpSpPr>
        <a:xfrm>
          <a:off x="0" y="0"/>
          <a:ext cx="0" cy="0"/>
          <a:chOff x="0" y="0"/>
          <a:chExt cx="0" cy="0"/>
        </a:xfrm>
      </p:grpSpPr>
      <p:sp>
        <p:nvSpPr>
          <p:cNvPr id="7" name="Shape 0">
            <a:extLst>
              <a:ext uri="{FF2B5EF4-FFF2-40B4-BE49-F238E27FC236}">
                <a16:creationId xmlns:a16="http://schemas.microsoft.com/office/drawing/2014/main" id="{064108C3-08B0-573F-E5F6-E34FD92FFB70}"/>
              </a:ext>
            </a:extLst>
          </p:cNvPr>
          <p:cNvSpPr/>
          <p:nvPr/>
        </p:nvSpPr>
        <p:spPr>
          <a:xfrm>
            <a:off x="-15088" y="20313"/>
            <a:ext cx="12191695" cy="6858000"/>
          </a:xfrm>
          <a:prstGeom prst="rect">
            <a:avLst/>
          </a:prstGeom>
          <a:solidFill>
            <a:srgbClr val="600810"/>
          </a:solidFill>
          <a:ln/>
        </p:spPr>
        <p:txBody>
          <a:bodyPr/>
          <a:lstStyle/>
          <a:p>
            <a:endParaRPr lang="es-PE" noProof="0" dirty="0"/>
          </a:p>
        </p:txBody>
      </p:sp>
      <p:sp>
        <p:nvSpPr>
          <p:cNvPr id="3" name="Text 1"/>
          <p:cNvSpPr/>
          <p:nvPr/>
        </p:nvSpPr>
        <p:spPr>
          <a:xfrm>
            <a:off x="822960" y="2286000"/>
            <a:ext cx="10058400" cy="457200"/>
          </a:xfrm>
          <a:prstGeom prst="rect">
            <a:avLst/>
          </a:prstGeom>
          <a:noFill/>
          <a:ln/>
        </p:spPr>
        <p:txBody>
          <a:bodyPr wrap="square" rtlCol="0" anchor="ctr"/>
          <a:lstStyle/>
          <a:p>
            <a:pPr marL="0" indent="0">
              <a:buNone/>
            </a:pPr>
            <a:r>
              <a:rPr lang="es-PE" sz="1500" b="1" kern="0" spc="400" noProof="0" dirty="0">
                <a:solidFill>
                  <a:srgbClr val="E8C8CB"/>
                </a:solidFill>
                <a:latin typeface="Calibri" pitchFamily="34" charset="0"/>
                <a:ea typeface="Calibri" pitchFamily="34" charset="-122"/>
                <a:cs typeface="Calibri" pitchFamily="34" charset="-120"/>
              </a:rPr>
              <a:t>BLOQUE 2</a:t>
            </a:r>
            <a:endParaRPr lang="es-PE" sz="1500" noProof="0" dirty="0"/>
          </a:p>
        </p:txBody>
      </p:sp>
      <p:sp>
        <p:nvSpPr>
          <p:cNvPr id="4" name="Text 2"/>
          <p:cNvSpPr/>
          <p:nvPr/>
        </p:nvSpPr>
        <p:spPr>
          <a:xfrm>
            <a:off x="822960" y="2834640"/>
            <a:ext cx="10515600" cy="1188720"/>
          </a:xfrm>
          <a:prstGeom prst="rect">
            <a:avLst/>
          </a:prstGeom>
          <a:noFill/>
          <a:ln/>
        </p:spPr>
        <p:txBody>
          <a:bodyPr wrap="square" rtlCol="0" anchor="ctr"/>
          <a:lstStyle/>
          <a:p>
            <a:pPr marL="0" indent="0">
              <a:buNone/>
            </a:pPr>
            <a:r>
              <a:rPr lang="es-PE" sz="3400" b="1" noProof="0" dirty="0">
                <a:solidFill>
                  <a:srgbClr val="FFFFFF"/>
                </a:solidFill>
                <a:latin typeface="Cambria" pitchFamily="34" charset="0"/>
                <a:ea typeface="Cambria" pitchFamily="34" charset="-122"/>
                <a:cs typeface="Cambria" pitchFamily="34" charset="-120"/>
              </a:rPr>
              <a:t>Modelo dinámico por Jacobianos</a:t>
            </a:r>
            <a:endParaRPr lang="es-PE" sz="3400" noProof="0" dirty="0"/>
          </a:p>
        </p:txBody>
      </p:sp>
      <p:sp>
        <p:nvSpPr>
          <p:cNvPr id="5" name="Text 3"/>
          <p:cNvSpPr/>
          <p:nvPr/>
        </p:nvSpPr>
        <p:spPr>
          <a:xfrm>
            <a:off x="822960" y="4206240"/>
            <a:ext cx="10058400" cy="457200"/>
          </a:xfrm>
          <a:prstGeom prst="rect">
            <a:avLst/>
          </a:prstGeom>
          <a:noFill/>
          <a:ln/>
        </p:spPr>
        <p:txBody>
          <a:bodyPr wrap="square" rtlCol="0" anchor="ctr"/>
          <a:lstStyle/>
          <a:p>
            <a:pPr marL="0" indent="0">
              <a:buNone/>
            </a:pPr>
            <a:r>
              <a:rPr lang="es-PE" sz="1600" i="1" noProof="0" dirty="0">
                <a:solidFill>
                  <a:srgbClr val="F0D5D8"/>
                </a:solidFill>
                <a:latin typeface="Calibri" pitchFamily="34" charset="0"/>
                <a:ea typeface="Calibri" pitchFamily="34" charset="-122"/>
                <a:cs typeface="Calibri" pitchFamily="34" charset="-120"/>
              </a:rPr>
              <a:t>Carlos Quispe</a:t>
            </a:r>
            <a:endParaRPr lang="es-PE" sz="1600" noProof="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s-PE" sz="1100" b="1" kern="0" spc="300" noProof="0" dirty="0">
                <a:solidFill>
                  <a:srgbClr val="6E6E6E"/>
                </a:solidFill>
                <a:latin typeface="Calibri" pitchFamily="34" charset="0"/>
                <a:ea typeface="Calibri" pitchFamily="34" charset="-122"/>
                <a:cs typeface="Calibri" pitchFamily="34" charset="-120"/>
              </a:rPr>
              <a:t>2 · MODELO DINÁMICO  ·  MATRIZ DE INERCIA</a:t>
            </a:r>
            <a:endParaRPr lang="es-PE" sz="1100" noProof="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s-PE" sz="2700" b="1" noProof="0" dirty="0">
                <a:solidFill>
                  <a:srgbClr val="990011"/>
                </a:solidFill>
                <a:latin typeface="Cambria" pitchFamily="34" charset="0"/>
                <a:ea typeface="Cambria" pitchFamily="34" charset="-122"/>
                <a:cs typeface="Cambria" pitchFamily="34" charset="-120"/>
              </a:rPr>
              <a:t>M(q) construida con Jacobianos, no con Lagrange</a:t>
            </a:r>
            <a:endParaRPr lang="es-PE" sz="2700" noProof="0" dirty="0"/>
          </a:p>
        </p:txBody>
      </p:sp>
      <p:sp>
        <p:nvSpPr>
          <p:cNvPr id="4" name="Text 2"/>
          <p:cNvSpPr/>
          <p:nvPr/>
        </p:nvSpPr>
        <p:spPr>
          <a:xfrm>
            <a:off x="548640" y="1600200"/>
            <a:ext cx="11064240" cy="640080"/>
          </a:xfrm>
          <a:prstGeom prst="rect">
            <a:avLst/>
          </a:prstGeom>
          <a:noFill/>
          <a:ln/>
        </p:spPr>
        <p:txBody>
          <a:bodyPr wrap="square" lIns="0" tIns="0" rIns="0" bIns="0" rtlCol="0" anchor="t"/>
          <a:lstStyle/>
          <a:p>
            <a:pPr marL="0" indent="0">
              <a:buNone/>
            </a:pPr>
            <a:r>
              <a:rPr lang="es-PE" sz="1400" noProof="0" dirty="0">
                <a:solidFill>
                  <a:srgbClr val="2B2B2B"/>
                </a:solidFill>
                <a:latin typeface="Calibri" pitchFamily="34" charset="0"/>
                <a:ea typeface="Calibri" pitchFamily="34" charset="-122"/>
                <a:cs typeface="Calibri" pitchFamily="34" charset="-120"/>
              </a:rPr>
              <a:t>Por indicación del docente, la energía cinética se expresa vía los Jacobianos lineales y angulares del centro de masa de cada eslabón. Cada pieza se deriva de la cinemática DH:</a:t>
            </a:r>
            <a:endParaRPr lang="es-PE" sz="1400" noProof="0" dirty="0"/>
          </a:p>
        </p:txBody>
      </p:sp>
      <p:sp>
        <p:nvSpPr>
          <p:cNvPr id="5" name="Text 3"/>
          <p:cNvSpPr/>
          <p:nvPr/>
        </p:nvSpPr>
        <p:spPr>
          <a:xfrm>
            <a:off x="548640" y="2286000"/>
            <a:ext cx="11064240" cy="457200"/>
          </a:xfrm>
          <a:prstGeom prst="rect">
            <a:avLst/>
          </a:prstGeom>
          <a:solidFill>
            <a:srgbClr val="F3E9E8"/>
          </a:solidFill>
          <a:ln w="12700">
            <a:solidFill>
              <a:srgbClr val="D9C7C6"/>
            </a:solidFill>
          </a:ln>
        </p:spPr>
        <p:txBody>
          <a:bodyPr wrap="square" lIns="0" tIns="0" rIns="0" bIns="0" rtlCol="0" anchor="ctr"/>
          <a:lstStyle/>
          <a:p>
            <a:pPr marL="0" indent="0" algn="ctr">
              <a:buNone/>
            </a:pPr>
            <a:r>
              <a:rPr lang="es-PE" sz="3200" i="1" noProof="0" dirty="0">
                <a:solidFill>
                  <a:srgbClr val="2B2B2B"/>
                </a:solidFill>
                <a:latin typeface="Cambria" pitchFamily="34" charset="0"/>
                <a:ea typeface="Cambria" pitchFamily="34" charset="-122"/>
                <a:cs typeface="Cambria" pitchFamily="34" charset="-120"/>
              </a:rPr>
              <a:t>M(q) = Σᵢ [ mᵢ · </a:t>
            </a:r>
            <a:r>
              <a:rPr lang="es-PE" sz="3200" i="1" noProof="0" dirty="0" err="1">
                <a:solidFill>
                  <a:srgbClr val="2B2B2B"/>
                </a:solidFill>
                <a:latin typeface="Cambria" pitchFamily="34" charset="0"/>
                <a:ea typeface="Cambria" pitchFamily="34" charset="-122"/>
                <a:cs typeface="Cambria" pitchFamily="34" charset="-120"/>
              </a:rPr>
              <a:t>Jv</a:t>
            </a:r>
            <a:r>
              <a:rPr lang="es-PE" sz="3200" i="1" noProof="0" dirty="0">
                <a:solidFill>
                  <a:srgbClr val="2B2B2B"/>
                </a:solidFill>
                <a:latin typeface="Cambria" pitchFamily="34" charset="0"/>
                <a:ea typeface="Cambria" pitchFamily="34" charset="-122"/>
                <a:cs typeface="Cambria" pitchFamily="34" charset="-120"/>
              </a:rPr>
              <a:t>ᵢᵀ </a:t>
            </a:r>
            <a:r>
              <a:rPr lang="es-PE" sz="3200" i="1" noProof="0" dirty="0" err="1">
                <a:solidFill>
                  <a:srgbClr val="2B2B2B"/>
                </a:solidFill>
                <a:latin typeface="Cambria" pitchFamily="34" charset="0"/>
                <a:ea typeface="Cambria" pitchFamily="34" charset="-122"/>
                <a:cs typeface="Cambria" pitchFamily="34" charset="-120"/>
              </a:rPr>
              <a:t>Jv</a:t>
            </a:r>
            <a:r>
              <a:rPr lang="es-PE" sz="3200" i="1" noProof="0" dirty="0">
                <a:solidFill>
                  <a:srgbClr val="2B2B2B"/>
                </a:solidFill>
                <a:latin typeface="Cambria" pitchFamily="34" charset="0"/>
                <a:ea typeface="Cambria" pitchFamily="34" charset="-122"/>
                <a:cs typeface="Cambria" pitchFamily="34" charset="-120"/>
              </a:rPr>
              <a:t>ᵢ  +  </a:t>
            </a:r>
            <a:r>
              <a:rPr lang="es-PE" sz="3200" i="1" noProof="0" dirty="0" err="1">
                <a:solidFill>
                  <a:srgbClr val="2B2B2B"/>
                </a:solidFill>
                <a:latin typeface="Cambria" pitchFamily="34" charset="0"/>
                <a:ea typeface="Cambria" pitchFamily="34" charset="-122"/>
                <a:cs typeface="Cambria" pitchFamily="34" charset="-120"/>
              </a:rPr>
              <a:t>Jw</a:t>
            </a:r>
            <a:r>
              <a:rPr lang="es-PE" sz="3200" i="1" noProof="0" dirty="0">
                <a:solidFill>
                  <a:srgbClr val="2B2B2B"/>
                </a:solidFill>
                <a:latin typeface="Cambria" pitchFamily="34" charset="0"/>
                <a:ea typeface="Cambria" pitchFamily="34" charset="-122"/>
                <a:cs typeface="Cambria" pitchFamily="34" charset="-120"/>
              </a:rPr>
              <a:t>ᵢᵀ Rᵢ Iᵢ Rᵢᵀ </a:t>
            </a:r>
            <a:r>
              <a:rPr lang="es-PE" sz="3200" i="1" noProof="0" dirty="0" err="1">
                <a:solidFill>
                  <a:srgbClr val="2B2B2B"/>
                </a:solidFill>
                <a:latin typeface="Cambria" pitchFamily="34" charset="0"/>
                <a:ea typeface="Cambria" pitchFamily="34" charset="-122"/>
                <a:cs typeface="Cambria" pitchFamily="34" charset="-120"/>
              </a:rPr>
              <a:t>Jw</a:t>
            </a:r>
            <a:r>
              <a:rPr lang="es-PE" sz="3200" i="1" noProof="0" dirty="0">
                <a:solidFill>
                  <a:srgbClr val="2B2B2B"/>
                </a:solidFill>
                <a:latin typeface="Cambria" pitchFamily="34" charset="0"/>
                <a:ea typeface="Cambria" pitchFamily="34" charset="-122"/>
                <a:cs typeface="Cambria" pitchFamily="34" charset="-120"/>
              </a:rPr>
              <a:t>ᵢ ]</a:t>
            </a:r>
            <a:endParaRPr lang="es-PE" sz="3200" noProof="0" dirty="0"/>
          </a:p>
        </p:txBody>
      </p:sp>
      <p:sp>
        <p:nvSpPr>
          <p:cNvPr id="6" name="Shape 4"/>
          <p:cNvSpPr/>
          <p:nvPr/>
        </p:nvSpPr>
        <p:spPr>
          <a:xfrm>
            <a:off x="548640" y="3063240"/>
            <a:ext cx="11064240" cy="658368"/>
          </a:xfrm>
          <a:prstGeom prst="roundRect">
            <a:avLst>
              <a:gd name="adj" fmla="val 8333"/>
            </a:avLst>
          </a:prstGeom>
          <a:solidFill>
            <a:srgbClr val="FCF6F5"/>
          </a:solidFill>
          <a:ln w="12700">
            <a:solidFill>
              <a:srgbClr val="D9C7C6"/>
            </a:solidFill>
            <a:prstDash val="solid"/>
          </a:ln>
        </p:spPr>
        <p:txBody>
          <a:bodyPr/>
          <a:lstStyle/>
          <a:p>
            <a:endParaRPr lang="es-PE" noProof="0" dirty="0"/>
          </a:p>
        </p:txBody>
      </p:sp>
      <p:sp>
        <p:nvSpPr>
          <p:cNvPr id="7" name="Text 5"/>
          <p:cNvSpPr/>
          <p:nvPr/>
        </p:nvSpPr>
        <p:spPr>
          <a:xfrm>
            <a:off x="731520" y="3063240"/>
            <a:ext cx="2651760" cy="658368"/>
          </a:xfrm>
          <a:prstGeom prst="rect">
            <a:avLst/>
          </a:prstGeom>
          <a:noFill/>
          <a:ln/>
        </p:spPr>
        <p:txBody>
          <a:bodyPr wrap="square" lIns="0" tIns="0" rIns="0" bIns="0" rtlCol="0" anchor="ctr"/>
          <a:lstStyle/>
          <a:p>
            <a:pPr marL="0" indent="0">
              <a:buNone/>
            </a:pPr>
            <a:r>
              <a:rPr lang="es-PE" sz="1350" b="1" noProof="0" dirty="0">
                <a:solidFill>
                  <a:srgbClr val="990011"/>
                </a:solidFill>
                <a:latin typeface="Calibri" pitchFamily="34" charset="0"/>
                <a:ea typeface="Calibri" pitchFamily="34" charset="-122"/>
                <a:cs typeface="Calibri" pitchFamily="34" charset="-120"/>
              </a:rPr>
              <a:t>Rotaciones</a:t>
            </a:r>
            <a:endParaRPr lang="es-PE" sz="1350" noProof="0" dirty="0"/>
          </a:p>
        </p:txBody>
      </p:sp>
      <p:sp>
        <p:nvSpPr>
          <p:cNvPr id="8" name="Text 6"/>
          <p:cNvSpPr/>
          <p:nvPr/>
        </p:nvSpPr>
        <p:spPr>
          <a:xfrm>
            <a:off x="3474720" y="3063240"/>
            <a:ext cx="7955280" cy="658368"/>
          </a:xfrm>
          <a:prstGeom prst="rect">
            <a:avLst/>
          </a:prstGeom>
          <a:noFill/>
          <a:ln/>
        </p:spPr>
        <p:txBody>
          <a:bodyPr wrap="square" lIns="0" tIns="0" rIns="0" bIns="0" rtlCol="0" anchor="ctr"/>
          <a:lstStyle/>
          <a:p>
            <a:pPr marL="0" indent="0">
              <a:buNone/>
            </a:pPr>
            <a:r>
              <a:rPr lang="es-PE" sz="2400" i="1" noProof="0" dirty="0">
                <a:solidFill>
                  <a:srgbClr val="2B2B2B"/>
                </a:solidFill>
                <a:latin typeface="Cambria" pitchFamily="34" charset="0"/>
                <a:ea typeface="Cambria" pitchFamily="34" charset="-122"/>
                <a:cs typeface="Cambria" pitchFamily="34" charset="-120"/>
              </a:rPr>
              <a:t>R₁ = </a:t>
            </a:r>
            <a:r>
              <a:rPr lang="es-PE" sz="2400" i="1" noProof="0" dirty="0" err="1">
                <a:solidFill>
                  <a:srgbClr val="2B2B2B"/>
                </a:solidFill>
                <a:latin typeface="Cambria" pitchFamily="34" charset="0"/>
                <a:ea typeface="Cambria" pitchFamily="34" charset="-122"/>
                <a:cs typeface="Cambria" pitchFamily="34" charset="-120"/>
              </a:rPr>
              <a:t>Rz</a:t>
            </a:r>
            <a:r>
              <a:rPr lang="es-PE" sz="2400" i="1" noProof="0" dirty="0">
                <a:solidFill>
                  <a:srgbClr val="2B2B2B"/>
                </a:solidFill>
                <a:latin typeface="Cambria" pitchFamily="34" charset="0"/>
                <a:ea typeface="Cambria" pitchFamily="34" charset="-122"/>
                <a:cs typeface="Cambria" pitchFamily="34" charset="-120"/>
              </a:rPr>
              <a:t>(q₁)</a:t>
            </a:r>
            <a:r>
              <a:rPr lang="es-PE" sz="2400" i="1" noProof="0" dirty="0" err="1">
                <a:solidFill>
                  <a:srgbClr val="2B2B2B"/>
                </a:solidFill>
                <a:latin typeface="Cambria" pitchFamily="34" charset="0"/>
                <a:ea typeface="Cambria" pitchFamily="34" charset="-122"/>
                <a:cs typeface="Cambria" pitchFamily="34" charset="-120"/>
              </a:rPr>
              <a:t>Rx</a:t>
            </a:r>
            <a:r>
              <a:rPr lang="es-PE" sz="2400" i="1" noProof="0" dirty="0">
                <a:solidFill>
                  <a:srgbClr val="2B2B2B"/>
                </a:solidFill>
                <a:latin typeface="Cambria" pitchFamily="34" charset="0"/>
                <a:ea typeface="Cambria" pitchFamily="34" charset="-122"/>
                <a:cs typeface="Cambria" pitchFamily="34" charset="-120"/>
              </a:rPr>
              <a:t>(π/2),  R₂ = </a:t>
            </a:r>
            <a:r>
              <a:rPr lang="es-PE" sz="2400" i="1" noProof="0" dirty="0" err="1">
                <a:solidFill>
                  <a:srgbClr val="2B2B2B"/>
                </a:solidFill>
                <a:latin typeface="Cambria" pitchFamily="34" charset="0"/>
                <a:ea typeface="Cambria" pitchFamily="34" charset="-122"/>
                <a:cs typeface="Cambria" pitchFamily="34" charset="-120"/>
              </a:rPr>
              <a:t>R₁Rz</a:t>
            </a:r>
            <a:r>
              <a:rPr lang="es-PE" sz="2400" i="1" noProof="0" dirty="0">
                <a:solidFill>
                  <a:srgbClr val="2B2B2B"/>
                </a:solidFill>
                <a:latin typeface="Cambria" pitchFamily="34" charset="0"/>
                <a:ea typeface="Cambria" pitchFamily="34" charset="-122"/>
                <a:cs typeface="Cambria" pitchFamily="34" charset="-120"/>
              </a:rPr>
              <a:t>(q₂),  R₃ = </a:t>
            </a:r>
            <a:r>
              <a:rPr lang="es-PE" sz="2400" i="1" noProof="0" dirty="0" err="1">
                <a:solidFill>
                  <a:srgbClr val="2B2B2B"/>
                </a:solidFill>
                <a:latin typeface="Cambria" pitchFamily="34" charset="0"/>
                <a:ea typeface="Cambria" pitchFamily="34" charset="-122"/>
                <a:cs typeface="Cambria" pitchFamily="34" charset="-120"/>
              </a:rPr>
              <a:t>R₂Rz</a:t>
            </a:r>
            <a:r>
              <a:rPr lang="es-PE" sz="2400" i="1" noProof="0" dirty="0">
                <a:solidFill>
                  <a:srgbClr val="2B2B2B"/>
                </a:solidFill>
                <a:latin typeface="Cambria" pitchFamily="34" charset="0"/>
                <a:ea typeface="Cambria" pitchFamily="34" charset="-122"/>
                <a:cs typeface="Cambria" pitchFamily="34" charset="-120"/>
              </a:rPr>
              <a:t>(q₃)</a:t>
            </a:r>
            <a:endParaRPr lang="es-PE" sz="2400" noProof="0" dirty="0"/>
          </a:p>
        </p:txBody>
      </p:sp>
      <p:sp>
        <p:nvSpPr>
          <p:cNvPr id="9" name="Shape 7"/>
          <p:cNvSpPr/>
          <p:nvPr/>
        </p:nvSpPr>
        <p:spPr>
          <a:xfrm>
            <a:off x="548640" y="3822192"/>
            <a:ext cx="11064240" cy="658368"/>
          </a:xfrm>
          <a:prstGeom prst="roundRect">
            <a:avLst>
              <a:gd name="adj" fmla="val 8333"/>
            </a:avLst>
          </a:prstGeom>
          <a:solidFill>
            <a:srgbClr val="FCF6F5"/>
          </a:solidFill>
          <a:ln w="12700">
            <a:solidFill>
              <a:srgbClr val="D9C7C6"/>
            </a:solidFill>
            <a:prstDash val="solid"/>
          </a:ln>
        </p:spPr>
        <p:txBody>
          <a:bodyPr/>
          <a:lstStyle/>
          <a:p>
            <a:endParaRPr lang="es-PE" noProof="0" dirty="0"/>
          </a:p>
        </p:txBody>
      </p:sp>
      <p:sp>
        <p:nvSpPr>
          <p:cNvPr id="10" name="Text 8"/>
          <p:cNvSpPr/>
          <p:nvPr/>
        </p:nvSpPr>
        <p:spPr>
          <a:xfrm>
            <a:off x="731520" y="3822192"/>
            <a:ext cx="2651760" cy="658368"/>
          </a:xfrm>
          <a:prstGeom prst="rect">
            <a:avLst/>
          </a:prstGeom>
          <a:noFill/>
          <a:ln/>
        </p:spPr>
        <p:txBody>
          <a:bodyPr wrap="square" lIns="0" tIns="0" rIns="0" bIns="0" rtlCol="0" anchor="ctr"/>
          <a:lstStyle/>
          <a:p>
            <a:pPr marL="0" indent="0">
              <a:buNone/>
            </a:pPr>
            <a:r>
              <a:rPr lang="es-PE" sz="1350" b="1" noProof="0" dirty="0">
                <a:solidFill>
                  <a:srgbClr val="990011"/>
                </a:solidFill>
                <a:latin typeface="Calibri" pitchFamily="34" charset="0"/>
                <a:ea typeface="Calibri" pitchFamily="34" charset="-122"/>
                <a:cs typeface="Calibri" pitchFamily="34" charset="-120"/>
              </a:rPr>
              <a:t>Centros de masa</a:t>
            </a:r>
            <a:endParaRPr lang="es-PE" sz="1350" noProof="0" dirty="0"/>
          </a:p>
        </p:txBody>
      </p:sp>
      <p:sp>
        <p:nvSpPr>
          <p:cNvPr id="11" name="Text 9"/>
          <p:cNvSpPr/>
          <p:nvPr/>
        </p:nvSpPr>
        <p:spPr>
          <a:xfrm>
            <a:off x="3474720" y="3822192"/>
            <a:ext cx="7955280" cy="658368"/>
          </a:xfrm>
          <a:prstGeom prst="rect">
            <a:avLst/>
          </a:prstGeom>
          <a:noFill/>
          <a:ln/>
        </p:spPr>
        <p:txBody>
          <a:bodyPr wrap="square" lIns="0" tIns="0" rIns="0" bIns="0" rtlCol="0" anchor="ctr"/>
          <a:lstStyle/>
          <a:p>
            <a:pPr marL="0" indent="0">
              <a:buNone/>
            </a:pPr>
            <a:r>
              <a:rPr lang="es-PE" sz="2400" i="1" noProof="0" dirty="0">
                <a:solidFill>
                  <a:srgbClr val="2B2B2B"/>
                </a:solidFill>
                <a:latin typeface="Cambria" pitchFamily="34" charset="0"/>
                <a:ea typeface="Cambria" pitchFamily="34" charset="-122"/>
                <a:cs typeface="Cambria" pitchFamily="34" charset="-120"/>
              </a:rPr>
              <a:t>pc₁=[0,0,lc₁]ᵀ;  pc₂, pc₃ a lo largo del eslabón</a:t>
            </a:r>
            <a:endParaRPr lang="es-PE" sz="2400" noProof="0" dirty="0"/>
          </a:p>
        </p:txBody>
      </p:sp>
      <p:sp>
        <p:nvSpPr>
          <p:cNvPr id="12" name="Shape 10"/>
          <p:cNvSpPr/>
          <p:nvPr/>
        </p:nvSpPr>
        <p:spPr>
          <a:xfrm>
            <a:off x="548640" y="4581144"/>
            <a:ext cx="11064240" cy="658368"/>
          </a:xfrm>
          <a:prstGeom prst="roundRect">
            <a:avLst>
              <a:gd name="adj" fmla="val 8333"/>
            </a:avLst>
          </a:prstGeom>
          <a:solidFill>
            <a:srgbClr val="FCF6F5"/>
          </a:solidFill>
          <a:ln w="12700">
            <a:solidFill>
              <a:srgbClr val="D9C7C6"/>
            </a:solidFill>
            <a:prstDash val="solid"/>
          </a:ln>
        </p:spPr>
        <p:txBody>
          <a:bodyPr/>
          <a:lstStyle/>
          <a:p>
            <a:endParaRPr lang="es-PE" noProof="0" dirty="0"/>
          </a:p>
        </p:txBody>
      </p:sp>
      <p:sp>
        <p:nvSpPr>
          <p:cNvPr id="13" name="Text 11"/>
          <p:cNvSpPr/>
          <p:nvPr/>
        </p:nvSpPr>
        <p:spPr>
          <a:xfrm>
            <a:off x="731520" y="4581144"/>
            <a:ext cx="2651760" cy="658368"/>
          </a:xfrm>
          <a:prstGeom prst="rect">
            <a:avLst/>
          </a:prstGeom>
          <a:noFill/>
          <a:ln/>
        </p:spPr>
        <p:txBody>
          <a:bodyPr wrap="square" lIns="0" tIns="0" rIns="0" bIns="0" rtlCol="0" anchor="ctr"/>
          <a:lstStyle/>
          <a:p>
            <a:pPr marL="0" indent="0">
              <a:buNone/>
            </a:pPr>
            <a:r>
              <a:rPr lang="es-PE" sz="1350" b="1" noProof="0" dirty="0">
                <a:solidFill>
                  <a:srgbClr val="990011"/>
                </a:solidFill>
                <a:latin typeface="Calibri" pitchFamily="34" charset="0"/>
                <a:ea typeface="Calibri" pitchFamily="34" charset="-122"/>
                <a:cs typeface="Calibri" pitchFamily="34" charset="-120"/>
              </a:rPr>
              <a:t>Jacobiano lineal</a:t>
            </a:r>
            <a:endParaRPr lang="es-PE" sz="1350" noProof="0" dirty="0"/>
          </a:p>
        </p:txBody>
      </p:sp>
      <p:sp>
        <p:nvSpPr>
          <p:cNvPr id="14" name="Text 12"/>
          <p:cNvSpPr/>
          <p:nvPr/>
        </p:nvSpPr>
        <p:spPr>
          <a:xfrm>
            <a:off x="3474720" y="4581144"/>
            <a:ext cx="7955280" cy="658368"/>
          </a:xfrm>
          <a:prstGeom prst="rect">
            <a:avLst/>
          </a:prstGeom>
          <a:noFill/>
          <a:ln/>
        </p:spPr>
        <p:txBody>
          <a:bodyPr wrap="square" lIns="0" tIns="0" rIns="0" bIns="0" rtlCol="0" anchor="ctr"/>
          <a:lstStyle/>
          <a:p>
            <a:pPr marL="0" indent="0">
              <a:buNone/>
            </a:pPr>
            <a:r>
              <a:rPr lang="es-PE" sz="2400" i="1" noProof="0" dirty="0" err="1">
                <a:solidFill>
                  <a:srgbClr val="2B2B2B"/>
                </a:solidFill>
                <a:latin typeface="Cambria" pitchFamily="34" charset="0"/>
                <a:ea typeface="Cambria" pitchFamily="34" charset="-122"/>
                <a:cs typeface="Cambria" pitchFamily="34" charset="-120"/>
              </a:rPr>
              <a:t>Jv</a:t>
            </a:r>
            <a:r>
              <a:rPr lang="es-PE" sz="2400" i="1" noProof="0" dirty="0">
                <a:solidFill>
                  <a:srgbClr val="2B2B2B"/>
                </a:solidFill>
                <a:latin typeface="Cambria" pitchFamily="34" charset="0"/>
                <a:ea typeface="Cambria" pitchFamily="34" charset="-122"/>
                <a:cs typeface="Cambria" pitchFamily="34" charset="-120"/>
              </a:rPr>
              <a:t>ᵢ = ∂pcᵢ/∂q   (</a:t>
            </a:r>
            <a:r>
              <a:rPr lang="es-PE" sz="2400" i="1" noProof="0" dirty="0" err="1">
                <a:solidFill>
                  <a:srgbClr val="2B2B2B"/>
                </a:solidFill>
                <a:latin typeface="Cambria" pitchFamily="34" charset="0"/>
                <a:ea typeface="Cambria" pitchFamily="34" charset="-122"/>
                <a:cs typeface="Cambria" pitchFamily="34" charset="-120"/>
              </a:rPr>
              <a:t>Jv</a:t>
            </a:r>
            <a:r>
              <a:rPr lang="es-PE" sz="2400" i="1" noProof="0" dirty="0">
                <a:solidFill>
                  <a:srgbClr val="2B2B2B"/>
                </a:solidFill>
                <a:latin typeface="Cambria" pitchFamily="34" charset="0"/>
                <a:ea typeface="Cambria" pitchFamily="34" charset="-122"/>
                <a:cs typeface="Cambria" pitchFamily="34" charset="-120"/>
              </a:rPr>
              <a:t>₁ = 0: pc₁ sobre el eje base)</a:t>
            </a:r>
            <a:endParaRPr lang="es-PE" sz="2400" noProof="0" dirty="0"/>
          </a:p>
        </p:txBody>
      </p:sp>
      <p:sp>
        <p:nvSpPr>
          <p:cNvPr id="15" name="Shape 13"/>
          <p:cNvSpPr/>
          <p:nvPr/>
        </p:nvSpPr>
        <p:spPr>
          <a:xfrm>
            <a:off x="548640" y="5340096"/>
            <a:ext cx="11064240" cy="658368"/>
          </a:xfrm>
          <a:prstGeom prst="roundRect">
            <a:avLst>
              <a:gd name="adj" fmla="val 8333"/>
            </a:avLst>
          </a:prstGeom>
          <a:solidFill>
            <a:srgbClr val="FCF6F5"/>
          </a:solidFill>
          <a:ln w="12700">
            <a:solidFill>
              <a:srgbClr val="D9C7C6"/>
            </a:solidFill>
            <a:prstDash val="solid"/>
          </a:ln>
        </p:spPr>
        <p:txBody>
          <a:bodyPr/>
          <a:lstStyle/>
          <a:p>
            <a:endParaRPr lang="es-PE" noProof="0" dirty="0"/>
          </a:p>
        </p:txBody>
      </p:sp>
      <p:sp>
        <p:nvSpPr>
          <p:cNvPr id="16" name="Text 14"/>
          <p:cNvSpPr/>
          <p:nvPr/>
        </p:nvSpPr>
        <p:spPr>
          <a:xfrm>
            <a:off x="731520" y="5340096"/>
            <a:ext cx="2651760" cy="658368"/>
          </a:xfrm>
          <a:prstGeom prst="rect">
            <a:avLst/>
          </a:prstGeom>
          <a:noFill/>
          <a:ln/>
        </p:spPr>
        <p:txBody>
          <a:bodyPr wrap="square" lIns="0" tIns="0" rIns="0" bIns="0" rtlCol="0" anchor="ctr"/>
          <a:lstStyle/>
          <a:p>
            <a:pPr marL="0" indent="0">
              <a:buNone/>
            </a:pPr>
            <a:r>
              <a:rPr lang="es-PE" sz="1350" b="1" noProof="0" dirty="0">
                <a:solidFill>
                  <a:srgbClr val="990011"/>
                </a:solidFill>
                <a:latin typeface="Calibri" pitchFamily="34" charset="0"/>
                <a:ea typeface="Calibri" pitchFamily="34" charset="-122"/>
                <a:cs typeface="Calibri" pitchFamily="34" charset="-120"/>
              </a:rPr>
              <a:t>Jacobiano angular</a:t>
            </a:r>
            <a:endParaRPr lang="es-PE" sz="1350" noProof="0" dirty="0"/>
          </a:p>
        </p:txBody>
      </p:sp>
      <p:sp>
        <p:nvSpPr>
          <p:cNvPr id="17" name="Text 15"/>
          <p:cNvSpPr/>
          <p:nvPr/>
        </p:nvSpPr>
        <p:spPr>
          <a:xfrm>
            <a:off x="3474720" y="5340096"/>
            <a:ext cx="7955280" cy="658368"/>
          </a:xfrm>
          <a:prstGeom prst="rect">
            <a:avLst/>
          </a:prstGeom>
          <a:noFill/>
          <a:ln/>
        </p:spPr>
        <p:txBody>
          <a:bodyPr wrap="square" lIns="0" tIns="0" rIns="0" bIns="0" rtlCol="0" anchor="ctr"/>
          <a:lstStyle/>
          <a:p>
            <a:pPr marL="0" indent="0">
              <a:buNone/>
            </a:pPr>
            <a:r>
              <a:rPr lang="es-PE" sz="2400" i="1" noProof="0" dirty="0" err="1">
                <a:solidFill>
                  <a:srgbClr val="2B2B2B"/>
                </a:solidFill>
                <a:latin typeface="Cambria" pitchFamily="34" charset="0"/>
                <a:ea typeface="Cambria" pitchFamily="34" charset="-122"/>
                <a:cs typeface="Cambria" pitchFamily="34" charset="-120"/>
              </a:rPr>
              <a:t>Jw</a:t>
            </a:r>
            <a:r>
              <a:rPr lang="es-PE" sz="2400" i="1" noProof="0" dirty="0">
                <a:solidFill>
                  <a:srgbClr val="2B2B2B"/>
                </a:solidFill>
                <a:latin typeface="Cambria" pitchFamily="34" charset="0"/>
                <a:ea typeface="Cambria" pitchFamily="34" charset="-122"/>
                <a:cs typeface="Cambria" pitchFamily="34" charset="-120"/>
              </a:rPr>
              <a:t>₁=[z₀,0,0], </a:t>
            </a:r>
            <a:r>
              <a:rPr lang="es-PE" sz="2400" i="1" noProof="0" dirty="0" err="1">
                <a:solidFill>
                  <a:srgbClr val="2B2B2B"/>
                </a:solidFill>
                <a:latin typeface="Cambria" pitchFamily="34" charset="0"/>
                <a:ea typeface="Cambria" pitchFamily="34" charset="-122"/>
                <a:cs typeface="Cambria" pitchFamily="34" charset="-120"/>
              </a:rPr>
              <a:t>Jw</a:t>
            </a:r>
            <a:r>
              <a:rPr lang="es-PE" sz="2400" i="1" noProof="0" dirty="0">
                <a:solidFill>
                  <a:srgbClr val="2B2B2B"/>
                </a:solidFill>
                <a:latin typeface="Cambria" pitchFamily="34" charset="0"/>
                <a:ea typeface="Cambria" pitchFamily="34" charset="-122"/>
                <a:cs typeface="Cambria" pitchFamily="34" charset="-120"/>
              </a:rPr>
              <a:t>₂=[z₀,z₁,0], </a:t>
            </a:r>
            <a:r>
              <a:rPr lang="es-PE" sz="2400" i="1" noProof="0" dirty="0" err="1">
                <a:solidFill>
                  <a:srgbClr val="2B2B2B"/>
                </a:solidFill>
                <a:latin typeface="Cambria" pitchFamily="34" charset="0"/>
                <a:ea typeface="Cambria" pitchFamily="34" charset="-122"/>
                <a:cs typeface="Cambria" pitchFamily="34" charset="-120"/>
              </a:rPr>
              <a:t>Jw</a:t>
            </a:r>
            <a:r>
              <a:rPr lang="es-PE" sz="2400" i="1" noProof="0" dirty="0">
                <a:solidFill>
                  <a:srgbClr val="2B2B2B"/>
                </a:solidFill>
                <a:latin typeface="Cambria" pitchFamily="34" charset="0"/>
                <a:ea typeface="Cambria" pitchFamily="34" charset="-122"/>
                <a:cs typeface="Cambria" pitchFamily="34" charset="-120"/>
              </a:rPr>
              <a:t>₃=[</a:t>
            </a:r>
            <a:r>
              <a:rPr lang="es-PE" sz="2400" i="1" noProof="0" dirty="0" err="1">
                <a:solidFill>
                  <a:srgbClr val="2B2B2B"/>
                </a:solidFill>
                <a:latin typeface="Cambria" pitchFamily="34" charset="0"/>
                <a:ea typeface="Cambria" pitchFamily="34" charset="-122"/>
                <a:cs typeface="Cambria" pitchFamily="34" charset="-120"/>
              </a:rPr>
              <a:t>z₀,z₁,z</a:t>
            </a:r>
            <a:r>
              <a:rPr lang="es-PE" sz="2400" i="1" noProof="0" dirty="0">
                <a:solidFill>
                  <a:srgbClr val="2B2B2B"/>
                </a:solidFill>
                <a:latin typeface="Cambria" pitchFamily="34" charset="0"/>
                <a:ea typeface="Cambria" pitchFamily="34" charset="-122"/>
                <a:cs typeface="Cambria" pitchFamily="34" charset="-120"/>
              </a:rPr>
              <a:t>₂], z₁=z₂</a:t>
            </a:r>
            <a:endParaRPr lang="es-PE" sz="2400" noProof="0" dirty="0"/>
          </a:p>
        </p:txBody>
      </p:sp>
      <p:sp>
        <p:nvSpPr>
          <p:cNvPr id="18" name="Text 16"/>
          <p:cNvSpPr/>
          <p:nvPr/>
        </p:nvSpPr>
        <p:spPr>
          <a:xfrm>
            <a:off x="548640" y="6263640"/>
            <a:ext cx="11064240" cy="274320"/>
          </a:xfrm>
          <a:prstGeom prst="rect">
            <a:avLst/>
          </a:prstGeom>
          <a:noFill/>
          <a:ln/>
        </p:spPr>
        <p:txBody>
          <a:bodyPr wrap="square" lIns="0" tIns="0" rIns="0" bIns="0" rtlCol="0" anchor="ctr"/>
          <a:lstStyle/>
          <a:p>
            <a:pPr marL="0" indent="0">
              <a:buNone/>
            </a:pPr>
            <a:r>
              <a:rPr lang="es-PE" sz="1200" b="1" i="1" noProof="0" dirty="0">
                <a:solidFill>
                  <a:srgbClr val="6E6E6E"/>
                </a:solidFill>
                <a:latin typeface="Calibri" pitchFamily="34" charset="0"/>
                <a:ea typeface="Calibri" pitchFamily="34" charset="-122"/>
                <a:cs typeface="Calibri" pitchFamily="34" charset="-120"/>
              </a:rPr>
              <a:t>Resultado: M(q) 3×3, simétrica y definida positiva (verificado numéricamente).</a:t>
            </a:r>
            <a:endParaRPr lang="es-PE" sz="1200" b="1" noProof="0" dirty="0"/>
          </a:p>
        </p:txBody>
      </p:sp>
      <p:sp>
        <p:nvSpPr>
          <p:cNvPr id="19" name="Text 17"/>
          <p:cNvSpPr/>
          <p:nvPr/>
        </p:nvSpPr>
        <p:spPr>
          <a:xfrm>
            <a:off x="11612880" y="6455664"/>
            <a:ext cx="457200" cy="274320"/>
          </a:xfrm>
          <a:prstGeom prst="rect">
            <a:avLst/>
          </a:prstGeom>
          <a:noFill/>
          <a:ln/>
        </p:spPr>
        <p:txBody>
          <a:bodyPr wrap="square" lIns="0" tIns="0" rIns="0" bIns="0" rtlCol="0" anchor="ctr"/>
          <a:lstStyle/>
          <a:p>
            <a:pPr marL="0" indent="0" algn="r">
              <a:buNone/>
            </a:pPr>
            <a:r>
              <a:rPr lang="es-PE" sz="1000" noProof="0" dirty="0">
                <a:solidFill>
                  <a:srgbClr val="6E6E6E"/>
                </a:solidFill>
                <a:latin typeface="Calibri" pitchFamily="34" charset="0"/>
                <a:ea typeface="Calibri" pitchFamily="34" charset="-122"/>
                <a:cs typeface="Calibri" pitchFamily="34" charset="-120"/>
              </a:rPr>
              <a:t>7</a:t>
            </a:r>
            <a:endParaRPr lang="es-PE" sz="100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2 · MODELO DINÁMICO · CÓDIGO REAL</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De la fórmula al código: función inertia_matrix_3dof</a:t>
            </a:r>
          </a:p>
        </p:txBody>
      </p:sp>
      <p:sp>
        <p:nvSpPr>
          <p:cNvPr id="4" name="TextBox 3"/>
          <p:cNvSpPr txBox="1"/>
          <p:nvPr/>
        </p:nvSpPr>
        <p:spPr>
          <a:xfrm>
            <a:off x="548640" y="1600200"/>
            <a:ext cx="11064240" cy="457200"/>
          </a:xfrm>
          <a:prstGeom prst="rect">
            <a:avLst/>
          </a:prstGeom>
          <a:noFill/>
        </p:spPr>
        <p:txBody>
          <a:bodyPr wrap="square" lIns="0" tIns="0" rIns="0" bIns="0">
            <a:spAutoFit/>
          </a:bodyPr>
          <a:lstStyle/>
          <a:p>
            <a:pPr algn="l"/>
            <a:r>
              <a:rPr lang="es-PE" sz="1400" b="0" i="0" noProof="0" dirty="0">
                <a:solidFill>
                  <a:srgbClr val="2B2B2B"/>
                </a:solidFill>
                <a:latin typeface="Calibri"/>
              </a:rPr>
              <a:t>Exactamente la fórmula de la diapositiva anterior, ya en código numérico puro (sin </a:t>
            </a:r>
            <a:r>
              <a:rPr lang="es-PE" sz="1400" b="0" i="0" noProof="0" dirty="0" err="1">
                <a:solidFill>
                  <a:srgbClr val="2B2B2B"/>
                </a:solidFill>
                <a:latin typeface="Calibri"/>
              </a:rPr>
              <a:t>Symbolic</a:t>
            </a:r>
            <a:r>
              <a:rPr lang="es-PE" sz="1400" b="0" i="0" noProof="0" dirty="0">
                <a:solidFill>
                  <a:srgbClr val="2B2B2B"/>
                </a:solidFill>
                <a:latin typeface="Calibri"/>
              </a:rPr>
              <a:t> Math Toolbox). Es una función más dentro del mismo archivo de dinámica (no un archivo aparte), lista para copiarse en un bloque MATLAB Function de Simulink.</a:t>
            </a:r>
          </a:p>
        </p:txBody>
      </p:sp>
      <p:sp>
        <p:nvSpPr>
          <p:cNvPr id="5" name="Rounded Rectangle 4"/>
          <p:cNvSpPr/>
          <p:nvPr/>
        </p:nvSpPr>
        <p:spPr>
          <a:xfrm>
            <a:off x="548640" y="2194560"/>
            <a:ext cx="11064240" cy="3703320"/>
          </a:xfrm>
          <a:prstGeom prst="roundRect">
            <a:avLst>
              <a:gd name="adj" fmla="val 4000"/>
            </a:avLst>
          </a:prstGeom>
          <a:solidFill>
            <a:srgbClr val="FCF6F5"/>
          </a:solidFill>
          <a:ln w="9525">
            <a:solidFill>
              <a:srgbClr val="6008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PE" noProof="0" dirty="0"/>
          </a:p>
        </p:txBody>
      </p:sp>
      <p:sp>
        <p:nvSpPr>
          <p:cNvPr id="6" name="TextBox 5"/>
          <p:cNvSpPr txBox="1"/>
          <p:nvPr/>
        </p:nvSpPr>
        <p:spPr>
          <a:xfrm>
            <a:off x="731520" y="2286000"/>
            <a:ext cx="10861948" cy="3193182"/>
          </a:xfrm>
          <a:prstGeom prst="rect">
            <a:avLst/>
          </a:prstGeom>
          <a:noFill/>
        </p:spPr>
        <p:txBody>
          <a:bodyPr wrap="none" lIns="0" tIns="0" rIns="0" bIns="0">
            <a:spAutoFit/>
          </a:bodyPr>
          <a:lstStyle/>
          <a:p>
            <a:pPr algn="l">
              <a:spcBef>
                <a:spcPts val="0"/>
              </a:spcBef>
              <a:spcAft>
                <a:spcPts val="100"/>
              </a:spcAft>
            </a:pPr>
            <a:r>
              <a:rPr lang="es-PE" sz="2000" b="1" noProof="0" dirty="0" err="1">
                <a:solidFill>
                  <a:srgbClr val="990011"/>
                </a:solidFill>
                <a:latin typeface="Consolas"/>
              </a:rPr>
              <a:t>function</a:t>
            </a:r>
            <a:r>
              <a:rPr lang="es-PE" sz="2000" b="1" noProof="0" dirty="0">
                <a:solidFill>
                  <a:srgbClr val="990011"/>
                </a:solidFill>
                <a:latin typeface="Consolas"/>
              </a:rPr>
              <a:t> M = inertia_matrix_3dof(q, robot)</a:t>
            </a:r>
          </a:p>
          <a:p>
            <a:pPr algn="l">
              <a:spcBef>
                <a:spcPts val="0"/>
              </a:spcBef>
              <a:spcAft>
                <a:spcPts val="100"/>
              </a:spcAft>
            </a:pPr>
            <a:r>
              <a:rPr lang="es-PE" sz="2000" noProof="0" dirty="0">
                <a:solidFill>
                  <a:srgbClr val="2B2B2B"/>
                </a:solidFill>
                <a:latin typeface="Consolas"/>
              </a:rPr>
              <a:t>    [~,~,~,Jv1,Jv2,Jv3,Jw1,Jw2,Jw3,R1,R2,R3] = com_kinematics_3dof(q, robot);</a:t>
            </a:r>
          </a:p>
          <a:p>
            <a:pPr algn="l">
              <a:spcBef>
                <a:spcPts val="0"/>
              </a:spcBef>
              <a:spcAft>
                <a:spcPts val="100"/>
              </a:spcAft>
            </a:pPr>
            <a:r>
              <a:rPr lang="es-PE" sz="2000" noProof="0" dirty="0">
                <a:solidFill>
                  <a:srgbClr val="2B2B2B"/>
                </a:solidFill>
                <a:latin typeface="Consolas"/>
              </a:rPr>
              <a:t> </a:t>
            </a:r>
          </a:p>
          <a:p>
            <a:pPr algn="l">
              <a:spcBef>
                <a:spcPts val="0"/>
              </a:spcBef>
              <a:spcAft>
                <a:spcPts val="100"/>
              </a:spcAft>
            </a:pPr>
            <a:r>
              <a:rPr lang="es-PE" sz="2000" noProof="0" dirty="0">
                <a:solidFill>
                  <a:srgbClr val="2B2B2B"/>
                </a:solidFill>
                <a:latin typeface="Consolas"/>
              </a:rPr>
              <a:t>    M = robot.m1*(Jv1.'*Jv1) + Jw1.'*R1*robot.I1*R1.'*Jw1 + ...</a:t>
            </a:r>
          </a:p>
          <a:p>
            <a:pPr algn="l">
              <a:spcBef>
                <a:spcPts val="0"/>
              </a:spcBef>
              <a:spcAft>
                <a:spcPts val="100"/>
              </a:spcAft>
            </a:pPr>
            <a:r>
              <a:rPr lang="es-PE" sz="2000" noProof="0" dirty="0">
                <a:solidFill>
                  <a:srgbClr val="2B2B2B"/>
                </a:solidFill>
                <a:latin typeface="Consolas"/>
              </a:rPr>
              <a:t>        robot.m2*(Jv2.'*Jv2) + Jw2.'*R2*robot.I2*R2.'*Jw2 + ...</a:t>
            </a:r>
          </a:p>
          <a:p>
            <a:pPr algn="l">
              <a:spcBef>
                <a:spcPts val="0"/>
              </a:spcBef>
              <a:spcAft>
                <a:spcPts val="100"/>
              </a:spcAft>
            </a:pPr>
            <a:r>
              <a:rPr lang="es-PE" sz="2000" noProof="0" dirty="0">
                <a:solidFill>
                  <a:srgbClr val="2B2B2B"/>
                </a:solidFill>
                <a:latin typeface="Consolas"/>
              </a:rPr>
              <a:t>        robot.m3*(Jv3.'*Jv3) + Jw3.'*R3*robot.I3*R3.'*Jw3;</a:t>
            </a:r>
          </a:p>
          <a:p>
            <a:pPr algn="l">
              <a:spcBef>
                <a:spcPts val="0"/>
              </a:spcBef>
              <a:spcAft>
                <a:spcPts val="100"/>
              </a:spcAft>
            </a:pPr>
            <a:r>
              <a:rPr lang="es-PE" sz="2000" noProof="0" dirty="0">
                <a:solidFill>
                  <a:srgbClr val="2B2B2B"/>
                </a:solidFill>
                <a:latin typeface="Consolas"/>
              </a:rPr>
              <a:t> </a:t>
            </a:r>
          </a:p>
          <a:p>
            <a:pPr algn="l">
              <a:spcBef>
                <a:spcPts val="0"/>
              </a:spcBef>
              <a:spcAft>
                <a:spcPts val="100"/>
              </a:spcAft>
            </a:pPr>
            <a:r>
              <a:rPr lang="es-PE" sz="2000" noProof="0" dirty="0">
                <a:solidFill>
                  <a:srgbClr val="2B2B2B"/>
                </a:solidFill>
                <a:latin typeface="Consolas"/>
              </a:rPr>
              <a:t>    M = (M + M.')/2;  </a:t>
            </a:r>
            <a:r>
              <a:rPr lang="es-PE" sz="2000" i="1" dirty="0">
                <a:solidFill>
                  <a:srgbClr val="6E6E6E"/>
                </a:solidFill>
                <a:latin typeface="Consolas"/>
              </a:rPr>
              <a:t>% simetrizacion numérica (M ya es simétrica </a:t>
            </a:r>
          </a:p>
          <a:p>
            <a:pPr algn="l">
              <a:spcBef>
                <a:spcPts val="0"/>
              </a:spcBef>
              <a:spcAft>
                <a:spcPts val="100"/>
              </a:spcAft>
            </a:pPr>
            <a:r>
              <a:rPr lang="es-PE" sz="2000" i="1" dirty="0">
                <a:solidFill>
                  <a:srgbClr val="2B2B2B"/>
                </a:solidFill>
                <a:latin typeface="Consolas"/>
              </a:rPr>
              <a:t>                      </a:t>
            </a:r>
            <a:r>
              <a:rPr lang="es-PE" sz="2000" i="1" noProof="0" dirty="0">
                <a:solidFill>
                  <a:srgbClr val="6E6E6E"/>
                </a:solidFill>
                <a:latin typeface="Consolas"/>
              </a:rPr>
              <a:t>% por construcción; solo limpia ruido de redondeo)</a:t>
            </a:r>
          </a:p>
          <a:p>
            <a:pPr algn="l">
              <a:spcBef>
                <a:spcPts val="0"/>
              </a:spcBef>
              <a:spcAft>
                <a:spcPts val="100"/>
              </a:spcAft>
            </a:pPr>
            <a:r>
              <a:rPr lang="es-PE" sz="2000" b="1" noProof="0" dirty="0">
                <a:solidFill>
                  <a:srgbClr val="990011"/>
                </a:solidFill>
                <a:latin typeface="Consolas"/>
              </a:rPr>
              <a:t>end</a:t>
            </a:r>
          </a:p>
        </p:txBody>
      </p:sp>
      <p:sp>
        <p:nvSpPr>
          <p:cNvPr id="7" name="TextBox 6"/>
          <p:cNvSpPr txBox="1"/>
          <p:nvPr/>
        </p:nvSpPr>
        <p:spPr>
          <a:xfrm>
            <a:off x="548640" y="6263640"/>
            <a:ext cx="11064240" cy="184666"/>
          </a:xfrm>
          <a:prstGeom prst="rect">
            <a:avLst/>
          </a:prstGeom>
          <a:noFill/>
        </p:spPr>
        <p:txBody>
          <a:bodyPr wrap="square" lIns="0" tIns="0" rIns="0" bIns="0">
            <a:spAutoFit/>
          </a:bodyPr>
          <a:lstStyle/>
          <a:p>
            <a:pPr algn="l"/>
            <a:r>
              <a:rPr lang="es-PE" sz="1200" b="1" i="0" noProof="0" dirty="0">
                <a:solidFill>
                  <a:srgbClr val="6E6E6E"/>
                </a:solidFill>
                <a:latin typeface="Calibri"/>
              </a:rPr>
              <a:t>Archivo: 01_codigo_final/robot3dof_TFinal_v2_dinamica_jacobianos.m</a:t>
            </a:r>
          </a:p>
        </p:txBody>
      </p:sp>
      <p:sp>
        <p:nvSpPr>
          <p:cNvPr id="8" name="TextBox 7"/>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s-PE" sz="1100" b="1" kern="0" spc="300" noProof="0" dirty="0">
                <a:solidFill>
                  <a:srgbClr val="6E6E6E"/>
                </a:solidFill>
                <a:latin typeface="Calibri" pitchFamily="34" charset="0"/>
                <a:ea typeface="Calibri" pitchFamily="34" charset="-122"/>
                <a:cs typeface="Calibri" pitchFamily="34" charset="-120"/>
              </a:rPr>
              <a:t>2 · CORIOLIS Y GRAVEDAD</a:t>
            </a:r>
            <a:endParaRPr lang="es-PE" sz="1100" noProof="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s-PE" sz="2700" b="1" noProof="0" dirty="0">
                <a:solidFill>
                  <a:srgbClr val="990011"/>
                </a:solidFill>
                <a:latin typeface="Cambria" pitchFamily="34" charset="0"/>
                <a:ea typeface="Cambria" pitchFamily="34" charset="-122"/>
                <a:cs typeface="Cambria" pitchFamily="34" charset="-120"/>
              </a:rPr>
              <a:t>Coriolis por Christoffel y G(q) en forma cerrada</a:t>
            </a:r>
            <a:endParaRPr lang="es-PE" sz="2700" noProof="0" dirty="0"/>
          </a:p>
        </p:txBody>
      </p:sp>
      <p:sp>
        <p:nvSpPr>
          <p:cNvPr id="4" name="Text 2"/>
          <p:cNvSpPr/>
          <p:nvPr/>
        </p:nvSpPr>
        <p:spPr>
          <a:xfrm>
            <a:off x="548640" y="1645920"/>
            <a:ext cx="11064240" cy="320040"/>
          </a:xfrm>
          <a:prstGeom prst="rect">
            <a:avLst/>
          </a:prstGeom>
          <a:noFill/>
          <a:ln/>
        </p:spPr>
        <p:txBody>
          <a:bodyPr wrap="square" lIns="0" tIns="0" rIns="0" bIns="0" rtlCol="0" anchor="ctr"/>
          <a:lstStyle/>
          <a:p>
            <a:pPr marL="0" indent="0">
              <a:buNone/>
            </a:pPr>
            <a:r>
              <a:rPr lang="es-PE" sz="1400" b="1" noProof="0" dirty="0">
                <a:solidFill>
                  <a:srgbClr val="990011"/>
                </a:solidFill>
                <a:latin typeface="Calibri" pitchFamily="34" charset="0"/>
                <a:ea typeface="Calibri" pitchFamily="34" charset="-122"/>
                <a:cs typeface="Calibri" pitchFamily="34" charset="-120"/>
              </a:rPr>
              <a:t>Matriz de Coriolis — coeficientes de Christoffel (n = 3)</a:t>
            </a:r>
            <a:endParaRPr lang="es-PE" sz="1400" noProof="0" dirty="0"/>
          </a:p>
        </p:txBody>
      </p:sp>
      <p:sp>
        <p:nvSpPr>
          <p:cNvPr id="5" name="Text 3"/>
          <p:cNvSpPr/>
          <p:nvPr/>
        </p:nvSpPr>
        <p:spPr>
          <a:xfrm>
            <a:off x="548640" y="2011680"/>
            <a:ext cx="11064240" cy="457200"/>
          </a:xfrm>
          <a:prstGeom prst="rect">
            <a:avLst/>
          </a:prstGeom>
          <a:solidFill>
            <a:srgbClr val="F3E9E8"/>
          </a:solidFill>
          <a:ln w="12700">
            <a:solidFill>
              <a:srgbClr val="D9C7C6"/>
            </a:solidFill>
          </a:ln>
        </p:spPr>
        <p:txBody>
          <a:bodyPr wrap="square" lIns="0" tIns="0" rIns="0" bIns="0" rtlCol="0" anchor="ctr"/>
          <a:lstStyle/>
          <a:p>
            <a:pPr marL="0" indent="0" algn="ctr">
              <a:buNone/>
            </a:pPr>
            <a:r>
              <a:rPr lang="es-PE" sz="2800" i="1" noProof="0" dirty="0">
                <a:solidFill>
                  <a:srgbClr val="2B2B2B"/>
                </a:solidFill>
                <a:latin typeface="Cambria" pitchFamily="34" charset="0"/>
                <a:ea typeface="Cambria" pitchFamily="34" charset="-122"/>
                <a:cs typeface="Cambria" pitchFamily="34" charset="-120"/>
              </a:rPr>
              <a:t>cᵢⱼₖ = ½ ( ∂Mᵢⱼ/∂qₖ + ∂Mᵢₖ/∂qⱼ − ∂Mⱼₖ/∂qᵢ ) ,   Cᵢⱼ = Σₖ cᵢⱼₖ q̇ₖ</a:t>
            </a:r>
            <a:endParaRPr lang="es-PE" sz="2800" noProof="0" dirty="0"/>
          </a:p>
        </p:txBody>
      </p:sp>
      <p:sp>
        <p:nvSpPr>
          <p:cNvPr id="6" name="Text 4"/>
          <p:cNvSpPr/>
          <p:nvPr/>
        </p:nvSpPr>
        <p:spPr>
          <a:xfrm>
            <a:off x="548640" y="2788920"/>
            <a:ext cx="11064240" cy="320040"/>
          </a:xfrm>
          <a:prstGeom prst="rect">
            <a:avLst/>
          </a:prstGeom>
          <a:noFill/>
          <a:ln/>
        </p:spPr>
        <p:txBody>
          <a:bodyPr wrap="square" lIns="0" tIns="0" rIns="0" bIns="0" rtlCol="0" anchor="ctr"/>
          <a:lstStyle/>
          <a:p>
            <a:pPr marL="0" indent="0">
              <a:buNone/>
            </a:pPr>
            <a:r>
              <a:rPr lang="es-PE" sz="1400" b="1" noProof="0" dirty="0">
                <a:solidFill>
                  <a:srgbClr val="990011"/>
                </a:solidFill>
                <a:latin typeface="Calibri" pitchFamily="34" charset="0"/>
                <a:ea typeface="Calibri" pitchFamily="34" charset="-122"/>
                <a:cs typeface="Calibri" pitchFamily="34" charset="-120"/>
              </a:rPr>
              <a:t>Vector de gravedad — gradiente de la energía potencial</a:t>
            </a:r>
            <a:endParaRPr lang="es-PE" sz="1400" noProof="0" dirty="0"/>
          </a:p>
        </p:txBody>
      </p:sp>
      <p:sp>
        <p:nvSpPr>
          <p:cNvPr id="7" name="Text 5"/>
          <p:cNvSpPr/>
          <p:nvPr/>
        </p:nvSpPr>
        <p:spPr>
          <a:xfrm>
            <a:off x="548640" y="3154680"/>
            <a:ext cx="3383280" cy="457200"/>
          </a:xfrm>
          <a:prstGeom prst="rect">
            <a:avLst/>
          </a:prstGeom>
          <a:solidFill>
            <a:srgbClr val="F3E9E8"/>
          </a:solidFill>
          <a:ln w="12700">
            <a:solidFill>
              <a:srgbClr val="D9C7C6"/>
            </a:solidFill>
          </a:ln>
        </p:spPr>
        <p:txBody>
          <a:bodyPr wrap="square" lIns="0" tIns="0" rIns="0" bIns="0" rtlCol="0" anchor="ctr"/>
          <a:lstStyle/>
          <a:p>
            <a:pPr marL="0" indent="0" algn="ctr">
              <a:buNone/>
            </a:pPr>
            <a:r>
              <a:rPr lang="es-PE" sz="2800" i="1" noProof="0" dirty="0">
                <a:solidFill>
                  <a:srgbClr val="2B2B2B"/>
                </a:solidFill>
                <a:latin typeface="Cambria" pitchFamily="34" charset="0"/>
                <a:ea typeface="Cambria" pitchFamily="34" charset="-122"/>
                <a:cs typeface="Cambria" pitchFamily="34" charset="-120"/>
              </a:rPr>
              <a:t>G₁ = 0</a:t>
            </a:r>
            <a:endParaRPr lang="es-PE" sz="2800" noProof="0" dirty="0"/>
          </a:p>
        </p:txBody>
      </p:sp>
      <p:sp>
        <p:nvSpPr>
          <p:cNvPr id="8" name="Text 6"/>
          <p:cNvSpPr/>
          <p:nvPr/>
        </p:nvSpPr>
        <p:spPr>
          <a:xfrm>
            <a:off x="4114800" y="3154680"/>
            <a:ext cx="7498080" cy="457200"/>
          </a:xfrm>
          <a:prstGeom prst="rect">
            <a:avLst/>
          </a:prstGeom>
          <a:solidFill>
            <a:srgbClr val="F3E9E8"/>
          </a:solidFill>
          <a:ln w="12700">
            <a:solidFill>
              <a:srgbClr val="D9C7C6"/>
            </a:solidFill>
          </a:ln>
        </p:spPr>
        <p:txBody>
          <a:bodyPr wrap="square" lIns="0" tIns="0" rIns="0" bIns="0" rtlCol="0" anchor="ctr"/>
          <a:lstStyle/>
          <a:p>
            <a:pPr marL="0" indent="0" algn="ctr">
              <a:buNone/>
            </a:pPr>
            <a:r>
              <a:rPr lang="es-PE" sz="2400" i="1" noProof="0" dirty="0">
                <a:solidFill>
                  <a:srgbClr val="2B2B2B"/>
                </a:solidFill>
                <a:latin typeface="Cambria" pitchFamily="34" charset="0"/>
                <a:ea typeface="Cambria" pitchFamily="34" charset="-122"/>
                <a:cs typeface="Cambria" pitchFamily="34" charset="-120"/>
              </a:rPr>
              <a:t>G₂ = (</a:t>
            </a:r>
            <a:r>
              <a:rPr lang="es-PE" sz="2400" i="1" noProof="0" dirty="0" err="1">
                <a:solidFill>
                  <a:srgbClr val="2B2B2B"/>
                </a:solidFill>
                <a:latin typeface="Cambria" pitchFamily="34" charset="0"/>
                <a:ea typeface="Cambria" pitchFamily="34" charset="-122"/>
                <a:cs typeface="Cambria" pitchFamily="34" charset="-120"/>
              </a:rPr>
              <a:t>m₂lc</a:t>
            </a:r>
            <a:r>
              <a:rPr lang="es-PE" sz="2400" i="1" noProof="0" dirty="0">
                <a:solidFill>
                  <a:srgbClr val="2B2B2B"/>
                </a:solidFill>
                <a:latin typeface="Cambria" pitchFamily="34" charset="0"/>
                <a:ea typeface="Cambria" pitchFamily="34" charset="-122"/>
                <a:cs typeface="Cambria" pitchFamily="34" charset="-120"/>
              </a:rPr>
              <a:t>₂+</a:t>
            </a:r>
            <a:r>
              <a:rPr lang="es-PE" sz="2400" i="1" noProof="0" dirty="0" err="1">
                <a:solidFill>
                  <a:srgbClr val="2B2B2B"/>
                </a:solidFill>
                <a:latin typeface="Cambria" pitchFamily="34" charset="0"/>
                <a:ea typeface="Cambria" pitchFamily="34" charset="-122"/>
                <a:cs typeface="Cambria" pitchFamily="34" charset="-120"/>
              </a:rPr>
              <a:t>m₃L</a:t>
            </a:r>
            <a:r>
              <a:rPr lang="es-PE" sz="2400" i="1" noProof="0" dirty="0">
                <a:solidFill>
                  <a:srgbClr val="2B2B2B"/>
                </a:solidFill>
                <a:latin typeface="Cambria" pitchFamily="34" charset="0"/>
                <a:ea typeface="Cambria" pitchFamily="34" charset="-122"/>
                <a:cs typeface="Cambria" pitchFamily="34" charset="-120"/>
              </a:rPr>
              <a:t>₂)</a:t>
            </a:r>
            <a:r>
              <a:rPr lang="es-PE" sz="2400" i="1" noProof="0" dirty="0" err="1">
                <a:solidFill>
                  <a:srgbClr val="2B2B2B"/>
                </a:solidFill>
                <a:latin typeface="Cambria" pitchFamily="34" charset="0"/>
                <a:ea typeface="Cambria" pitchFamily="34" charset="-122"/>
                <a:cs typeface="Cambria" pitchFamily="34" charset="-120"/>
              </a:rPr>
              <a:t>g·cos</a:t>
            </a:r>
            <a:r>
              <a:rPr lang="es-PE" sz="2400" i="1" noProof="0" dirty="0">
                <a:solidFill>
                  <a:srgbClr val="2B2B2B"/>
                </a:solidFill>
                <a:latin typeface="Cambria" pitchFamily="34" charset="0"/>
                <a:ea typeface="Cambria" pitchFamily="34" charset="-122"/>
                <a:cs typeface="Cambria" pitchFamily="34" charset="-120"/>
              </a:rPr>
              <a:t> q₂ + </a:t>
            </a:r>
            <a:r>
              <a:rPr lang="es-PE" sz="2400" i="1" noProof="0" dirty="0" err="1">
                <a:solidFill>
                  <a:srgbClr val="2B2B2B"/>
                </a:solidFill>
                <a:latin typeface="Cambria" pitchFamily="34" charset="0"/>
                <a:ea typeface="Cambria" pitchFamily="34" charset="-122"/>
                <a:cs typeface="Cambria" pitchFamily="34" charset="-120"/>
              </a:rPr>
              <a:t>m₃lc₃g·cos</a:t>
            </a:r>
            <a:r>
              <a:rPr lang="es-PE" sz="2400" i="1" noProof="0" dirty="0">
                <a:solidFill>
                  <a:srgbClr val="2B2B2B"/>
                </a:solidFill>
                <a:latin typeface="Cambria" pitchFamily="34" charset="0"/>
                <a:ea typeface="Cambria" pitchFamily="34" charset="-122"/>
                <a:cs typeface="Cambria" pitchFamily="34" charset="-120"/>
              </a:rPr>
              <a:t>(q₂+q₃)</a:t>
            </a:r>
            <a:endParaRPr lang="es-PE" sz="2400" noProof="0" dirty="0"/>
          </a:p>
        </p:txBody>
      </p:sp>
      <p:sp>
        <p:nvSpPr>
          <p:cNvPr id="9" name="Text 7"/>
          <p:cNvSpPr/>
          <p:nvPr/>
        </p:nvSpPr>
        <p:spPr>
          <a:xfrm>
            <a:off x="548640" y="3703320"/>
            <a:ext cx="3383280" cy="457200"/>
          </a:xfrm>
          <a:prstGeom prst="rect">
            <a:avLst/>
          </a:prstGeom>
          <a:solidFill>
            <a:srgbClr val="F3E9E8"/>
          </a:solidFill>
          <a:ln w="12700">
            <a:solidFill>
              <a:srgbClr val="D9C7C6"/>
            </a:solidFill>
          </a:ln>
        </p:spPr>
        <p:txBody>
          <a:bodyPr wrap="square" lIns="0" tIns="0" rIns="0" bIns="0" rtlCol="0" anchor="ctr"/>
          <a:lstStyle/>
          <a:p>
            <a:pPr marL="0" indent="0" algn="ctr">
              <a:buNone/>
            </a:pPr>
            <a:r>
              <a:rPr lang="es-PE" sz="2400" i="1" noProof="0" dirty="0">
                <a:solidFill>
                  <a:srgbClr val="2B2B2B"/>
                </a:solidFill>
                <a:latin typeface="Cambria" pitchFamily="34" charset="0"/>
                <a:ea typeface="Cambria" pitchFamily="34" charset="-122"/>
                <a:cs typeface="Cambria" pitchFamily="34" charset="-120"/>
              </a:rPr>
              <a:t>G₃ = m₃ </a:t>
            </a:r>
            <a:r>
              <a:rPr lang="es-PE" sz="2400" i="1" noProof="0" dirty="0" err="1">
                <a:solidFill>
                  <a:srgbClr val="2B2B2B"/>
                </a:solidFill>
                <a:latin typeface="Cambria" pitchFamily="34" charset="0"/>
                <a:ea typeface="Cambria" pitchFamily="34" charset="-122"/>
                <a:cs typeface="Cambria" pitchFamily="34" charset="-120"/>
              </a:rPr>
              <a:t>lc</a:t>
            </a:r>
            <a:r>
              <a:rPr lang="es-PE" sz="2400" i="1" noProof="0" dirty="0">
                <a:solidFill>
                  <a:srgbClr val="2B2B2B"/>
                </a:solidFill>
                <a:latin typeface="Cambria" pitchFamily="34" charset="0"/>
                <a:ea typeface="Cambria" pitchFamily="34" charset="-122"/>
                <a:cs typeface="Cambria" pitchFamily="34" charset="-120"/>
              </a:rPr>
              <a:t>₃ g · cos(q₂+q₃)</a:t>
            </a:r>
            <a:endParaRPr lang="es-PE" sz="2400" noProof="0" dirty="0"/>
          </a:p>
        </p:txBody>
      </p:sp>
      <p:sp>
        <p:nvSpPr>
          <p:cNvPr id="10" name="Shape 8"/>
          <p:cNvSpPr/>
          <p:nvPr/>
        </p:nvSpPr>
        <p:spPr>
          <a:xfrm>
            <a:off x="4114800" y="3703320"/>
            <a:ext cx="7498080" cy="457200"/>
          </a:xfrm>
          <a:prstGeom prst="roundRect">
            <a:avLst>
              <a:gd name="adj" fmla="val 10909"/>
            </a:avLst>
          </a:prstGeom>
          <a:solidFill>
            <a:srgbClr val="FCF6F5"/>
          </a:solidFill>
          <a:ln w="12700">
            <a:solidFill>
              <a:srgbClr val="D9C7C6"/>
            </a:solidFill>
            <a:prstDash val="solid"/>
          </a:ln>
        </p:spPr>
        <p:txBody>
          <a:bodyPr/>
          <a:lstStyle/>
          <a:p>
            <a:endParaRPr lang="es-PE" sz="4000" noProof="0" dirty="0"/>
          </a:p>
        </p:txBody>
      </p:sp>
      <p:sp>
        <p:nvSpPr>
          <p:cNvPr id="11" name="Text 9"/>
          <p:cNvSpPr/>
          <p:nvPr/>
        </p:nvSpPr>
        <p:spPr>
          <a:xfrm>
            <a:off x="4297680" y="3703320"/>
            <a:ext cx="7315200" cy="502920"/>
          </a:xfrm>
          <a:prstGeom prst="rect">
            <a:avLst/>
          </a:prstGeom>
          <a:noFill/>
          <a:ln/>
        </p:spPr>
        <p:txBody>
          <a:bodyPr wrap="square" lIns="0" tIns="0" rIns="0" bIns="0" rtlCol="0" anchor="ctr"/>
          <a:lstStyle/>
          <a:p>
            <a:pPr marL="0" indent="0">
              <a:buNone/>
            </a:pPr>
            <a:r>
              <a:rPr lang="es-PE" sz="1600" b="1" i="1" noProof="0" dirty="0">
                <a:solidFill>
                  <a:srgbClr val="2B2B2B"/>
                </a:solidFill>
                <a:latin typeface="Calibri" pitchFamily="34" charset="0"/>
                <a:ea typeface="Calibri" pitchFamily="34" charset="-122"/>
                <a:cs typeface="Calibri" pitchFamily="34" charset="-120"/>
              </a:rPr>
              <a:t>G₁ = 0 es geométrico: la junta de base no cambia la altura de ningún centro de masa.</a:t>
            </a:r>
            <a:endParaRPr lang="es-PE" sz="1600" b="1" noProof="0" dirty="0"/>
          </a:p>
        </p:txBody>
      </p:sp>
      <p:sp>
        <p:nvSpPr>
          <p:cNvPr id="12" name="Shape 10"/>
          <p:cNvSpPr/>
          <p:nvPr/>
        </p:nvSpPr>
        <p:spPr>
          <a:xfrm>
            <a:off x="548640" y="4526280"/>
            <a:ext cx="11064240" cy="1417320"/>
          </a:xfrm>
          <a:prstGeom prst="roundRect">
            <a:avLst>
              <a:gd name="adj" fmla="val 3871"/>
            </a:avLst>
          </a:prstGeom>
          <a:solidFill>
            <a:srgbClr val="600810"/>
          </a:solidFill>
          <a:ln/>
        </p:spPr>
        <p:txBody>
          <a:bodyPr/>
          <a:lstStyle/>
          <a:p>
            <a:endParaRPr lang="es-PE" noProof="0" dirty="0"/>
          </a:p>
        </p:txBody>
      </p:sp>
      <p:sp>
        <p:nvSpPr>
          <p:cNvPr id="13" name="Text 11"/>
          <p:cNvSpPr/>
          <p:nvPr/>
        </p:nvSpPr>
        <p:spPr>
          <a:xfrm>
            <a:off x="777240" y="4663440"/>
            <a:ext cx="2743200" cy="365760"/>
          </a:xfrm>
          <a:prstGeom prst="rect">
            <a:avLst/>
          </a:prstGeom>
          <a:noFill/>
          <a:ln/>
        </p:spPr>
        <p:txBody>
          <a:bodyPr wrap="square" lIns="0" tIns="0" rIns="0" bIns="0" rtlCol="0" anchor="ctr"/>
          <a:lstStyle/>
          <a:p>
            <a:pPr marL="0" indent="0">
              <a:buNone/>
            </a:pPr>
            <a:r>
              <a:rPr lang="es-PE" sz="1400" b="1" noProof="0" dirty="0">
                <a:solidFill>
                  <a:srgbClr val="FFFFFF"/>
                </a:solidFill>
                <a:latin typeface="Calibri" pitchFamily="34" charset="0"/>
                <a:ea typeface="Calibri" pitchFamily="34" charset="-122"/>
                <a:cs typeface="Calibri" pitchFamily="34" charset="-120"/>
              </a:rPr>
              <a:t>Propiedad clave</a:t>
            </a:r>
            <a:endParaRPr lang="es-PE" sz="1400" noProof="0" dirty="0"/>
          </a:p>
        </p:txBody>
      </p:sp>
      <p:sp>
        <p:nvSpPr>
          <p:cNvPr id="14" name="Text 12"/>
          <p:cNvSpPr/>
          <p:nvPr/>
        </p:nvSpPr>
        <p:spPr>
          <a:xfrm>
            <a:off x="777240" y="4937760"/>
            <a:ext cx="5171868" cy="960120"/>
          </a:xfrm>
          <a:prstGeom prst="rect">
            <a:avLst/>
          </a:prstGeom>
          <a:noFill/>
          <a:ln/>
        </p:spPr>
        <p:txBody>
          <a:bodyPr wrap="square" lIns="0" tIns="0" rIns="0" bIns="0" rtlCol="0" anchor="ctr"/>
          <a:lstStyle/>
          <a:p>
            <a:pPr marL="0" indent="0">
              <a:buNone/>
            </a:pPr>
            <a:r>
              <a:rPr lang="es-PE" sz="1600" i="1" noProof="0" dirty="0">
                <a:solidFill>
                  <a:srgbClr val="FFFFFF"/>
                </a:solidFill>
                <a:latin typeface="Cambria" pitchFamily="34" charset="0"/>
                <a:ea typeface="Cambria" pitchFamily="34" charset="-122"/>
                <a:cs typeface="Cambria" pitchFamily="34" charset="-120"/>
              </a:rPr>
              <a:t>La matriz  Ṁ(q) − 2C(</a:t>
            </a:r>
            <a:r>
              <a:rPr lang="es-PE" sz="1600" i="1" noProof="0" dirty="0" err="1">
                <a:solidFill>
                  <a:srgbClr val="FFFFFF"/>
                </a:solidFill>
                <a:latin typeface="Cambria" pitchFamily="34" charset="0"/>
                <a:ea typeface="Cambria" pitchFamily="34" charset="-122"/>
                <a:cs typeface="Cambria" pitchFamily="34" charset="-120"/>
              </a:rPr>
              <a:t>q,q</a:t>
            </a:r>
            <a:r>
              <a:rPr lang="es-PE" sz="1600" i="1" noProof="0" dirty="0">
                <a:solidFill>
                  <a:srgbClr val="FFFFFF"/>
                </a:solidFill>
                <a:latin typeface="Cambria" pitchFamily="34" charset="0"/>
                <a:ea typeface="Cambria" pitchFamily="34" charset="-122"/>
                <a:cs typeface="Cambria" pitchFamily="34" charset="-120"/>
              </a:rPr>
              <a:t>̇)  es :</a:t>
            </a:r>
          </a:p>
          <a:p>
            <a:pPr marL="0" indent="0" algn="ctr">
              <a:buNone/>
            </a:pPr>
            <a:r>
              <a:rPr lang="es-PE" sz="3600" i="1" noProof="0" dirty="0">
                <a:solidFill>
                  <a:srgbClr val="FFFFFF"/>
                </a:solidFill>
                <a:latin typeface="Cambria" pitchFamily="34" charset="0"/>
                <a:ea typeface="Cambria" pitchFamily="34" charset="-122"/>
                <a:cs typeface="Cambria" pitchFamily="34" charset="-120"/>
              </a:rPr>
              <a:t>antisimétrica</a:t>
            </a:r>
            <a:r>
              <a:rPr lang="es-PE" sz="1600" i="1" noProof="0" dirty="0">
                <a:solidFill>
                  <a:srgbClr val="FFFFFF"/>
                </a:solidFill>
                <a:latin typeface="Cambria" pitchFamily="34" charset="0"/>
                <a:ea typeface="Cambria" pitchFamily="34" charset="-122"/>
                <a:cs typeface="Cambria" pitchFamily="34" charset="-120"/>
              </a:rPr>
              <a:t>.</a:t>
            </a:r>
            <a:endParaRPr lang="es-PE" sz="1600" noProof="0" dirty="0"/>
          </a:p>
        </p:txBody>
      </p:sp>
      <p:sp>
        <p:nvSpPr>
          <p:cNvPr id="15" name="Text 13"/>
          <p:cNvSpPr/>
          <p:nvPr/>
        </p:nvSpPr>
        <p:spPr>
          <a:xfrm>
            <a:off x="6096000" y="4572000"/>
            <a:ext cx="5288279" cy="1325880"/>
          </a:xfrm>
          <a:prstGeom prst="rect">
            <a:avLst/>
          </a:prstGeom>
          <a:noFill/>
          <a:ln/>
        </p:spPr>
        <p:txBody>
          <a:bodyPr wrap="square" lIns="0" tIns="0" rIns="0" bIns="0" rtlCol="0" anchor="ctr"/>
          <a:lstStyle/>
          <a:p>
            <a:pPr marL="0" indent="0" algn="just">
              <a:buNone/>
            </a:pPr>
            <a:r>
              <a:rPr lang="es-PE" sz="2000" noProof="0" dirty="0">
                <a:solidFill>
                  <a:srgbClr val="F0D5D8"/>
                </a:solidFill>
                <a:latin typeface="Calibri" pitchFamily="34" charset="0"/>
                <a:ea typeface="Calibri" pitchFamily="34" charset="-122"/>
                <a:cs typeface="Calibri" pitchFamily="34" charset="-120"/>
              </a:rPr>
              <a:t>Esta identidad “verificada en el código” es la que habilita la prueba de estabilidad de Lyapunov de los controladores (Bloque 3).</a:t>
            </a:r>
            <a:endParaRPr lang="es-PE" sz="2000" noProof="0" dirty="0"/>
          </a:p>
        </p:txBody>
      </p:sp>
      <p:sp>
        <p:nvSpPr>
          <p:cNvPr id="16" name="Text 14"/>
          <p:cNvSpPr/>
          <p:nvPr/>
        </p:nvSpPr>
        <p:spPr>
          <a:xfrm>
            <a:off x="11612880" y="6455664"/>
            <a:ext cx="457200" cy="274320"/>
          </a:xfrm>
          <a:prstGeom prst="rect">
            <a:avLst/>
          </a:prstGeom>
          <a:noFill/>
          <a:ln/>
        </p:spPr>
        <p:txBody>
          <a:bodyPr wrap="square" lIns="0" tIns="0" rIns="0" bIns="0" rtlCol="0" anchor="ctr"/>
          <a:lstStyle/>
          <a:p>
            <a:pPr marL="0" indent="0" algn="r">
              <a:buNone/>
            </a:pPr>
            <a:r>
              <a:rPr lang="es-PE" sz="1000" noProof="0" dirty="0">
                <a:solidFill>
                  <a:srgbClr val="6E6E6E"/>
                </a:solidFill>
                <a:latin typeface="Calibri" pitchFamily="34" charset="0"/>
                <a:ea typeface="Calibri" pitchFamily="34" charset="-122"/>
                <a:cs typeface="Calibri" pitchFamily="34" charset="-120"/>
              </a:rPr>
              <a:t>9</a:t>
            </a:r>
            <a:endParaRPr lang="es-PE" sz="1000"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2 · CORIOLIS Y GRAVEDAD · CÓDIGO REAL</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Los coeficientes de Christoffel, línea por línea</a:t>
            </a:r>
          </a:p>
        </p:txBody>
      </p:sp>
      <p:sp>
        <p:nvSpPr>
          <p:cNvPr id="4" name="TextBox 3"/>
          <p:cNvSpPr txBox="1"/>
          <p:nvPr/>
        </p:nvSpPr>
        <p:spPr>
          <a:xfrm>
            <a:off x="548640" y="1600200"/>
            <a:ext cx="11064240" cy="457200"/>
          </a:xfrm>
          <a:prstGeom prst="rect">
            <a:avLst/>
          </a:prstGeom>
          <a:noFill/>
        </p:spPr>
        <p:txBody>
          <a:bodyPr wrap="square" lIns="0" tIns="0" rIns="0" bIns="0">
            <a:spAutoFit/>
          </a:bodyPr>
          <a:lstStyle/>
          <a:p>
            <a:pPr algn="l"/>
            <a:r>
              <a:rPr lang="es-PE" sz="1400" b="0" i="0" noProof="0" dirty="0">
                <a:solidFill>
                  <a:srgbClr val="2B2B2B"/>
                </a:solidFill>
                <a:latin typeface="Calibri"/>
              </a:rPr>
              <a:t>La misma fórmula </a:t>
            </a:r>
            <a:r>
              <a:rPr lang="es-PE" sz="1400" b="0" i="0" noProof="0" dirty="0" err="1">
                <a:solidFill>
                  <a:srgbClr val="2B2B2B"/>
                </a:solidFill>
                <a:latin typeface="Calibri"/>
              </a:rPr>
              <a:t>c_ijk</a:t>
            </a:r>
            <a:r>
              <a:rPr lang="es-PE" sz="1400" b="0" i="0" noProof="0" dirty="0">
                <a:solidFill>
                  <a:srgbClr val="2B2B2B"/>
                </a:solidFill>
                <a:latin typeface="Calibri"/>
              </a:rPr>
              <a:t> de la diapositiva anterior, implementada como un triple bucle sobre M(q). También es una función dentro del mismo archivo de dinámica. </a:t>
            </a:r>
            <a:r>
              <a:rPr lang="es-PE" sz="1400" b="0" i="0" noProof="0" dirty="0" err="1">
                <a:solidFill>
                  <a:srgbClr val="2B2B2B"/>
                </a:solidFill>
                <a:latin typeface="Calibri"/>
              </a:rPr>
              <a:t>dM</a:t>
            </a:r>
            <a:r>
              <a:rPr lang="es-PE" sz="1400" b="0" i="0" noProof="0" dirty="0">
                <a:solidFill>
                  <a:srgbClr val="2B2B2B"/>
                </a:solidFill>
                <a:latin typeface="Calibri"/>
              </a:rPr>
              <a:t>/</a:t>
            </a:r>
            <a:r>
              <a:rPr lang="es-PE" sz="1400" b="0" i="0" noProof="0" dirty="0" err="1">
                <a:solidFill>
                  <a:srgbClr val="2B2B2B"/>
                </a:solidFill>
                <a:latin typeface="Calibri"/>
              </a:rPr>
              <a:t>dq</a:t>
            </a:r>
            <a:r>
              <a:rPr lang="es-PE" sz="1400" b="0" i="0" noProof="0" dirty="0">
                <a:solidFill>
                  <a:srgbClr val="2B2B2B"/>
                </a:solidFill>
                <a:latin typeface="Calibri"/>
              </a:rPr>
              <a:t> se obtiene por diferencias finitas centradas (h=1e-6).</a:t>
            </a:r>
          </a:p>
        </p:txBody>
      </p:sp>
      <p:sp>
        <p:nvSpPr>
          <p:cNvPr id="5" name="Rounded Rectangle 4"/>
          <p:cNvSpPr/>
          <p:nvPr/>
        </p:nvSpPr>
        <p:spPr>
          <a:xfrm>
            <a:off x="548640" y="2194559"/>
            <a:ext cx="11064240" cy="3969425"/>
          </a:xfrm>
          <a:prstGeom prst="roundRect">
            <a:avLst>
              <a:gd name="adj" fmla="val 4000"/>
            </a:avLst>
          </a:prstGeom>
          <a:solidFill>
            <a:srgbClr val="FCF6F5"/>
          </a:solidFill>
          <a:ln w="9525">
            <a:solidFill>
              <a:srgbClr val="9900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PE" noProof="0" dirty="0"/>
          </a:p>
        </p:txBody>
      </p:sp>
      <p:sp>
        <p:nvSpPr>
          <p:cNvPr id="6" name="TextBox 5"/>
          <p:cNvSpPr txBox="1"/>
          <p:nvPr/>
        </p:nvSpPr>
        <p:spPr>
          <a:xfrm>
            <a:off x="731520" y="2286000"/>
            <a:ext cx="6559488" cy="3877985"/>
          </a:xfrm>
          <a:prstGeom prst="rect">
            <a:avLst/>
          </a:prstGeom>
          <a:noFill/>
        </p:spPr>
        <p:txBody>
          <a:bodyPr wrap="none" lIns="0" tIns="0" rIns="0" bIns="0">
            <a:spAutoFit/>
          </a:bodyPr>
          <a:lstStyle/>
          <a:p>
            <a:pPr algn="l">
              <a:spcBef>
                <a:spcPts val="0"/>
              </a:spcBef>
              <a:spcAft>
                <a:spcPts val="0"/>
              </a:spcAft>
            </a:pPr>
            <a:r>
              <a:rPr lang="es-PE" sz="1400" b="1" noProof="0" dirty="0" err="1">
                <a:solidFill>
                  <a:srgbClr val="990011"/>
                </a:solidFill>
                <a:latin typeface="Consolas"/>
              </a:rPr>
              <a:t>function</a:t>
            </a:r>
            <a:r>
              <a:rPr lang="es-PE" sz="1400" b="1" noProof="0" dirty="0">
                <a:solidFill>
                  <a:srgbClr val="990011"/>
                </a:solidFill>
                <a:latin typeface="Consolas"/>
              </a:rPr>
              <a:t> C = coriolis_matrix_3dof(q, qdot, robot)</a:t>
            </a:r>
          </a:p>
          <a:p>
            <a:pPr algn="l">
              <a:spcBef>
                <a:spcPts val="0"/>
              </a:spcBef>
              <a:spcAft>
                <a:spcPts val="0"/>
              </a:spcAft>
            </a:pPr>
            <a:r>
              <a:rPr lang="es-PE" sz="1400" noProof="0" dirty="0">
                <a:solidFill>
                  <a:srgbClr val="2B2B2B"/>
                </a:solidFill>
                <a:latin typeface="Consolas"/>
              </a:rPr>
              <a:t>    n = 3; h = 1e-6; </a:t>
            </a:r>
            <a:r>
              <a:rPr lang="es-PE" sz="1400" noProof="0" dirty="0" err="1">
                <a:solidFill>
                  <a:srgbClr val="2B2B2B"/>
                </a:solidFill>
                <a:latin typeface="Consolas"/>
              </a:rPr>
              <a:t>dM</a:t>
            </a:r>
            <a:r>
              <a:rPr lang="es-PE" sz="1400" noProof="0" dirty="0">
                <a:solidFill>
                  <a:srgbClr val="2B2B2B"/>
                </a:solidFill>
                <a:latin typeface="Consolas"/>
              </a:rPr>
              <a:t> = </a:t>
            </a:r>
            <a:r>
              <a:rPr lang="es-PE" sz="1400" noProof="0" dirty="0" err="1">
                <a:solidFill>
                  <a:srgbClr val="2B2B2B"/>
                </a:solidFill>
                <a:latin typeface="Consolas"/>
              </a:rPr>
              <a:t>cell</a:t>
            </a:r>
            <a:r>
              <a:rPr lang="es-PE" sz="1400" noProof="0" dirty="0">
                <a:solidFill>
                  <a:srgbClr val="2B2B2B"/>
                </a:solidFill>
                <a:latin typeface="Consolas"/>
              </a:rPr>
              <a:t>(1,n);</a:t>
            </a:r>
          </a:p>
          <a:p>
            <a:pPr algn="l">
              <a:spcBef>
                <a:spcPts val="0"/>
              </a:spcBef>
              <a:spcAft>
                <a:spcPts val="0"/>
              </a:spcAft>
            </a:pPr>
            <a:r>
              <a:rPr lang="es-PE" sz="1400" noProof="0" dirty="0">
                <a:solidFill>
                  <a:srgbClr val="2B2B2B"/>
                </a:solidFill>
                <a:latin typeface="Consolas"/>
              </a:rPr>
              <a:t>    </a:t>
            </a:r>
            <a:r>
              <a:rPr lang="es-PE" sz="1400" noProof="0" dirty="0" err="1">
                <a:solidFill>
                  <a:srgbClr val="2B2B2B"/>
                </a:solidFill>
                <a:latin typeface="Consolas"/>
              </a:rPr>
              <a:t>for</a:t>
            </a:r>
            <a:r>
              <a:rPr lang="es-PE" sz="1400" noProof="0" dirty="0">
                <a:solidFill>
                  <a:srgbClr val="2B2B2B"/>
                </a:solidFill>
                <a:latin typeface="Consolas"/>
              </a:rPr>
              <a:t> k = 1:n</a:t>
            </a:r>
          </a:p>
          <a:p>
            <a:pPr algn="l">
              <a:spcBef>
                <a:spcPts val="0"/>
              </a:spcBef>
              <a:spcAft>
                <a:spcPts val="0"/>
              </a:spcAft>
            </a:pPr>
            <a:r>
              <a:rPr lang="es-PE" sz="1400" noProof="0" dirty="0">
                <a:solidFill>
                  <a:srgbClr val="2B2B2B"/>
                </a:solidFill>
                <a:latin typeface="Consolas"/>
              </a:rPr>
              <a:t>        </a:t>
            </a:r>
            <a:r>
              <a:rPr lang="es-PE" sz="1400" noProof="0" dirty="0" err="1">
                <a:solidFill>
                  <a:srgbClr val="2B2B2B"/>
                </a:solidFill>
                <a:latin typeface="Consolas"/>
              </a:rPr>
              <a:t>dq</a:t>
            </a:r>
            <a:r>
              <a:rPr lang="es-PE" sz="1400" noProof="0" dirty="0">
                <a:solidFill>
                  <a:srgbClr val="2B2B2B"/>
                </a:solidFill>
                <a:latin typeface="Consolas"/>
              </a:rPr>
              <a:t> = </a:t>
            </a:r>
            <a:r>
              <a:rPr lang="es-PE" sz="1400" noProof="0" dirty="0" err="1">
                <a:solidFill>
                  <a:srgbClr val="2B2B2B"/>
                </a:solidFill>
                <a:latin typeface="Consolas"/>
              </a:rPr>
              <a:t>zeros</a:t>
            </a:r>
            <a:r>
              <a:rPr lang="es-PE" sz="1400" noProof="0" dirty="0">
                <a:solidFill>
                  <a:srgbClr val="2B2B2B"/>
                </a:solidFill>
                <a:latin typeface="Consolas"/>
              </a:rPr>
              <a:t>(n,1); </a:t>
            </a:r>
            <a:r>
              <a:rPr lang="es-PE" sz="1400" noProof="0" dirty="0" err="1">
                <a:solidFill>
                  <a:srgbClr val="2B2B2B"/>
                </a:solidFill>
                <a:latin typeface="Consolas"/>
              </a:rPr>
              <a:t>dq</a:t>
            </a:r>
            <a:r>
              <a:rPr lang="es-PE" sz="1400" noProof="0" dirty="0">
                <a:solidFill>
                  <a:srgbClr val="2B2B2B"/>
                </a:solidFill>
                <a:latin typeface="Consolas"/>
              </a:rPr>
              <a:t>(k) = h;</a:t>
            </a:r>
          </a:p>
          <a:p>
            <a:pPr algn="l">
              <a:spcBef>
                <a:spcPts val="0"/>
              </a:spcBef>
              <a:spcAft>
                <a:spcPts val="0"/>
              </a:spcAft>
            </a:pPr>
            <a:r>
              <a:rPr lang="es-PE" sz="1400" noProof="0" dirty="0">
                <a:solidFill>
                  <a:srgbClr val="2B2B2B"/>
                </a:solidFill>
                <a:latin typeface="Consolas"/>
              </a:rPr>
              <a:t>        </a:t>
            </a:r>
            <a:r>
              <a:rPr lang="es-PE" sz="1400" noProof="0" dirty="0" err="1">
                <a:solidFill>
                  <a:srgbClr val="2B2B2B"/>
                </a:solidFill>
                <a:latin typeface="Consolas"/>
              </a:rPr>
              <a:t>Mp</a:t>
            </a:r>
            <a:r>
              <a:rPr lang="es-PE" sz="1400" noProof="0" dirty="0">
                <a:solidFill>
                  <a:srgbClr val="2B2B2B"/>
                </a:solidFill>
                <a:latin typeface="Consolas"/>
              </a:rPr>
              <a:t> = inertia_matrix_3dof(q + </a:t>
            </a:r>
            <a:r>
              <a:rPr lang="es-PE" sz="1400" noProof="0" dirty="0" err="1">
                <a:solidFill>
                  <a:srgbClr val="2B2B2B"/>
                </a:solidFill>
                <a:latin typeface="Consolas"/>
              </a:rPr>
              <a:t>dq</a:t>
            </a:r>
            <a:r>
              <a:rPr lang="es-PE" sz="1400" noProof="0" dirty="0">
                <a:solidFill>
                  <a:srgbClr val="2B2B2B"/>
                </a:solidFill>
                <a:latin typeface="Consolas"/>
              </a:rPr>
              <a:t>, robot);</a:t>
            </a:r>
          </a:p>
          <a:p>
            <a:pPr algn="l">
              <a:spcBef>
                <a:spcPts val="0"/>
              </a:spcBef>
              <a:spcAft>
                <a:spcPts val="0"/>
              </a:spcAft>
            </a:pPr>
            <a:r>
              <a:rPr lang="es-PE" sz="1400" noProof="0" dirty="0">
                <a:solidFill>
                  <a:srgbClr val="2B2B2B"/>
                </a:solidFill>
                <a:latin typeface="Consolas"/>
              </a:rPr>
              <a:t>        Mm = inertia_matrix_3dof(q - </a:t>
            </a:r>
            <a:r>
              <a:rPr lang="es-PE" sz="1400" noProof="0" dirty="0" err="1">
                <a:solidFill>
                  <a:srgbClr val="2B2B2B"/>
                </a:solidFill>
                <a:latin typeface="Consolas"/>
              </a:rPr>
              <a:t>dq</a:t>
            </a:r>
            <a:r>
              <a:rPr lang="es-PE" sz="1400" noProof="0" dirty="0">
                <a:solidFill>
                  <a:srgbClr val="2B2B2B"/>
                </a:solidFill>
                <a:latin typeface="Consolas"/>
              </a:rPr>
              <a:t>, robot);</a:t>
            </a:r>
          </a:p>
          <a:p>
            <a:pPr algn="l">
              <a:spcBef>
                <a:spcPts val="0"/>
              </a:spcBef>
              <a:spcAft>
                <a:spcPts val="0"/>
              </a:spcAft>
            </a:pPr>
            <a:r>
              <a:rPr lang="es-PE" sz="1400" noProof="0" dirty="0">
                <a:solidFill>
                  <a:srgbClr val="2B2B2B"/>
                </a:solidFill>
                <a:latin typeface="Consolas"/>
              </a:rPr>
              <a:t>        </a:t>
            </a:r>
            <a:r>
              <a:rPr lang="es-PE" sz="1400" noProof="0" dirty="0" err="1">
                <a:solidFill>
                  <a:srgbClr val="2B2B2B"/>
                </a:solidFill>
                <a:latin typeface="Consolas"/>
              </a:rPr>
              <a:t>dM</a:t>
            </a:r>
            <a:r>
              <a:rPr lang="es-PE" sz="1400" noProof="0" dirty="0">
                <a:solidFill>
                  <a:srgbClr val="2B2B2B"/>
                </a:solidFill>
                <a:latin typeface="Consolas"/>
              </a:rPr>
              <a:t>{k} = (</a:t>
            </a:r>
            <a:r>
              <a:rPr lang="es-PE" sz="1400" noProof="0" dirty="0" err="1">
                <a:solidFill>
                  <a:srgbClr val="2B2B2B"/>
                </a:solidFill>
                <a:latin typeface="Consolas"/>
              </a:rPr>
              <a:t>Mp</a:t>
            </a:r>
            <a:r>
              <a:rPr lang="es-PE" sz="1400" noProof="0" dirty="0">
                <a:solidFill>
                  <a:srgbClr val="2B2B2B"/>
                </a:solidFill>
                <a:latin typeface="Consolas"/>
              </a:rPr>
              <a:t> - Mm)/(2*h);</a:t>
            </a:r>
          </a:p>
          <a:p>
            <a:pPr algn="l">
              <a:spcBef>
                <a:spcPts val="0"/>
              </a:spcBef>
              <a:spcAft>
                <a:spcPts val="0"/>
              </a:spcAft>
            </a:pPr>
            <a:r>
              <a:rPr lang="es-PE" sz="1400" b="1" noProof="0" dirty="0">
                <a:solidFill>
                  <a:srgbClr val="990011"/>
                </a:solidFill>
                <a:latin typeface="Consolas"/>
              </a:rPr>
              <a:t>    end</a:t>
            </a:r>
          </a:p>
          <a:p>
            <a:pPr algn="l">
              <a:spcBef>
                <a:spcPts val="0"/>
              </a:spcBef>
              <a:spcAft>
                <a:spcPts val="0"/>
              </a:spcAft>
            </a:pPr>
            <a:r>
              <a:rPr lang="es-PE" sz="1400" noProof="0" dirty="0">
                <a:solidFill>
                  <a:srgbClr val="2B2B2B"/>
                </a:solidFill>
                <a:latin typeface="Consolas"/>
              </a:rPr>
              <a:t>    C = </a:t>
            </a:r>
            <a:r>
              <a:rPr lang="es-PE" sz="1400" noProof="0" dirty="0" err="1">
                <a:solidFill>
                  <a:srgbClr val="2B2B2B"/>
                </a:solidFill>
                <a:latin typeface="Consolas"/>
              </a:rPr>
              <a:t>zeros</a:t>
            </a:r>
            <a:r>
              <a:rPr lang="es-PE" sz="1400" noProof="0" dirty="0">
                <a:solidFill>
                  <a:srgbClr val="2B2B2B"/>
                </a:solidFill>
                <a:latin typeface="Consolas"/>
              </a:rPr>
              <a:t>(</a:t>
            </a:r>
            <a:r>
              <a:rPr lang="es-PE" sz="1400" noProof="0" dirty="0" err="1">
                <a:solidFill>
                  <a:srgbClr val="2B2B2B"/>
                </a:solidFill>
                <a:latin typeface="Consolas"/>
              </a:rPr>
              <a:t>n,n</a:t>
            </a:r>
            <a:r>
              <a:rPr lang="es-PE" sz="1400" noProof="0" dirty="0">
                <a:solidFill>
                  <a:srgbClr val="2B2B2B"/>
                </a:solidFill>
                <a:latin typeface="Consolas"/>
              </a:rPr>
              <a:t>);</a:t>
            </a:r>
          </a:p>
          <a:p>
            <a:pPr algn="l">
              <a:spcBef>
                <a:spcPts val="0"/>
              </a:spcBef>
              <a:spcAft>
                <a:spcPts val="0"/>
              </a:spcAft>
            </a:pPr>
            <a:r>
              <a:rPr lang="es-PE" sz="1400" noProof="0" dirty="0">
                <a:solidFill>
                  <a:srgbClr val="2B2B2B"/>
                </a:solidFill>
                <a:latin typeface="Consolas"/>
              </a:rPr>
              <a:t>    </a:t>
            </a:r>
            <a:r>
              <a:rPr lang="es-PE" sz="1400" noProof="0" dirty="0" err="1">
                <a:solidFill>
                  <a:srgbClr val="2B2B2B"/>
                </a:solidFill>
                <a:latin typeface="Consolas"/>
              </a:rPr>
              <a:t>for</a:t>
            </a:r>
            <a:r>
              <a:rPr lang="es-PE" sz="1400" noProof="0" dirty="0">
                <a:solidFill>
                  <a:srgbClr val="2B2B2B"/>
                </a:solidFill>
                <a:latin typeface="Consolas"/>
              </a:rPr>
              <a:t> i = 1:n</a:t>
            </a:r>
          </a:p>
          <a:p>
            <a:pPr algn="l">
              <a:spcBef>
                <a:spcPts val="0"/>
              </a:spcBef>
              <a:spcAft>
                <a:spcPts val="0"/>
              </a:spcAft>
            </a:pPr>
            <a:r>
              <a:rPr lang="es-PE" sz="1400" noProof="0" dirty="0">
                <a:solidFill>
                  <a:srgbClr val="2B2B2B"/>
                </a:solidFill>
                <a:latin typeface="Consolas"/>
              </a:rPr>
              <a:t>        </a:t>
            </a:r>
            <a:r>
              <a:rPr lang="es-PE" sz="1400" noProof="0" dirty="0" err="1">
                <a:solidFill>
                  <a:srgbClr val="2B2B2B"/>
                </a:solidFill>
                <a:latin typeface="Consolas"/>
              </a:rPr>
              <a:t>for</a:t>
            </a:r>
            <a:r>
              <a:rPr lang="es-PE" sz="1400" noProof="0" dirty="0">
                <a:solidFill>
                  <a:srgbClr val="2B2B2B"/>
                </a:solidFill>
                <a:latin typeface="Consolas"/>
              </a:rPr>
              <a:t> j = 1:n</a:t>
            </a:r>
          </a:p>
          <a:p>
            <a:pPr algn="l">
              <a:spcBef>
                <a:spcPts val="0"/>
              </a:spcBef>
              <a:spcAft>
                <a:spcPts val="0"/>
              </a:spcAft>
            </a:pPr>
            <a:r>
              <a:rPr lang="es-PE" sz="1400" noProof="0" dirty="0">
                <a:solidFill>
                  <a:srgbClr val="2B2B2B"/>
                </a:solidFill>
                <a:latin typeface="Consolas"/>
              </a:rPr>
              <a:t>            </a:t>
            </a:r>
            <a:r>
              <a:rPr lang="es-PE" sz="1400" noProof="0" dirty="0" err="1">
                <a:solidFill>
                  <a:srgbClr val="2B2B2B"/>
                </a:solidFill>
                <a:latin typeface="Consolas"/>
              </a:rPr>
              <a:t>for</a:t>
            </a:r>
            <a:r>
              <a:rPr lang="es-PE" sz="1400" noProof="0" dirty="0">
                <a:solidFill>
                  <a:srgbClr val="2B2B2B"/>
                </a:solidFill>
                <a:latin typeface="Consolas"/>
              </a:rPr>
              <a:t> k = 1:n</a:t>
            </a:r>
          </a:p>
          <a:p>
            <a:pPr algn="l">
              <a:spcBef>
                <a:spcPts val="0"/>
              </a:spcBef>
              <a:spcAft>
                <a:spcPts val="0"/>
              </a:spcAft>
            </a:pPr>
            <a:r>
              <a:rPr lang="es-PE" sz="1400" noProof="0" dirty="0">
                <a:solidFill>
                  <a:srgbClr val="2B2B2B"/>
                </a:solidFill>
                <a:latin typeface="Consolas"/>
              </a:rPr>
              <a:t>                </a:t>
            </a:r>
            <a:r>
              <a:rPr lang="es-PE" sz="1400" noProof="0" dirty="0" err="1">
                <a:solidFill>
                  <a:srgbClr val="2B2B2B"/>
                </a:solidFill>
                <a:latin typeface="Consolas"/>
              </a:rPr>
              <a:t>cijk</a:t>
            </a:r>
            <a:r>
              <a:rPr lang="es-PE" sz="1400" noProof="0" dirty="0">
                <a:solidFill>
                  <a:srgbClr val="2B2B2B"/>
                </a:solidFill>
                <a:latin typeface="Consolas"/>
              </a:rPr>
              <a:t> = 0.5*(</a:t>
            </a:r>
            <a:r>
              <a:rPr lang="es-PE" sz="1400" noProof="0" dirty="0" err="1">
                <a:solidFill>
                  <a:srgbClr val="2B2B2B"/>
                </a:solidFill>
                <a:latin typeface="Consolas"/>
              </a:rPr>
              <a:t>dM</a:t>
            </a:r>
            <a:r>
              <a:rPr lang="es-PE" sz="1400" noProof="0" dirty="0">
                <a:solidFill>
                  <a:srgbClr val="2B2B2B"/>
                </a:solidFill>
                <a:latin typeface="Consolas"/>
              </a:rPr>
              <a:t>{k}(</a:t>
            </a:r>
            <a:r>
              <a:rPr lang="es-PE" sz="1400" noProof="0" dirty="0" err="1">
                <a:solidFill>
                  <a:srgbClr val="2B2B2B"/>
                </a:solidFill>
                <a:latin typeface="Consolas"/>
              </a:rPr>
              <a:t>i,j</a:t>
            </a:r>
            <a:r>
              <a:rPr lang="es-PE" sz="1400" noProof="0" dirty="0">
                <a:solidFill>
                  <a:srgbClr val="2B2B2B"/>
                </a:solidFill>
                <a:latin typeface="Consolas"/>
              </a:rPr>
              <a:t>) + </a:t>
            </a:r>
            <a:r>
              <a:rPr lang="es-PE" sz="1400" noProof="0" dirty="0" err="1">
                <a:solidFill>
                  <a:srgbClr val="2B2B2B"/>
                </a:solidFill>
                <a:latin typeface="Consolas"/>
              </a:rPr>
              <a:t>dM</a:t>
            </a:r>
            <a:r>
              <a:rPr lang="es-PE" sz="1400" noProof="0" dirty="0">
                <a:solidFill>
                  <a:srgbClr val="2B2B2B"/>
                </a:solidFill>
                <a:latin typeface="Consolas"/>
              </a:rPr>
              <a:t>{j}(</a:t>
            </a:r>
            <a:r>
              <a:rPr lang="es-PE" sz="1400" noProof="0" dirty="0" err="1">
                <a:solidFill>
                  <a:srgbClr val="2B2B2B"/>
                </a:solidFill>
                <a:latin typeface="Consolas"/>
              </a:rPr>
              <a:t>i,k</a:t>
            </a:r>
            <a:r>
              <a:rPr lang="es-PE" sz="1400" noProof="0" dirty="0">
                <a:solidFill>
                  <a:srgbClr val="2B2B2B"/>
                </a:solidFill>
                <a:latin typeface="Consolas"/>
              </a:rPr>
              <a:t>) - </a:t>
            </a:r>
            <a:r>
              <a:rPr lang="es-PE" sz="1400" noProof="0" dirty="0" err="1">
                <a:solidFill>
                  <a:srgbClr val="2B2B2B"/>
                </a:solidFill>
                <a:latin typeface="Consolas"/>
              </a:rPr>
              <a:t>dM</a:t>
            </a:r>
            <a:r>
              <a:rPr lang="es-PE" sz="1400" noProof="0" dirty="0">
                <a:solidFill>
                  <a:srgbClr val="2B2B2B"/>
                </a:solidFill>
                <a:latin typeface="Consolas"/>
              </a:rPr>
              <a:t>{i}(</a:t>
            </a:r>
            <a:r>
              <a:rPr lang="es-PE" sz="1400" noProof="0" dirty="0" err="1">
                <a:solidFill>
                  <a:srgbClr val="2B2B2B"/>
                </a:solidFill>
                <a:latin typeface="Consolas"/>
              </a:rPr>
              <a:t>j,k</a:t>
            </a:r>
            <a:r>
              <a:rPr lang="es-PE" sz="1400" noProof="0" dirty="0">
                <a:solidFill>
                  <a:srgbClr val="2B2B2B"/>
                </a:solidFill>
                <a:latin typeface="Consolas"/>
              </a:rPr>
              <a:t>));</a:t>
            </a:r>
          </a:p>
          <a:p>
            <a:pPr algn="l">
              <a:spcBef>
                <a:spcPts val="0"/>
              </a:spcBef>
              <a:spcAft>
                <a:spcPts val="0"/>
              </a:spcAft>
            </a:pPr>
            <a:r>
              <a:rPr lang="es-PE" sz="1400" noProof="0" dirty="0">
                <a:solidFill>
                  <a:srgbClr val="2B2B2B"/>
                </a:solidFill>
                <a:latin typeface="Consolas"/>
              </a:rPr>
              <a:t>                C(</a:t>
            </a:r>
            <a:r>
              <a:rPr lang="es-PE" sz="1400" noProof="0" dirty="0" err="1">
                <a:solidFill>
                  <a:srgbClr val="2B2B2B"/>
                </a:solidFill>
                <a:latin typeface="Consolas"/>
              </a:rPr>
              <a:t>i,j</a:t>
            </a:r>
            <a:r>
              <a:rPr lang="es-PE" sz="1400" noProof="0" dirty="0">
                <a:solidFill>
                  <a:srgbClr val="2B2B2B"/>
                </a:solidFill>
                <a:latin typeface="Consolas"/>
              </a:rPr>
              <a:t>) = C(</a:t>
            </a:r>
            <a:r>
              <a:rPr lang="es-PE" sz="1400" noProof="0" dirty="0" err="1">
                <a:solidFill>
                  <a:srgbClr val="2B2B2B"/>
                </a:solidFill>
                <a:latin typeface="Consolas"/>
              </a:rPr>
              <a:t>i,j</a:t>
            </a:r>
            <a:r>
              <a:rPr lang="es-PE" sz="1400" noProof="0" dirty="0">
                <a:solidFill>
                  <a:srgbClr val="2B2B2B"/>
                </a:solidFill>
                <a:latin typeface="Consolas"/>
              </a:rPr>
              <a:t>) + </a:t>
            </a:r>
            <a:r>
              <a:rPr lang="es-PE" sz="1400" noProof="0" dirty="0" err="1">
                <a:solidFill>
                  <a:srgbClr val="2B2B2B"/>
                </a:solidFill>
                <a:latin typeface="Consolas"/>
              </a:rPr>
              <a:t>cijk</a:t>
            </a:r>
            <a:r>
              <a:rPr lang="es-PE" sz="1400" noProof="0" dirty="0">
                <a:solidFill>
                  <a:srgbClr val="2B2B2B"/>
                </a:solidFill>
                <a:latin typeface="Consolas"/>
              </a:rPr>
              <a:t>*qdot(k);</a:t>
            </a:r>
          </a:p>
          <a:p>
            <a:pPr algn="l">
              <a:spcBef>
                <a:spcPts val="0"/>
              </a:spcBef>
              <a:spcAft>
                <a:spcPts val="0"/>
              </a:spcAft>
            </a:pPr>
            <a:r>
              <a:rPr lang="es-PE" sz="1400" b="1" noProof="0" dirty="0">
                <a:solidFill>
                  <a:srgbClr val="990011"/>
                </a:solidFill>
                <a:latin typeface="Consolas"/>
              </a:rPr>
              <a:t>            end</a:t>
            </a:r>
          </a:p>
          <a:p>
            <a:pPr algn="l">
              <a:spcBef>
                <a:spcPts val="0"/>
              </a:spcBef>
              <a:spcAft>
                <a:spcPts val="0"/>
              </a:spcAft>
            </a:pPr>
            <a:r>
              <a:rPr lang="es-PE" sz="1400" b="1" noProof="0" dirty="0">
                <a:solidFill>
                  <a:srgbClr val="990011"/>
                </a:solidFill>
                <a:latin typeface="Consolas"/>
              </a:rPr>
              <a:t>        end</a:t>
            </a:r>
          </a:p>
          <a:p>
            <a:pPr algn="l">
              <a:spcBef>
                <a:spcPts val="0"/>
              </a:spcBef>
              <a:spcAft>
                <a:spcPts val="0"/>
              </a:spcAft>
            </a:pPr>
            <a:r>
              <a:rPr lang="es-PE" sz="1400" b="1" noProof="0" dirty="0">
                <a:solidFill>
                  <a:srgbClr val="990011"/>
                </a:solidFill>
                <a:latin typeface="Consolas"/>
              </a:rPr>
              <a:t>    end</a:t>
            </a:r>
          </a:p>
          <a:p>
            <a:pPr algn="l">
              <a:spcBef>
                <a:spcPts val="0"/>
              </a:spcBef>
              <a:spcAft>
                <a:spcPts val="0"/>
              </a:spcAft>
            </a:pPr>
            <a:r>
              <a:rPr lang="es-PE" sz="1400" b="1" noProof="0" dirty="0">
                <a:solidFill>
                  <a:srgbClr val="990011"/>
                </a:solidFill>
                <a:latin typeface="Consolas"/>
              </a:rPr>
              <a:t>end</a:t>
            </a:r>
          </a:p>
        </p:txBody>
      </p:sp>
      <p:sp>
        <p:nvSpPr>
          <p:cNvPr id="7" name="TextBox 6"/>
          <p:cNvSpPr txBox="1"/>
          <p:nvPr/>
        </p:nvSpPr>
        <p:spPr>
          <a:xfrm>
            <a:off x="548640" y="6263640"/>
            <a:ext cx="11064240" cy="184666"/>
          </a:xfrm>
          <a:prstGeom prst="rect">
            <a:avLst/>
          </a:prstGeom>
          <a:noFill/>
        </p:spPr>
        <p:txBody>
          <a:bodyPr wrap="square" lIns="0" tIns="0" rIns="0" bIns="0">
            <a:spAutoFit/>
          </a:bodyPr>
          <a:lstStyle/>
          <a:p>
            <a:pPr algn="l"/>
            <a:r>
              <a:rPr lang="es-PE" sz="1200" b="1" i="0" noProof="0" dirty="0">
                <a:solidFill>
                  <a:srgbClr val="6E6E6E"/>
                </a:solidFill>
                <a:latin typeface="Calibri"/>
              </a:rPr>
              <a:t>Archivo: 01_codigo_final/robot3dof_TFinal_v2_dinamica_jacobianos.m — misma formula que la version simbólica (Sección 9 del archivo), &lt;1e-10 de diferencia</a:t>
            </a:r>
          </a:p>
        </p:txBody>
      </p:sp>
      <p:sp>
        <p:nvSpPr>
          <p:cNvPr id="8" name="TextBox 7"/>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s-PE" sz="1100" b="1" kern="0" spc="300" noProof="0" dirty="0">
                <a:solidFill>
                  <a:srgbClr val="6E6E6E"/>
                </a:solidFill>
                <a:latin typeface="Calibri" pitchFamily="34" charset="0"/>
                <a:ea typeface="Calibri" pitchFamily="34" charset="-122"/>
                <a:cs typeface="Calibri" pitchFamily="34" charset="-120"/>
              </a:rPr>
              <a:t>2 · VALIDACIÓN NUMÉRICA DEL MODELO</a:t>
            </a:r>
            <a:endParaRPr lang="es-PE" sz="1100" noProof="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s-PE" sz="2700" b="1" noProof="0" dirty="0">
                <a:solidFill>
                  <a:srgbClr val="990011"/>
                </a:solidFill>
                <a:latin typeface="Cambria" pitchFamily="34" charset="0"/>
                <a:ea typeface="Cambria" pitchFamily="34" charset="-122"/>
                <a:cs typeface="Cambria" pitchFamily="34" charset="-120"/>
              </a:rPr>
              <a:t>El modelo reproduce la física esperada</a:t>
            </a:r>
            <a:endParaRPr lang="es-PE" sz="2700" noProof="0" dirty="0"/>
          </a:p>
        </p:txBody>
      </p:sp>
      <p:sp>
        <p:nvSpPr>
          <p:cNvPr id="4" name="Text 2"/>
          <p:cNvSpPr/>
          <p:nvPr/>
        </p:nvSpPr>
        <p:spPr>
          <a:xfrm>
            <a:off x="548640" y="1663545"/>
            <a:ext cx="3383280" cy="777240"/>
          </a:xfrm>
          <a:prstGeom prst="rect">
            <a:avLst/>
          </a:prstGeom>
          <a:noFill/>
          <a:ln/>
        </p:spPr>
        <p:txBody>
          <a:bodyPr wrap="square" lIns="0" tIns="0" rIns="0" bIns="0" rtlCol="0" anchor="ctr"/>
          <a:lstStyle/>
          <a:p>
            <a:pPr marL="0" indent="0" algn="l">
              <a:buNone/>
            </a:pPr>
            <a:r>
              <a:rPr lang="es-PE" sz="4000" b="1" noProof="0" dirty="0">
                <a:solidFill>
                  <a:srgbClr val="990011"/>
                </a:solidFill>
                <a:latin typeface="Cambria" pitchFamily="34" charset="0"/>
                <a:ea typeface="Cambria" pitchFamily="34" charset="-122"/>
                <a:cs typeface="Cambria" pitchFamily="34" charset="-120"/>
              </a:rPr>
              <a:t>M(q) ≻ 0</a:t>
            </a:r>
            <a:endParaRPr lang="es-PE" sz="4000" noProof="0" dirty="0"/>
          </a:p>
        </p:txBody>
      </p:sp>
      <p:sp>
        <p:nvSpPr>
          <p:cNvPr id="5" name="Text 3"/>
          <p:cNvSpPr/>
          <p:nvPr/>
        </p:nvSpPr>
        <p:spPr>
          <a:xfrm>
            <a:off x="548640" y="2413353"/>
            <a:ext cx="3383280" cy="640080"/>
          </a:xfrm>
          <a:prstGeom prst="rect">
            <a:avLst/>
          </a:prstGeom>
          <a:noFill/>
          <a:ln/>
        </p:spPr>
        <p:txBody>
          <a:bodyPr wrap="square" lIns="0" tIns="0" rIns="0" bIns="0" rtlCol="0" anchor="t"/>
          <a:lstStyle/>
          <a:p>
            <a:pPr marL="0" indent="0" algn="l">
              <a:buNone/>
            </a:pPr>
            <a:r>
              <a:rPr lang="es-PE" sz="1600" noProof="0" dirty="0">
                <a:solidFill>
                  <a:srgbClr val="2B2B2B"/>
                </a:solidFill>
                <a:latin typeface="Calibri" pitchFamily="34" charset="0"/>
                <a:ea typeface="Calibri" pitchFamily="34" charset="-122"/>
                <a:cs typeface="Calibri" pitchFamily="34" charset="-120"/>
              </a:rPr>
              <a:t>Autovalores 0.011 / 0.23 / 0.35 — simétrica y definida positiva</a:t>
            </a:r>
            <a:endParaRPr lang="es-PE" sz="1600" noProof="0" dirty="0"/>
          </a:p>
        </p:txBody>
      </p:sp>
      <p:sp>
        <p:nvSpPr>
          <p:cNvPr id="6" name="Text 4"/>
          <p:cNvSpPr/>
          <p:nvPr/>
        </p:nvSpPr>
        <p:spPr>
          <a:xfrm>
            <a:off x="548640" y="3172305"/>
            <a:ext cx="3383280" cy="777240"/>
          </a:xfrm>
          <a:prstGeom prst="rect">
            <a:avLst/>
          </a:prstGeom>
          <a:noFill/>
          <a:ln/>
        </p:spPr>
        <p:txBody>
          <a:bodyPr wrap="square" lIns="0" tIns="0" rIns="0" bIns="0" rtlCol="0" anchor="ctr"/>
          <a:lstStyle/>
          <a:p>
            <a:pPr marL="0" indent="0" algn="l">
              <a:buNone/>
            </a:pPr>
            <a:r>
              <a:rPr lang="es-PE" sz="4000" b="1" noProof="0" dirty="0">
                <a:solidFill>
                  <a:srgbClr val="2F3C7E"/>
                </a:solidFill>
                <a:latin typeface="Cambria" pitchFamily="34" charset="0"/>
                <a:ea typeface="Cambria" pitchFamily="34" charset="-122"/>
                <a:cs typeface="Cambria" pitchFamily="34" charset="-120"/>
              </a:rPr>
              <a:t>G₁ ≡ 0</a:t>
            </a:r>
            <a:endParaRPr lang="es-PE" sz="4000" noProof="0" dirty="0"/>
          </a:p>
        </p:txBody>
      </p:sp>
      <p:sp>
        <p:nvSpPr>
          <p:cNvPr id="7" name="Text 5"/>
          <p:cNvSpPr/>
          <p:nvPr/>
        </p:nvSpPr>
        <p:spPr>
          <a:xfrm>
            <a:off x="548640" y="3922113"/>
            <a:ext cx="3383280" cy="640080"/>
          </a:xfrm>
          <a:prstGeom prst="rect">
            <a:avLst/>
          </a:prstGeom>
          <a:noFill/>
          <a:ln/>
        </p:spPr>
        <p:txBody>
          <a:bodyPr wrap="square" lIns="0" tIns="0" rIns="0" bIns="0" rtlCol="0" anchor="t"/>
          <a:lstStyle/>
          <a:p>
            <a:pPr marL="0" indent="0" algn="l">
              <a:buNone/>
            </a:pPr>
            <a:r>
              <a:rPr lang="es-PE" sz="1600" noProof="0" dirty="0">
                <a:solidFill>
                  <a:srgbClr val="2B2B2B"/>
                </a:solidFill>
                <a:latin typeface="Calibri" pitchFamily="34" charset="0"/>
                <a:ea typeface="Calibri" pitchFamily="34" charset="-122"/>
                <a:cs typeface="Calibri" pitchFamily="34" charset="-120"/>
              </a:rPr>
              <a:t>La junta de base no altera la energía potencial (resultado exacto)</a:t>
            </a:r>
            <a:endParaRPr lang="es-PE" sz="1600" noProof="0" dirty="0"/>
          </a:p>
        </p:txBody>
      </p:sp>
      <p:sp>
        <p:nvSpPr>
          <p:cNvPr id="8" name="Text 6"/>
          <p:cNvSpPr/>
          <p:nvPr/>
        </p:nvSpPr>
        <p:spPr>
          <a:xfrm>
            <a:off x="548640" y="4681065"/>
            <a:ext cx="3383280" cy="777240"/>
          </a:xfrm>
          <a:prstGeom prst="rect">
            <a:avLst/>
          </a:prstGeom>
          <a:noFill/>
          <a:ln/>
        </p:spPr>
        <p:txBody>
          <a:bodyPr wrap="square" lIns="0" tIns="0" rIns="0" bIns="0" rtlCol="0" anchor="ctr"/>
          <a:lstStyle/>
          <a:p>
            <a:pPr marL="0" indent="0" algn="l">
              <a:buNone/>
            </a:pPr>
            <a:r>
              <a:rPr lang="es-PE" sz="4000" b="1" noProof="0" dirty="0">
                <a:solidFill>
                  <a:srgbClr val="990011"/>
                </a:solidFill>
                <a:latin typeface="Cambria" pitchFamily="34" charset="0"/>
                <a:ea typeface="Cambria" pitchFamily="34" charset="-122"/>
                <a:cs typeface="Cambria" pitchFamily="34" charset="-120"/>
              </a:rPr>
              <a:t>≈ 10⁻¹⁰</a:t>
            </a:r>
            <a:endParaRPr lang="es-PE" sz="4000" noProof="0" dirty="0"/>
          </a:p>
        </p:txBody>
      </p:sp>
      <p:sp>
        <p:nvSpPr>
          <p:cNvPr id="9" name="Text 7"/>
          <p:cNvSpPr/>
          <p:nvPr/>
        </p:nvSpPr>
        <p:spPr>
          <a:xfrm>
            <a:off x="548640" y="5430873"/>
            <a:ext cx="3383280" cy="640080"/>
          </a:xfrm>
          <a:prstGeom prst="rect">
            <a:avLst/>
          </a:prstGeom>
          <a:noFill/>
          <a:ln/>
        </p:spPr>
        <p:txBody>
          <a:bodyPr wrap="square" lIns="0" tIns="0" rIns="0" bIns="0" rtlCol="0" anchor="t"/>
          <a:lstStyle/>
          <a:p>
            <a:pPr marL="0" indent="0" algn="l">
              <a:buNone/>
            </a:pPr>
            <a:r>
              <a:rPr lang="es-PE" sz="1600" noProof="0" dirty="0">
                <a:solidFill>
                  <a:srgbClr val="2B2B2B"/>
                </a:solidFill>
                <a:latin typeface="Calibri" pitchFamily="34" charset="0"/>
                <a:ea typeface="Calibri" pitchFamily="34" charset="-122"/>
                <a:cs typeface="Calibri" pitchFamily="34" charset="-120"/>
              </a:rPr>
              <a:t>Coincidencia entre la C simbólica y la numérica en el punto de prueba</a:t>
            </a:r>
            <a:endParaRPr lang="es-PE" sz="1600" noProof="0" dirty="0"/>
          </a:p>
        </p:txBody>
      </p:sp>
      <p:sp>
        <p:nvSpPr>
          <p:cNvPr id="10" name="Shape 8"/>
          <p:cNvSpPr/>
          <p:nvPr/>
        </p:nvSpPr>
        <p:spPr>
          <a:xfrm>
            <a:off x="4206240" y="1783080"/>
            <a:ext cx="7406640" cy="4297680"/>
          </a:xfrm>
          <a:prstGeom prst="roundRect">
            <a:avLst>
              <a:gd name="adj" fmla="val 1277"/>
            </a:avLst>
          </a:prstGeom>
          <a:solidFill>
            <a:srgbClr val="FCF6F5"/>
          </a:solidFill>
          <a:ln w="12700">
            <a:solidFill>
              <a:srgbClr val="D9C7C6"/>
            </a:solidFill>
            <a:prstDash val="solid"/>
          </a:ln>
        </p:spPr>
        <p:txBody>
          <a:bodyPr/>
          <a:lstStyle/>
          <a:p>
            <a:endParaRPr lang="es-PE" noProof="0" dirty="0"/>
          </a:p>
        </p:txBody>
      </p:sp>
      <p:pic>
        <p:nvPicPr>
          <p:cNvPr id="11" name="Image 0" descr="/tmp/deck/assets/dinlibre.png"/>
          <p:cNvPicPr>
            <a:picLocks noChangeAspect="1"/>
          </p:cNvPicPr>
          <p:nvPr/>
        </p:nvPicPr>
        <p:blipFill>
          <a:blip r:embed="rId3">
            <a:extLst>
              <a:ext uri="{BEBA8EAE-BF5A-486C-A8C5-ECC9F3942E4B}">
                <a14:imgProps xmlns:a14="http://schemas.microsoft.com/office/drawing/2010/main">
                  <a14:imgLayer r:embed="rId4">
                    <a14:imgEffect>
                      <a14:sharpenSoften amount="74000"/>
                    </a14:imgEffect>
                    <a14:imgEffect>
                      <a14:brightnessContrast contrast="85000"/>
                    </a14:imgEffect>
                  </a14:imgLayer>
                </a14:imgProps>
              </a:ext>
            </a:extLst>
          </a:blip>
          <a:srcRect/>
          <a:stretch/>
        </p:blipFill>
        <p:spPr>
          <a:xfrm>
            <a:off x="4389120" y="1965960"/>
            <a:ext cx="7040880" cy="3657600"/>
          </a:xfrm>
          <a:prstGeom prst="rect">
            <a:avLst/>
          </a:prstGeom>
        </p:spPr>
      </p:pic>
      <p:sp>
        <p:nvSpPr>
          <p:cNvPr id="12" name="Text 9"/>
          <p:cNvSpPr/>
          <p:nvPr/>
        </p:nvSpPr>
        <p:spPr>
          <a:xfrm>
            <a:off x="4206240" y="5669280"/>
            <a:ext cx="7406640" cy="365760"/>
          </a:xfrm>
          <a:prstGeom prst="rect">
            <a:avLst/>
          </a:prstGeom>
          <a:noFill/>
          <a:ln/>
        </p:spPr>
        <p:txBody>
          <a:bodyPr wrap="square" rtlCol="0" anchor="ctr"/>
          <a:lstStyle/>
          <a:p>
            <a:pPr marL="0" indent="0" algn="ctr">
              <a:buNone/>
            </a:pPr>
            <a:r>
              <a:rPr lang="es-PE" sz="1100" i="1" noProof="0" dirty="0">
                <a:solidFill>
                  <a:srgbClr val="6E6E6E"/>
                </a:solidFill>
                <a:latin typeface="Calibri" pitchFamily="34" charset="0"/>
                <a:ea typeface="Calibri" pitchFamily="34" charset="-122"/>
                <a:cs typeface="Calibri" pitchFamily="34" charset="-120"/>
              </a:rPr>
              <a:t>Dinámica libre (τ = 0): oscilación no amortiguada; el acoplamiento de Coriolis mueve q₁ pese a G₁ = 0.</a:t>
            </a:r>
            <a:endParaRPr lang="es-PE" sz="1100" noProof="0" dirty="0"/>
          </a:p>
        </p:txBody>
      </p:sp>
      <p:sp>
        <p:nvSpPr>
          <p:cNvPr id="13" name="Text 10"/>
          <p:cNvSpPr/>
          <p:nvPr/>
        </p:nvSpPr>
        <p:spPr>
          <a:xfrm>
            <a:off x="11612880" y="6455664"/>
            <a:ext cx="457200" cy="274320"/>
          </a:xfrm>
          <a:prstGeom prst="rect">
            <a:avLst/>
          </a:prstGeom>
          <a:noFill/>
          <a:ln/>
        </p:spPr>
        <p:txBody>
          <a:bodyPr wrap="square" lIns="0" tIns="0" rIns="0" bIns="0" rtlCol="0" anchor="ctr"/>
          <a:lstStyle/>
          <a:p>
            <a:pPr marL="0" indent="0" algn="r">
              <a:buNone/>
            </a:pPr>
            <a:r>
              <a:rPr lang="es-PE" sz="1000" noProof="0" dirty="0">
                <a:solidFill>
                  <a:srgbClr val="6E6E6E"/>
                </a:solidFill>
                <a:latin typeface="Calibri" pitchFamily="34" charset="0"/>
                <a:ea typeface="Calibri" pitchFamily="34" charset="-122"/>
                <a:cs typeface="Calibri" pitchFamily="34" charset="-120"/>
              </a:rPr>
              <a:t>11</a:t>
            </a:r>
            <a:endParaRPr lang="es-PE" sz="10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990011"/>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600810"/>
          </a:solidFill>
          <a:ln/>
        </p:spPr>
        <p:txBody>
          <a:bodyPr/>
          <a:lstStyle/>
          <a:p>
            <a:endParaRPr lang="es-PE" noProof="0" dirty="0"/>
          </a:p>
        </p:txBody>
      </p:sp>
      <p:sp>
        <p:nvSpPr>
          <p:cNvPr id="3" name="Text 1"/>
          <p:cNvSpPr/>
          <p:nvPr/>
        </p:nvSpPr>
        <p:spPr>
          <a:xfrm>
            <a:off x="822960" y="2286000"/>
            <a:ext cx="10058400" cy="457200"/>
          </a:xfrm>
          <a:prstGeom prst="rect">
            <a:avLst/>
          </a:prstGeom>
          <a:noFill/>
          <a:ln/>
        </p:spPr>
        <p:txBody>
          <a:bodyPr wrap="square" rtlCol="0" anchor="ctr"/>
          <a:lstStyle/>
          <a:p>
            <a:pPr marL="0" indent="0">
              <a:buNone/>
            </a:pPr>
            <a:r>
              <a:rPr lang="es-PE" sz="1500" b="1" kern="0" spc="400" noProof="0" dirty="0">
                <a:solidFill>
                  <a:srgbClr val="E8C8CB"/>
                </a:solidFill>
                <a:latin typeface="Calibri" pitchFamily="34" charset="0"/>
                <a:ea typeface="Calibri" pitchFamily="34" charset="-122"/>
                <a:cs typeface="Calibri" pitchFamily="34" charset="-120"/>
              </a:rPr>
              <a:t>BLOQUE 3</a:t>
            </a:r>
            <a:endParaRPr lang="es-PE" sz="1500" noProof="0" dirty="0"/>
          </a:p>
        </p:txBody>
      </p:sp>
      <p:sp>
        <p:nvSpPr>
          <p:cNvPr id="4" name="Text 2"/>
          <p:cNvSpPr/>
          <p:nvPr/>
        </p:nvSpPr>
        <p:spPr>
          <a:xfrm>
            <a:off x="822960" y="2834640"/>
            <a:ext cx="10515600" cy="1188720"/>
          </a:xfrm>
          <a:prstGeom prst="rect">
            <a:avLst/>
          </a:prstGeom>
          <a:noFill/>
          <a:ln/>
        </p:spPr>
        <p:txBody>
          <a:bodyPr wrap="square" rtlCol="0" anchor="ctr"/>
          <a:lstStyle/>
          <a:p>
            <a:pPr marL="0" indent="0">
              <a:buNone/>
            </a:pPr>
            <a:r>
              <a:rPr lang="es-PE" sz="3400" b="1" noProof="0" dirty="0">
                <a:solidFill>
                  <a:srgbClr val="FFFFFF"/>
                </a:solidFill>
                <a:latin typeface="Cambria" pitchFamily="34" charset="0"/>
                <a:ea typeface="Cambria" pitchFamily="34" charset="-122"/>
                <a:cs typeface="Cambria" pitchFamily="34" charset="-120"/>
              </a:rPr>
              <a:t>Control e implementación</a:t>
            </a:r>
            <a:endParaRPr lang="es-PE" sz="3400" noProof="0" dirty="0"/>
          </a:p>
        </p:txBody>
      </p:sp>
      <p:sp>
        <p:nvSpPr>
          <p:cNvPr id="5" name="Text 3"/>
          <p:cNvSpPr/>
          <p:nvPr/>
        </p:nvSpPr>
        <p:spPr>
          <a:xfrm>
            <a:off x="822960" y="4206240"/>
            <a:ext cx="10058400" cy="457200"/>
          </a:xfrm>
          <a:prstGeom prst="rect">
            <a:avLst/>
          </a:prstGeom>
          <a:noFill/>
          <a:ln/>
        </p:spPr>
        <p:txBody>
          <a:bodyPr wrap="square" rtlCol="0" anchor="ctr"/>
          <a:lstStyle/>
          <a:p>
            <a:pPr marL="0" indent="0">
              <a:buNone/>
            </a:pPr>
            <a:r>
              <a:rPr lang="es-PE" sz="1600" i="1" noProof="0" dirty="0">
                <a:solidFill>
                  <a:srgbClr val="F0D5D8"/>
                </a:solidFill>
                <a:latin typeface="Calibri" pitchFamily="34" charset="0"/>
                <a:ea typeface="Calibri" pitchFamily="34" charset="-122"/>
                <a:cs typeface="Calibri" pitchFamily="34" charset="-120"/>
              </a:rPr>
              <a:t>Gabriela Villegas</a:t>
            </a:r>
            <a:endParaRPr lang="es-PE" sz="160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s-PE" sz="1100" b="1" kern="0" spc="300" noProof="0" dirty="0">
                <a:solidFill>
                  <a:srgbClr val="6E6E6E"/>
                </a:solidFill>
                <a:latin typeface="Calibri" pitchFamily="34" charset="0"/>
                <a:ea typeface="Calibri" pitchFamily="34" charset="-122"/>
                <a:cs typeface="Calibri" pitchFamily="34" charset="-120"/>
              </a:rPr>
              <a:t>3 · CONTROLADORES  ·  DINÁMICA DE ERROR</a:t>
            </a:r>
            <a:endParaRPr lang="es-PE" sz="1100" noProof="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s-PE" sz="2700" b="1" noProof="0" dirty="0">
                <a:solidFill>
                  <a:srgbClr val="990011"/>
                </a:solidFill>
                <a:latin typeface="Cambria" pitchFamily="34" charset="0"/>
                <a:ea typeface="Cambria" pitchFamily="34" charset="-122"/>
                <a:cs typeface="Cambria" pitchFamily="34" charset="-120"/>
              </a:rPr>
              <a:t>Tres leyes de control y por qué el par calculado gana</a:t>
            </a:r>
            <a:endParaRPr lang="es-PE" sz="2700" noProof="0" dirty="0"/>
          </a:p>
        </p:txBody>
      </p:sp>
      <p:sp>
        <p:nvSpPr>
          <p:cNvPr id="4" name="Shape 2"/>
          <p:cNvSpPr/>
          <p:nvPr/>
        </p:nvSpPr>
        <p:spPr>
          <a:xfrm>
            <a:off x="548640" y="1645919"/>
            <a:ext cx="6766560" cy="1350897"/>
          </a:xfrm>
          <a:prstGeom prst="roundRect">
            <a:avLst>
              <a:gd name="adj" fmla="val 5714"/>
            </a:avLst>
          </a:prstGeom>
          <a:solidFill>
            <a:srgbClr val="FCF6F5"/>
          </a:solidFill>
          <a:ln w="12700">
            <a:solidFill>
              <a:srgbClr val="D9C7C6"/>
            </a:solidFill>
            <a:prstDash val="solid"/>
          </a:ln>
        </p:spPr>
        <p:txBody>
          <a:bodyPr/>
          <a:lstStyle/>
          <a:p>
            <a:endParaRPr lang="es-PE" noProof="0" dirty="0"/>
          </a:p>
        </p:txBody>
      </p:sp>
      <p:sp>
        <p:nvSpPr>
          <p:cNvPr id="5" name="Text 3"/>
          <p:cNvSpPr/>
          <p:nvPr/>
        </p:nvSpPr>
        <p:spPr>
          <a:xfrm>
            <a:off x="731520" y="1737360"/>
            <a:ext cx="6400800" cy="320040"/>
          </a:xfrm>
          <a:prstGeom prst="rect">
            <a:avLst/>
          </a:prstGeom>
          <a:noFill/>
          <a:ln/>
        </p:spPr>
        <p:txBody>
          <a:bodyPr wrap="square" lIns="0" tIns="0" rIns="0" bIns="0" rtlCol="0" anchor="ctr"/>
          <a:lstStyle/>
          <a:p>
            <a:pPr marL="0" indent="0">
              <a:buNone/>
            </a:pPr>
            <a:r>
              <a:rPr lang="es-PE" sz="1350" b="1" noProof="0" dirty="0">
                <a:solidFill>
                  <a:srgbClr val="990011"/>
                </a:solidFill>
                <a:latin typeface="Calibri" pitchFamily="34" charset="0"/>
                <a:ea typeface="Calibri" pitchFamily="34" charset="-122"/>
                <a:cs typeface="Calibri" pitchFamily="34" charset="-120"/>
              </a:rPr>
              <a:t>PID no lineal</a:t>
            </a:r>
            <a:endParaRPr lang="es-PE" sz="1350" noProof="0" dirty="0"/>
          </a:p>
        </p:txBody>
      </p:sp>
      <p:sp>
        <p:nvSpPr>
          <p:cNvPr id="6" name="Text 4"/>
          <p:cNvSpPr/>
          <p:nvPr/>
        </p:nvSpPr>
        <p:spPr>
          <a:xfrm>
            <a:off x="731520" y="2048256"/>
            <a:ext cx="6400800" cy="320040"/>
          </a:xfrm>
          <a:prstGeom prst="rect">
            <a:avLst/>
          </a:prstGeom>
          <a:noFill/>
          <a:ln/>
        </p:spPr>
        <p:txBody>
          <a:bodyPr wrap="square" lIns="0" tIns="0" rIns="0" bIns="0" rtlCol="0" anchor="ctr"/>
          <a:lstStyle/>
          <a:p>
            <a:pPr marL="0" indent="0">
              <a:buNone/>
            </a:pPr>
            <a:r>
              <a:rPr lang="es-PE" sz="2400" b="1" i="1" noProof="0" dirty="0">
                <a:solidFill>
                  <a:srgbClr val="2B2B2B"/>
                </a:solidFill>
                <a:latin typeface="Cambria" pitchFamily="34" charset="0"/>
                <a:ea typeface="Cambria" pitchFamily="34" charset="-122"/>
                <a:cs typeface="Cambria" pitchFamily="34" charset="-120"/>
              </a:rPr>
              <a:t>τ = </a:t>
            </a:r>
            <a:r>
              <a:rPr lang="es-PE" sz="2400" b="1" i="1" noProof="0" dirty="0" err="1">
                <a:solidFill>
                  <a:srgbClr val="2B2B2B"/>
                </a:solidFill>
                <a:latin typeface="Cambria" pitchFamily="34" charset="0"/>
                <a:ea typeface="Cambria" pitchFamily="34" charset="-122"/>
                <a:cs typeface="Cambria" pitchFamily="34" charset="-120"/>
              </a:rPr>
              <a:t>Kp·e</a:t>
            </a:r>
            <a:r>
              <a:rPr lang="es-PE" sz="2400" b="1" i="1" noProof="0" dirty="0">
                <a:solidFill>
                  <a:srgbClr val="2B2B2B"/>
                </a:solidFill>
                <a:latin typeface="Cambria" pitchFamily="34" charset="0"/>
                <a:ea typeface="Cambria" pitchFamily="34" charset="-122"/>
                <a:cs typeface="Cambria" pitchFamily="34" charset="-120"/>
              </a:rPr>
              <a:t> + </a:t>
            </a:r>
            <a:r>
              <a:rPr lang="es-PE" sz="2400" b="1" i="1" noProof="0" dirty="0" err="1">
                <a:solidFill>
                  <a:srgbClr val="2B2B2B"/>
                </a:solidFill>
                <a:latin typeface="Cambria" pitchFamily="34" charset="0"/>
                <a:ea typeface="Cambria" pitchFamily="34" charset="-122"/>
                <a:cs typeface="Cambria" pitchFamily="34" charset="-120"/>
              </a:rPr>
              <a:t>Kd·ė</a:t>
            </a:r>
            <a:r>
              <a:rPr lang="es-PE" sz="2400" b="1" i="1" noProof="0" dirty="0">
                <a:solidFill>
                  <a:srgbClr val="2B2B2B"/>
                </a:solidFill>
                <a:latin typeface="Cambria" pitchFamily="34" charset="0"/>
                <a:ea typeface="Cambria" pitchFamily="34" charset="-122"/>
                <a:cs typeface="Cambria" pitchFamily="34" charset="-120"/>
              </a:rPr>
              <a:t> + Ki·∫e + G(q)</a:t>
            </a:r>
            <a:endParaRPr lang="es-PE" sz="2400" b="1" noProof="0" dirty="0"/>
          </a:p>
        </p:txBody>
      </p:sp>
      <p:sp>
        <p:nvSpPr>
          <p:cNvPr id="7" name="Text 5"/>
          <p:cNvSpPr/>
          <p:nvPr/>
        </p:nvSpPr>
        <p:spPr>
          <a:xfrm>
            <a:off x="731520" y="2551176"/>
            <a:ext cx="6400800" cy="256032"/>
          </a:xfrm>
          <a:prstGeom prst="rect">
            <a:avLst/>
          </a:prstGeom>
          <a:noFill/>
          <a:ln/>
        </p:spPr>
        <p:txBody>
          <a:bodyPr wrap="square" lIns="0" tIns="0" rIns="0" bIns="0" rtlCol="0" anchor="ctr"/>
          <a:lstStyle/>
          <a:p>
            <a:pPr marL="0" indent="0">
              <a:buNone/>
            </a:pPr>
            <a:r>
              <a:rPr lang="es-PE" noProof="0" dirty="0">
                <a:solidFill>
                  <a:srgbClr val="6E6E6E"/>
                </a:solidFill>
                <a:latin typeface="Calibri" pitchFamily="34" charset="0"/>
                <a:ea typeface="Calibri" pitchFamily="34" charset="-122"/>
                <a:cs typeface="Calibri" pitchFamily="34" charset="-120"/>
              </a:rPr>
              <a:t>Regulación de posición + compensación de gravedad</a:t>
            </a:r>
            <a:endParaRPr lang="es-PE" noProof="0" dirty="0"/>
          </a:p>
        </p:txBody>
      </p:sp>
      <p:sp>
        <p:nvSpPr>
          <p:cNvPr id="8" name="Shape 6"/>
          <p:cNvSpPr/>
          <p:nvPr/>
        </p:nvSpPr>
        <p:spPr>
          <a:xfrm>
            <a:off x="548640" y="3468667"/>
            <a:ext cx="6766560" cy="1246554"/>
          </a:xfrm>
          <a:prstGeom prst="roundRect">
            <a:avLst>
              <a:gd name="adj" fmla="val 5714"/>
            </a:avLst>
          </a:prstGeom>
          <a:solidFill>
            <a:srgbClr val="FCF6F5"/>
          </a:solidFill>
          <a:ln w="12700">
            <a:solidFill>
              <a:srgbClr val="D9C7C6"/>
            </a:solidFill>
            <a:prstDash val="solid"/>
          </a:ln>
        </p:spPr>
        <p:txBody>
          <a:bodyPr/>
          <a:lstStyle/>
          <a:p>
            <a:endParaRPr lang="es-PE" noProof="0" dirty="0"/>
          </a:p>
        </p:txBody>
      </p:sp>
      <p:sp>
        <p:nvSpPr>
          <p:cNvPr id="9" name="Text 7"/>
          <p:cNvSpPr/>
          <p:nvPr/>
        </p:nvSpPr>
        <p:spPr>
          <a:xfrm>
            <a:off x="731520" y="3560107"/>
            <a:ext cx="6400800" cy="320040"/>
          </a:xfrm>
          <a:prstGeom prst="rect">
            <a:avLst/>
          </a:prstGeom>
          <a:noFill/>
          <a:ln/>
        </p:spPr>
        <p:txBody>
          <a:bodyPr wrap="square" lIns="0" tIns="0" rIns="0" bIns="0" rtlCol="0" anchor="ctr"/>
          <a:lstStyle/>
          <a:p>
            <a:pPr marL="0" indent="0">
              <a:buNone/>
            </a:pPr>
            <a:r>
              <a:rPr lang="es-PE" sz="1350" b="1" noProof="0" dirty="0">
                <a:solidFill>
                  <a:srgbClr val="990011"/>
                </a:solidFill>
                <a:latin typeface="Calibri" pitchFamily="34" charset="0"/>
                <a:ea typeface="Calibri" pitchFamily="34" charset="-122"/>
                <a:cs typeface="Calibri" pitchFamily="34" charset="-120"/>
              </a:rPr>
              <a:t>PD precompensado</a:t>
            </a:r>
            <a:endParaRPr lang="es-PE" sz="1350" noProof="0" dirty="0"/>
          </a:p>
        </p:txBody>
      </p:sp>
      <p:sp>
        <p:nvSpPr>
          <p:cNvPr id="10" name="Text 8"/>
          <p:cNvSpPr/>
          <p:nvPr/>
        </p:nvSpPr>
        <p:spPr>
          <a:xfrm>
            <a:off x="731520" y="3871003"/>
            <a:ext cx="6400800" cy="320040"/>
          </a:xfrm>
          <a:prstGeom prst="rect">
            <a:avLst/>
          </a:prstGeom>
          <a:noFill/>
          <a:ln/>
        </p:spPr>
        <p:txBody>
          <a:bodyPr wrap="square" lIns="0" tIns="0" rIns="0" bIns="0" rtlCol="0" anchor="ctr"/>
          <a:lstStyle/>
          <a:p>
            <a:pPr marL="0" indent="0">
              <a:buNone/>
            </a:pPr>
            <a:r>
              <a:rPr lang="es-PE" sz="2400" b="1" i="1" noProof="0" dirty="0">
                <a:solidFill>
                  <a:srgbClr val="2B2B2B"/>
                </a:solidFill>
                <a:latin typeface="Cambria" pitchFamily="34" charset="0"/>
                <a:ea typeface="Cambria" pitchFamily="34" charset="-122"/>
                <a:cs typeface="Cambria" pitchFamily="34" charset="-120"/>
              </a:rPr>
              <a:t>τ = M(qd)q̈d + C(</a:t>
            </a:r>
            <a:r>
              <a:rPr lang="es-PE" sz="2400" b="1" i="1" noProof="0" dirty="0" err="1">
                <a:solidFill>
                  <a:srgbClr val="2B2B2B"/>
                </a:solidFill>
                <a:latin typeface="Cambria" pitchFamily="34" charset="0"/>
                <a:ea typeface="Cambria" pitchFamily="34" charset="-122"/>
                <a:cs typeface="Cambria" pitchFamily="34" charset="-120"/>
              </a:rPr>
              <a:t>qd,q̇d</a:t>
            </a:r>
            <a:r>
              <a:rPr lang="es-PE" sz="2400" b="1" i="1" noProof="0" dirty="0">
                <a:solidFill>
                  <a:srgbClr val="2B2B2B"/>
                </a:solidFill>
                <a:latin typeface="Cambria" pitchFamily="34" charset="0"/>
                <a:ea typeface="Cambria" pitchFamily="34" charset="-122"/>
                <a:cs typeface="Cambria" pitchFamily="34" charset="-120"/>
              </a:rPr>
              <a:t>)q̇d + G(qd) + </a:t>
            </a:r>
            <a:r>
              <a:rPr lang="es-PE" sz="2400" b="1" i="1" noProof="0" dirty="0" err="1">
                <a:solidFill>
                  <a:srgbClr val="2B2B2B"/>
                </a:solidFill>
                <a:latin typeface="Cambria" pitchFamily="34" charset="0"/>
                <a:ea typeface="Cambria" pitchFamily="34" charset="-122"/>
                <a:cs typeface="Cambria" pitchFamily="34" charset="-120"/>
              </a:rPr>
              <a:t>Kp·e</a:t>
            </a:r>
            <a:r>
              <a:rPr lang="es-PE" sz="2400" b="1" i="1" noProof="0" dirty="0">
                <a:solidFill>
                  <a:srgbClr val="2B2B2B"/>
                </a:solidFill>
                <a:latin typeface="Cambria" pitchFamily="34" charset="0"/>
                <a:ea typeface="Cambria" pitchFamily="34" charset="-122"/>
                <a:cs typeface="Cambria" pitchFamily="34" charset="-120"/>
              </a:rPr>
              <a:t> + </a:t>
            </a:r>
            <a:r>
              <a:rPr lang="es-PE" sz="2400" b="1" i="1" noProof="0" dirty="0" err="1">
                <a:solidFill>
                  <a:srgbClr val="2B2B2B"/>
                </a:solidFill>
                <a:latin typeface="Cambria" pitchFamily="34" charset="0"/>
                <a:ea typeface="Cambria" pitchFamily="34" charset="-122"/>
                <a:cs typeface="Cambria" pitchFamily="34" charset="-120"/>
              </a:rPr>
              <a:t>Kd·ė</a:t>
            </a:r>
            <a:endParaRPr lang="es-PE" sz="2400" b="1" noProof="0" dirty="0"/>
          </a:p>
        </p:txBody>
      </p:sp>
      <p:sp>
        <p:nvSpPr>
          <p:cNvPr id="11" name="Text 9"/>
          <p:cNvSpPr/>
          <p:nvPr/>
        </p:nvSpPr>
        <p:spPr>
          <a:xfrm>
            <a:off x="731520" y="4417219"/>
            <a:ext cx="6400800" cy="256032"/>
          </a:xfrm>
          <a:prstGeom prst="rect">
            <a:avLst/>
          </a:prstGeom>
          <a:noFill/>
          <a:ln/>
        </p:spPr>
        <p:txBody>
          <a:bodyPr wrap="square" lIns="0" tIns="0" rIns="0" bIns="0" rtlCol="0" anchor="ctr"/>
          <a:lstStyle/>
          <a:p>
            <a:pPr marL="0" indent="0">
              <a:buNone/>
            </a:pPr>
            <a:r>
              <a:rPr lang="es-PE" noProof="0" dirty="0">
                <a:solidFill>
                  <a:srgbClr val="6E6E6E"/>
                </a:solidFill>
                <a:latin typeface="Calibri" pitchFamily="34" charset="0"/>
                <a:ea typeface="Calibri" pitchFamily="34" charset="-122"/>
                <a:cs typeface="Calibri" pitchFamily="34" charset="-120"/>
              </a:rPr>
              <a:t>Modelo evaluado en la trayectoria deseada</a:t>
            </a:r>
            <a:endParaRPr lang="es-PE" noProof="0" dirty="0"/>
          </a:p>
        </p:txBody>
      </p:sp>
      <p:sp>
        <p:nvSpPr>
          <p:cNvPr id="12" name="Shape 10"/>
          <p:cNvSpPr/>
          <p:nvPr/>
        </p:nvSpPr>
        <p:spPr>
          <a:xfrm>
            <a:off x="548640" y="5203264"/>
            <a:ext cx="6766560" cy="1270687"/>
          </a:xfrm>
          <a:prstGeom prst="roundRect">
            <a:avLst>
              <a:gd name="adj" fmla="val 5714"/>
            </a:avLst>
          </a:prstGeom>
          <a:solidFill>
            <a:srgbClr val="FCF6F5"/>
          </a:solidFill>
          <a:ln w="12700">
            <a:solidFill>
              <a:srgbClr val="D9C7C6"/>
            </a:solidFill>
            <a:prstDash val="solid"/>
          </a:ln>
        </p:spPr>
        <p:txBody>
          <a:bodyPr/>
          <a:lstStyle/>
          <a:p>
            <a:endParaRPr lang="es-PE" noProof="0" dirty="0"/>
          </a:p>
        </p:txBody>
      </p:sp>
      <p:sp>
        <p:nvSpPr>
          <p:cNvPr id="13" name="Text 11"/>
          <p:cNvSpPr/>
          <p:nvPr/>
        </p:nvSpPr>
        <p:spPr>
          <a:xfrm>
            <a:off x="731520" y="5294705"/>
            <a:ext cx="6400800" cy="320040"/>
          </a:xfrm>
          <a:prstGeom prst="rect">
            <a:avLst/>
          </a:prstGeom>
          <a:noFill/>
          <a:ln/>
        </p:spPr>
        <p:txBody>
          <a:bodyPr wrap="square" lIns="0" tIns="0" rIns="0" bIns="0" rtlCol="0" anchor="ctr"/>
          <a:lstStyle/>
          <a:p>
            <a:pPr marL="0" indent="0">
              <a:buNone/>
            </a:pPr>
            <a:r>
              <a:rPr lang="es-PE" sz="1350" b="1" noProof="0" dirty="0">
                <a:solidFill>
                  <a:srgbClr val="990011"/>
                </a:solidFill>
                <a:latin typeface="Calibri" pitchFamily="34" charset="0"/>
                <a:ea typeface="Calibri" pitchFamily="34" charset="-122"/>
                <a:cs typeface="Calibri" pitchFamily="34" charset="-120"/>
              </a:rPr>
              <a:t>Par calculado</a:t>
            </a:r>
            <a:endParaRPr lang="es-PE" sz="1350" noProof="0" dirty="0"/>
          </a:p>
        </p:txBody>
      </p:sp>
      <p:sp>
        <p:nvSpPr>
          <p:cNvPr id="14" name="Text 12"/>
          <p:cNvSpPr/>
          <p:nvPr/>
        </p:nvSpPr>
        <p:spPr>
          <a:xfrm>
            <a:off x="731520" y="5605601"/>
            <a:ext cx="6400800" cy="320040"/>
          </a:xfrm>
          <a:prstGeom prst="rect">
            <a:avLst/>
          </a:prstGeom>
          <a:noFill/>
          <a:ln/>
        </p:spPr>
        <p:txBody>
          <a:bodyPr wrap="square" lIns="0" tIns="0" rIns="0" bIns="0" rtlCol="0" anchor="ctr"/>
          <a:lstStyle/>
          <a:p>
            <a:pPr marL="0" indent="0">
              <a:buNone/>
            </a:pPr>
            <a:r>
              <a:rPr lang="es-PE" sz="2400" b="1" i="1" noProof="0" dirty="0">
                <a:solidFill>
                  <a:srgbClr val="2B2B2B"/>
                </a:solidFill>
                <a:latin typeface="Cambria" pitchFamily="34" charset="0"/>
                <a:ea typeface="Cambria" pitchFamily="34" charset="-122"/>
                <a:cs typeface="Cambria" pitchFamily="34" charset="-120"/>
              </a:rPr>
              <a:t>τ = M(q)(q̈d + </a:t>
            </a:r>
            <a:r>
              <a:rPr lang="es-PE" sz="2400" b="1" i="1" noProof="0" dirty="0" err="1">
                <a:solidFill>
                  <a:srgbClr val="2B2B2B"/>
                </a:solidFill>
                <a:latin typeface="Cambria" pitchFamily="34" charset="0"/>
                <a:ea typeface="Cambria" pitchFamily="34" charset="-122"/>
                <a:cs typeface="Cambria" pitchFamily="34" charset="-120"/>
              </a:rPr>
              <a:t>Kd·ė</a:t>
            </a:r>
            <a:r>
              <a:rPr lang="es-PE" sz="2400" b="1" i="1" noProof="0" dirty="0">
                <a:solidFill>
                  <a:srgbClr val="2B2B2B"/>
                </a:solidFill>
                <a:latin typeface="Cambria" pitchFamily="34" charset="0"/>
                <a:ea typeface="Cambria" pitchFamily="34" charset="-122"/>
                <a:cs typeface="Cambria" pitchFamily="34" charset="-120"/>
              </a:rPr>
              <a:t> + </a:t>
            </a:r>
            <a:r>
              <a:rPr lang="es-PE" sz="2400" b="1" i="1" noProof="0" dirty="0" err="1">
                <a:solidFill>
                  <a:srgbClr val="2B2B2B"/>
                </a:solidFill>
                <a:latin typeface="Cambria" pitchFamily="34" charset="0"/>
                <a:ea typeface="Cambria" pitchFamily="34" charset="-122"/>
                <a:cs typeface="Cambria" pitchFamily="34" charset="-120"/>
              </a:rPr>
              <a:t>Kp·e</a:t>
            </a:r>
            <a:r>
              <a:rPr lang="es-PE" sz="2400" b="1" i="1" noProof="0" dirty="0">
                <a:solidFill>
                  <a:srgbClr val="2B2B2B"/>
                </a:solidFill>
                <a:latin typeface="Cambria" pitchFamily="34" charset="0"/>
                <a:ea typeface="Cambria" pitchFamily="34" charset="-122"/>
                <a:cs typeface="Cambria" pitchFamily="34" charset="-120"/>
              </a:rPr>
              <a:t>) + C(</a:t>
            </a:r>
            <a:r>
              <a:rPr lang="es-PE" sz="2400" b="1" i="1" noProof="0" dirty="0" err="1">
                <a:solidFill>
                  <a:srgbClr val="2B2B2B"/>
                </a:solidFill>
                <a:latin typeface="Cambria" pitchFamily="34" charset="0"/>
                <a:ea typeface="Cambria" pitchFamily="34" charset="-122"/>
                <a:cs typeface="Cambria" pitchFamily="34" charset="-120"/>
              </a:rPr>
              <a:t>q,q</a:t>
            </a:r>
            <a:r>
              <a:rPr lang="es-PE" sz="2400" b="1" i="1" noProof="0" dirty="0">
                <a:solidFill>
                  <a:srgbClr val="2B2B2B"/>
                </a:solidFill>
                <a:latin typeface="Cambria" pitchFamily="34" charset="0"/>
                <a:ea typeface="Cambria" pitchFamily="34" charset="-122"/>
                <a:cs typeface="Cambria" pitchFamily="34" charset="-120"/>
              </a:rPr>
              <a:t>̇)q̇ + G(q)</a:t>
            </a:r>
            <a:endParaRPr lang="es-PE" sz="2400" b="1" noProof="0" dirty="0"/>
          </a:p>
        </p:txBody>
      </p:sp>
      <p:sp>
        <p:nvSpPr>
          <p:cNvPr id="15" name="Text 13"/>
          <p:cNvSpPr/>
          <p:nvPr/>
        </p:nvSpPr>
        <p:spPr>
          <a:xfrm>
            <a:off x="731520" y="6131430"/>
            <a:ext cx="6400800" cy="256032"/>
          </a:xfrm>
          <a:prstGeom prst="rect">
            <a:avLst/>
          </a:prstGeom>
          <a:noFill/>
          <a:ln/>
        </p:spPr>
        <p:txBody>
          <a:bodyPr wrap="square" lIns="0" tIns="0" rIns="0" bIns="0" rtlCol="0" anchor="ctr"/>
          <a:lstStyle/>
          <a:p>
            <a:pPr marL="0" indent="0">
              <a:buNone/>
            </a:pPr>
            <a:r>
              <a:rPr lang="es-PE" noProof="0" dirty="0">
                <a:solidFill>
                  <a:srgbClr val="6E6E6E"/>
                </a:solidFill>
                <a:latin typeface="Calibri" pitchFamily="34" charset="0"/>
                <a:ea typeface="Calibri" pitchFamily="34" charset="-122"/>
                <a:cs typeface="Calibri" pitchFamily="34" charset="-120"/>
              </a:rPr>
              <a:t>Modelo evaluado en el estado real</a:t>
            </a:r>
            <a:endParaRPr lang="es-PE" noProof="0" dirty="0"/>
          </a:p>
        </p:txBody>
      </p:sp>
      <p:sp>
        <p:nvSpPr>
          <p:cNvPr id="16" name="Shape 14"/>
          <p:cNvSpPr/>
          <p:nvPr/>
        </p:nvSpPr>
        <p:spPr>
          <a:xfrm>
            <a:off x="7543800" y="1645919"/>
            <a:ext cx="4114800" cy="3968825"/>
          </a:xfrm>
          <a:prstGeom prst="roundRect">
            <a:avLst>
              <a:gd name="adj" fmla="val 1714"/>
            </a:avLst>
          </a:prstGeom>
          <a:solidFill>
            <a:srgbClr val="600810"/>
          </a:solidFill>
          <a:ln/>
        </p:spPr>
        <p:txBody>
          <a:bodyPr/>
          <a:lstStyle/>
          <a:p>
            <a:endParaRPr lang="es-PE" noProof="0" dirty="0"/>
          </a:p>
        </p:txBody>
      </p:sp>
      <p:sp>
        <p:nvSpPr>
          <p:cNvPr id="17" name="Text 15"/>
          <p:cNvSpPr/>
          <p:nvPr/>
        </p:nvSpPr>
        <p:spPr>
          <a:xfrm>
            <a:off x="7726680" y="1783080"/>
            <a:ext cx="3749040" cy="365760"/>
          </a:xfrm>
          <a:prstGeom prst="rect">
            <a:avLst/>
          </a:prstGeom>
          <a:noFill/>
          <a:ln/>
        </p:spPr>
        <p:txBody>
          <a:bodyPr wrap="square" lIns="0" tIns="0" rIns="0" bIns="0" rtlCol="0" anchor="ctr"/>
          <a:lstStyle/>
          <a:p>
            <a:pPr marL="0" indent="0">
              <a:buNone/>
            </a:pPr>
            <a:r>
              <a:rPr lang="es-PE" sz="1300" b="1" noProof="0" dirty="0">
                <a:solidFill>
                  <a:srgbClr val="FFFFFF"/>
                </a:solidFill>
                <a:latin typeface="Calibri" pitchFamily="34" charset="0"/>
                <a:ea typeface="Calibri" pitchFamily="34" charset="-122"/>
                <a:cs typeface="Calibri" pitchFamily="34" charset="-120"/>
              </a:rPr>
              <a:t>Par calculado → dinámica de error</a:t>
            </a:r>
            <a:endParaRPr lang="es-PE" sz="1300" noProof="0" dirty="0"/>
          </a:p>
        </p:txBody>
      </p:sp>
      <p:sp>
        <p:nvSpPr>
          <p:cNvPr id="18" name="Text 16"/>
          <p:cNvSpPr/>
          <p:nvPr/>
        </p:nvSpPr>
        <p:spPr>
          <a:xfrm>
            <a:off x="7726680" y="2194560"/>
            <a:ext cx="3749040" cy="548640"/>
          </a:xfrm>
          <a:prstGeom prst="rect">
            <a:avLst/>
          </a:prstGeom>
          <a:noFill/>
          <a:ln/>
        </p:spPr>
        <p:txBody>
          <a:bodyPr wrap="square" lIns="0" tIns="0" rIns="0" bIns="0" rtlCol="0" anchor="ctr"/>
          <a:lstStyle/>
          <a:p>
            <a:pPr marL="0" indent="0">
              <a:buNone/>
            </a:pPr>
            <a:r>
              <a:rPr lang="es-PE" sz="1600" noProof="0" dirty="0">
                <a:solidFill>
                  <a:srgbClr val="F0D5D8"/>
                </a:solidFill>
                <a:latin typeface="Calibri" pitchFamily="34" charset="0"/>
                <a:ea typeface="Calibri" pitchFamily="34" charset="-122"/>
                <a:cs typeface="Calibri" pitchFamily="34" charset="-120"/>
              </a:rPr>
              <a:t>Al sustituir su ley, </a:t>
            </a:r>
            <a:r>
              <a:rPr lang="es-PE" sz="1600" noProof="0" dirty="0" err="1">
                <a:solidFill>
                  <a:srgbClr val="F0D5D8"/>
                </a:solidFill>
                <a:latin typeface="Calibri" pitchFamily="34" charset="0"/>
                <a:ea typeface="Calibri" pitchFamily="34" charset="-122"/>
                <a:cs typeface="Calibri" pitchFamily="34" charset="-120"/>
              </a:rPr>
              <a:t>C·q</a:t>
            </a:r>
            <a:r>
              <a:rPr lang="es-PE" sz="1600" noProof="0" dirty="0">
                <a:solidFill>
                  <a:srgbClr val="F0D5D8"/>
                </a:solidFill>
                <a:latin typeface="Calibri" pitchFamily="34" charset="0"/>
                <a:ea typeface="Calibri" pitchFamily="34" charset="-122"/>
                <a:cs typeface="Calibri" pitchFamily="34" charset="-120"/>
              </a:rPr>
              <a:t>̇ y G se cancelan y M(q) es invertible:</a:t>
            </a:r>
            <a:endParaRPr lang="es-PE" sz="1600" noProof="0" dirty="0"/>
          </a:p>
        </p:txBody>
      </p:sp>
      <p:sp>
        <p:nvSpPr>
          <p:cNvPr id="19" name="Shape 17"/>
          <p:cNvSpPr/>
          <p:nvPr/>
        </p:nvSpPr>
        <p:spPr>
          <a:xfrm>
            <a:off x="7726680" y="2788919"/>
            <a:ext cx="3749040" cy="1733831"/>
          </a:xfrm>
          <a:prstGeom prst="roundRect">
            <a:avLst>
              <a:gd name="adj" fmla="val 7143"/>
            </a:avLst>
          </a:prstGeom>
          <a:solidFill>
            <a:srgbClr val="FFFFFF"/>
          </a:solidFill>
          <a:ln/>
        </p:spPr>
        <p:txBody>
          <a:bodyPr/>
          <a:lstStyle/>
          <a:p>
            <a:endParaRPr lang="es-PE" noProof="0" dirty="0"/>
          </a:p>
        </p:txBody>
      </p:sp>
      <p:sp>
        <p:nvSpPr>
          <p:cNvPr id="20" name="Text 18"/>
          <p:cNvSpPr/>
          <p:nvPr/>
        </p:nvSpPr>
        <p:spPr>
          <a:xfrm>
            <a:off x="7726680" y="2788920"/>
            <a:ext cx="3749040" cy="1733832"/>
          </a:xfrm>
          <a:prstGeom prst="rect">
            <a:avLst/>
          </a:prstGeom>
          <a:noFill/>
          <a:ln/>
        </p:spPr>
        <p:txBody>
          <a:bodyPr wrap="square" lIns="0" tIns="0" rIns="0" bIns="0" rtlCol="0" anchor="ctr"/>
          <a:lstStyle/>
          <a:p>
            <a:pPr marL="0" indent="0" algn="ctr">
              <a:buNone/>
            </a:pPr>
            <a:r>
              <a:rPr lang="es-PE" sz="3200" b="1" i="1" noProof="0" dirty="0">
                <a:solidFill>
                  <a:srgbClr val="990011"/>
                </a:solidFill>
                <a:latin typeface="Cambria" pitchFamily="34" charset="0"/>
                <a:ea typeface="Cambria" pitchFamily="34" charset="-122"/>
                <a:cs typeface="Cambria" pitchFamily="34" charset="-120"/>
              </a:rPr>
              <a:t>ë + </a:t>
            </a:r>
            <a:r>
              <a:rPr lang="es-PE" sz="3200" b="1" i="1" noProof="0" dirty="0" err="1">
                <a:solidFill>
                  <a:srgbClr val="990011"/>
                </a:solidFill>
                <a:latin typeface="Cambria" pitchFamily="34" charset="0"/>
                <a:ea typeface="Cambria" pitchFamily="34" charset="-122"/>
                <a:cs typeface="Cambria" pitchFamily="34" charset="-120"/>
              </a:rPr>
              <a:t>Kd·ė</a:t>
            </a:r>
            <a:r>
              <a:rPr lang="es-PE" sz="3200" b="1" i="1" noProof="0" dirty="0">
                <a:solidFill>
                  <a:srgbClr val="990011"/>
                </a:solidFill>
                <a:latin typeface="Cambria" pitchFamily="34" charset="0"/>
                <a:ea typeface="Cambria" pitchFamily="34" charset="-122"/>
                <a:cs typeface="Cambria" pitchFamily="34" charset="-120"/>
              </a:rPr>
              <a:t> + </a:t>
            </a:r>
            <a:r>
              <a:rPr lang="es-PE" sz="3200" b="1" i="1" noProof="0" dirty="0" err="1">
                <a:solidFill>
                  <a:srgbClr val="990011"/>
                </a:solidFill>
                <a:latin typeface="Cambria" pitchFamily="34" charset="0"/>
                <a:ea typeface="Cambria" pitchFamily="34" charset="-122"/>
                <a:cs typeface="Cambria" pitchFamily="34" charset="-120"/>
              </a:rPr>
              <a:t>Kp·e</a:t>
            </a:r>
            <a:r>
              <a:rPr lang="es-PE" sz="3200" b="1" i="1" noProof="0" dirty="0">
                <a:solidFill>
                  <a:srgbClr val="990011"/>
                </a:solidFill>
                <a:latin typeface="Cambria" pitchFamily="34" charset="0"/>
                <a:ea typeface="Cambria" pitchFamily="34" charset="-122"/>
                <a:cs typeface="Cambria" pitchFamily="34" charset="-120"/>
              </a:rPr>
              <a:t> = 0</a:t>
            </a:r>
            <a:endParaRPr lang="es-PE" sz="3200" noProof="0" dirty="0"/>
          </a:p>
        </p:txBody>
      </p:sp>
      <p:sp>
        <p:nvSpPr>
          <p:cNvPr id="21" name="Text 19"/>
          <p:cNvSpPr/>
          <p:nvPr/>
        </p:nvSpPr>
        <p:spPr>
          <a:xfrm>
            <a:off x="7863840" y="4778785"/>
            <a:ext cx="3749040" cy="640080"/>
          </a:xfrm>
          <a:prstGeom prst="rect">
            <a:avLst/>
          </a:prstGeom>
          <a:noFill/>
          <a:ln/>
        </p:spPr>
        <p:txBody>
          <a:bodyPr wrap="square" lIns="0" tIns="0" rIns="0" bIns="0" rtlCol="0" anchor="ctr"/>
          <a:lstStyle/>
          <a:p>
            <a:pPr marL="0" indent="0">
              <a:buNone/>
            </a:pPr>
            <a:r>
              <a:rPr lang="es-PE" sz="1600" noProof="0" dirty="0">
                <a:solidFill>
                  <a:srgbClr val="FFFFFF"/>
                </a:solidFill>
                <a:latin typeface="Calibri" pitchFamily="34" charset="0"/>
                <a:ea typeface="Calibri" pitchFamily="34" charset="-122"/>
                <a:cs typeface="Calibri" pitchFamily="34" charset="-120"/>
              </a:rPr>
              <a:t>Lineal, desacoplada y exponencialmente estable (Kd = 2√Kp → crítico).</a:t>
            </a:r>
            <a:endParaRPr lang="es-PE" sz="1600" noProof="0" dirty="0"/>
          </a:p>
        </p:txBody>
      </p:sp>
      <p:sp>
        <p:nvSpPr>
          <p:cNvPr id="22" name="Text 20"/>
          <p:cNvSpPr/>
          <p:nvPr/>
        </p:nvSpPr>
        <p:spPr>
          <a:xfrm>
            <a:off x="7726680" y="6049802"/>
            <a:ext cx="4114800" cy="424149"/>
          </a:xfrm>
          <a:prstGeom prst="rect">
            <a:avLst/>
          </a:prstGeom>
          <a:noFill/>
          <a:ln/>
        </p:spPr>
        <p:txBody>
          <a:bodyPr wrap="square" lIns="0" tIns="0" rIns="0" bIns="0" rtlCol="0" anchor="t"/>
          <a:lstStyle/>
          <a:p>
            <a:pPr marL="0" indent="0">
              <a:buNone/>
            </a:pPr>
            <a:r>
              <a:rPr lang="es-PE" sz="1150" i="1" noProof="0" dirty="0">
                <a:solidFill>
                  <a:srgbClr val="6E6E6E"/>
                </a:solidFill>
                <a:latin typeface="Calibri" pitchFamily="34" charset="0"/>
                <a:ea typeface="Calibri" pitchFamily="34" charset="-122"/>
                <a:cs typeface="Calibri" pitchFamily="34" charset="-120"/>
              </a:rPr>
              <a:t>PID: estable por Lyapunov (usa Ṁ−2C antisimétrica). PD: cancelación solo aproximada.</a:t>
            </a:r>
            <a:endParaRPr lang="es-PE" sz="1150" noProof="0" dirty="0"/>
          </a:p>
        </p:txBody>
      </p:sp>
      <p:sp>
        <p:nvSpPr>
          <p:cNvPr id="23" name="Text 21"/>
          <p:cNvSpPr/>
          <p:nvPr/>
        </p:nvSpPr>
        <p:spPr>
          <a:xfrm>
            <a:off x="11612880" y="6455664"/>
            <a:ext cx="457200" cy="274320"/>
          </a:xfrm>
          <a:prstGeom prst="rect">
            <a:avLst/>
          </a:prstGeom>
          <a:noFill/>
          <a:ln/>
        </p:spPr>
        <p:txBody>
          <a:bodyPr wrap="square" lIns="0" tIns="0" rIns="0" bIns="0" rtlCol="0" anchor="ctr"/>
          <a:lstStyle/>
          <a:p>
            <a:pPr marL="0" indent="0" algn="r">
              <a:buNone/>
            </a:pPr>
            <a:r>
              <a:rPr lang="es-PE" sz="1000" noProof="0" dirty="0">
                <a:solidFill>
                  <a:srgbClr val="6E6E6E"/>
                </a:solidFill>
                <a:latin typeface="Calibri" pitchFamily="34" charset="0"/>
                <a:ea typeface="Calibri" pitchFamily="34" charset="-122"/>
                <a:cs typeface="Calibri" pitchFamily="34" charset="-120"/>
              </a:rPr>
              <a:t>13</a:t>
            </a:r>
            <a:endParaRPr lang="es-PE" sz="100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3 · CONTROLADORES · CÓDIGO REAL</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La ley de control, tal como corre en Simulink</a:t>
            </a:r>
          </a:p>
        </p:txBody>
      </p:sp>
      <p:sp>
        <p:nvSpPr>
          <p:cNvPr id="4" name="TextBox 3"/>
          <p:cNvSpPr txBox="1"/>
          <p:nvPr/>
        </p:nvSpPr>
        <p:spPr>
          <a:xfrm>
            <a:off x="548640" y="1600200"/>
            <a:ext cx="11064240" cy="457200"/>
          </a:xfrm>
          <a:prstGeom prst="rect">
            <a:avLst/>
          </a:prstGeom>
          <a:noFill/>
        </p:spPr>
        <p:txBody>
          <a:bodyPr wrap="square" lIns="0" tIns="0" rIns="0" bIns="0">
            <a:spAutoFit/>
          </a:bodyPr>
          <a:lstStyle/>
          <a:p>
            <a:pPr algn="l"/>
            <a:r>
              <a:rPr lang="es-PE" sz="1400" b="0" i="0" noProof="0" dirty="0">
                <a:solidFill>
                  <a:srgbClr val="2B2B2B"/>
                </a:solidFill>
                <a:latin typeface="Calibri"/>
              </a:rPr>
              <a:t>Bloque MATLAB Function real del subsistema Par_Calculado. Las funciones locales replican exactamente M(q), C(q,qdot) y G(q) ya mostradas.</a:t>
            </a:r>
          </a:p>
        </p:txBody>
      </p:sp>
      <p:sp>
        <p:nvSpPr>
          <p:cNvPr id="5" name="Rounded Rectangle 4"/>
          <p:cNvSpPr/>
          <p:nvPr/>
        </p:nvSpPr>
        <p:spPr>
          <a:xfrm>
            <a:off x="548640" y="2194560"/>
            <a:ext cx="11064240" cy="3200400"/>
          </a:xfrm>
          <a:prstGeom prst="roundRect">
            <a:avLst>
              <a:gd name="adj" fmla="val 4000"/>
            </a:avLst>
          </a:prstGeom>
          <a:solidFill>
            <a:srgbClr val="FCF6F5"/>
          </a:solidFill>
          <a:ln w="9525">
            <a:solidFill>
              <a:srgbClr val="9900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PE" noProof="0" dirty="0"/>
          </a:p>
        </p:txBody>
      </p:sp>
      <p:sp>
        <p:nvSpPr>
          <p:cNvPr id="6" name="TextBox 5"/>
          <p:cNvSpPr txBox="1"/>
          <p:nvPr/>
        </p:nvSpPr>
        <p:spPr>
          <a:xfrm>
            <a:off x="731520" y="2286000"/>
            <a:ext cx="10698480" cy="3017520"/>
          </a:xfrm>
          <a:prstGeom prst="rect">
            <a:avLst/>
          </a:prstGeom>
          <a:noFill/>
        </p:spPr>
        <p:txBody>
          <a:bodyPr wrap="none" lIns="0" tIns="0" rIns="0" bIns="0">
            <a:spAutoFit/>
          </a:bodyPr>
          <a:lstStyle/>
          <a:p>
            <a:pPr algn="l">
              <a:spcBef>
                <a:spcPts val="0"/>
              </a:spcBef>
              <a:spcAft>
                <a:spcPts val="100"/>
              </a:spcAft>
            </a:pPr>
            <a:r>
              <a:rPr lang="es-PE" sz="1700" b="1" noProof="0" dirty="0" err="1">
                <a:solidFill>
                  <a:srgbClr val="990011"/>
                </a:solidFill>
                <a:latin typeface="Consolas"/>
              </a:rPr>
              <a:t>function</a:t>
            </a:r>
            <a:r>
              <a:rPr lang="es-PE" sz="1700" b="1" noProof="0" dirty="0">
                <a:solidFill>
                  <a:srgbClr val="990011"/>
                </a:solidFill>
                <a:latin typeface="Consolas"/>
              </a:rPr>
              <a:t> tau = </a:t>
            </a:r>
            <a:r>
              <a:rPr lang="es-PE" sz="1700" b="1" noProof="0" dirty="0" err="1">
                <a:solidFill>
                  <a:srgbClr val="990011"/>
                </a:solidFill>
                <a:latin typeface="Consolas"/>
              </a:rPr>
              <a:t>mlfb_par_calculado</a:t>
            </a:r>
            <a:r>
              <a:rPr lang="es-PE" sz="1700" b="1" noProof="0" dirty="0">
                <a:solidFill>
                  <a:srgbClr val="990011"/>
                </a:solidFill>
                <a:latin typeface="Consolas"/>
              </a:rPr>
              <a:t>(q, qdot, qd, qd_dot, qd_ddot, Kp, Kd)</a:t>
            </a:r>
          </a:p>
          <a:p>
            <a:pPr algn="l">
              <a:spcBef>
                <a:spcPts val="0"/>
              </a:spcBef>
              <a:spcAft>
                <a:spcPts val="100"/>
              </a:spcAft>
            </a:pPr>
            <a:r>
              <a:rPr lang="es-PE" sz="1700" noProof="0" dirty="0">
                <a:solidFill>
                  <a:srgbClr val="2B2B2B"/>
                </a:solidFill>
                <a:latin typeface="Consolas"/>
              </a:rPr>
              <a:t>    e = qd - q;</a:t>
            </a:r>
          </a:p>
          <a:p>
            <a:pPr algn="l">
              <a:spcBef>
                <a:spcPts val="0"/>
              </a:spcBef>
              <a:spcAft>
                <a:spcPts val="100"/>
              </a:spcAft>
            </a:pPr>
            <a:r>
              <a:rPr lang="es-PE" sz="1700" noProof="0" dirty="0">
                <a:solidFill>
                  <a:srgbClr val="2B2B2B"/>
                </a:solidFill>
                <a:latin typeface="Consolas"/>
              </a:rPr>
              <a:t>    </a:t>
            </a:r>
            <a:r>
              <a:rPr lang="es-PE" sz="1700" noProof="0" dirty="0" err="1">
                <a:solidFill>
                  <a:srgbClr val="2B2B2B"/>
                </a:solidFill>
                <a:latin typeface="Consolas"/>
              </a:rPr>
              <a:t>edot</a:t>
            </a:r>
            <a:r>
              <a:rPr lang="es-PE" sz="1700" noProof="0" dirty="0">
                <a:solidFill>
                  <a:srgbClr val="2B2B2B"/>
                </a:solidFill>
                <a:latin typeface="Consolas"/>
              </a:rPr>
              <a:t> = qd_dot - qdot;</a:t>
            </a:r>
          </a:p>
          <a:p>
            <a:pPr algn="l">
              <a:spcBef>
                <a:spcPts val="0"/>
              </a:spcBef>
              <a:spcAft>
                <a:spcPts val="100"/>
              </a:spcAft>
            </a:pPr>
            <a:r>
              <a:rPr lang="es-PE" sz="1700" noProof="0" dirty="0">
                <a:solidFill>
                  <a:srgbClr val="2B2B2B"/>
                </a:solidFill>
                <a:latin typeface="Consolas"/>
              </a:rPr>
              <a:t>    </a:t>
            </a:r>
            <a:r>
              <a:rPr lang="es-PE" sz="1700" noProof="0" dirty="0" err="1">
                <a:solidFill>
                  <a:srgbClr val="2B2B2B"/>
                </a:solidFill>
                <a:latin typeface="Consolas"/>
              </a:rPr>
              <a:t>Mq</a:t>
            </a:r>
            <a:r>
              <a:rPr lang="es-PE" sz="1700" noProof="0" dirty="0">
                <a:solidFill>
                  <a:srgbClr val="2B2B2B"/>
                </a:solidFill>
                <a:latin typeface="Consolas"/>
              </a:rPr>
              <a:t> = </a:t>
            </a:r>
            <a:r>
              <a:rPr lang="es-PE" sz="1700" noProof="0" dirty="0" err="1">
                <a:solidFill>
                  <a:srgbClr val="2B2B2B"/>
                </a:solidFill>
                <a:latin typeface="Consolas"/>
              </a:rPr>
              <a:t>local_inertia_matrix</a:t>
            </a:r>
            <a:r>
              <a:rPr lang="es-PE" sz="1700" noProof="0" dirty="0">
                <a:solidFill>
                  <a:srgbClr val="2B2B2B"/>
                </a:solidFill>
                <a:latin typeface="Consolas"/>
              </a:rPr>
              <a:t>(q, ...);   % misma formula de M(q)</a:t>
            </a:r>
          </a:p>
          <a:p>
            <a:pPr algn="l">
              <a:spcBef>
                <a:spcPts val="0"/>
              </a:spcBef>
              <a:spcAft>
                <a:spcPts val="100"/>
              </a:spcAft>
            </a:pPr>
            <a:r>
              <a:rPr lang="es-PE" sz="1700" noProof="0" dirty="0">
                <a:solidFill>
                  <a:srgbClr val="2B2B2B"/>
                </a:solidFill>
                <a:latin typeface="Consolas"/>
              </a:rPr>
              <a:t>    </a:t>
            </a:r>
            <a:r>
              <a:rPr lang="es-PE" sz="1700" noProof="0" dirty="0" err="1">
                <a:solidFill>
                  <a:srgbClr val="2B2B2B"/>
                </a:solidFill>
                <a:latin typeface="Consolas"/>
              </a:rPr>
              <a:t>Cq</a:t>
            </a:r>
            <a:r>
              <a:rPr lang="es-PE" sz="1700" noProof="0" dirty="0">
                <a:solidFill>
                  <a:srgbClr val="2B2B2B"/>
                </a:solidFill>
                <a:latin typeface="Consolas"/>
              </a:rPr>
              <a:t> = </a:t>
            </a:r>
            <a:r>
              <a:rPr lang="es-PE" sz="1700" noProof="0" dirty="0" err="1">
                <a:solidFill>
                  <a:srgbClr val="2B2B2B"/>
                </a:solidFill>
                <a:latin typeface="Consolas"/>
              </a:rPr>
              <a:t>local_coriolis_matrix</a:t>
            </a:r>
            <a:r>
              <a:rPr lang="es-PE" sz="1700" noProof="0" dirty="0">
                <a:solidFill>
                  <a:srgbClr val="2B2B2B"/>
                </a:solidFill>
                <a:latin typeface="Consolas"/>
              </a:rPr>
              <a:t>(q, qdot, ...);  % misma formula de C(q,qdot)</a:t>
            </a:r>
          </a:p>
          <a:p>
            <a:pPr algn="l">
              <a:spcBef>
                <a:spcPts val="0"/>
              </a:spcBef>
              <a:spcAft>
                <a:spcPts val="100"/>
              </a:spcAft>
            </a:pPr>
            <a:r>
              <a:rPr lang="es-PE" sz="1700" noProof="0" dirty="0">
                <a:solidFill>
                  <a:srgbClr val="2B2B2B"/>
                </a:solidFill>
                <a:latin typeface="Consolas"/>
              </a:rPr>
              <a:t>    </a:t>
            </a:r>
            <a:r>
              <a:rPr lang="es-PE" sz="1700" noProof="0" dirty="0" err="1">
                <a:solidFill>
                  <a:srgbClr val="2B2B2B"/>
                </a:solidFill>
                <a:latin typeface="Consolas"/>
              </a:rPr>
              <a:t>Gq</a:t>
            </a:r>
            <a:r>
              <a:rPr lang="es-PE" sz="1700" noProof="0" dirty="0">
                <a:solidFill>
                  <a:srgbClr val="2B2B2B"/>
                </a:solidFill>
                <a:latin typeface="Consolas"/>
              </a:rPr>
              <a:t> = </a:t>
            </a:r>
            <a:r>
              <a:rPr lang="es-PE" sz="1700" noProof="0" dirty="0" err="1">
                <a:solidFill>
                  <a:srgbClr val="2B2B2B"/>
                </a:solidFill>
                <a:latin typeface="Consolas"/>
              </a:rPr>
              <a:t>local_gravity_vector</a:t>
            </a:r>
            <a:r>
              <a:rPr lang="es-PE" sz="1700" noProof="0" dirty="0">
                <a:solidFill>
                  <a:srgbClr val="2B2B2B"/>
                </a:solidFill>
                <a:latin typeface="Consolas"/>
              </a:rPr>
              <a:t>(q, ...);   % misma formula de G(q)</a:t>
            </a:r>
          </a:p>
          <a:p>
            <a:pPr algn="l">
              <a:spcBef>
                <a:spcPts val="0"/>
              </a:spcBef>
              <a:spcAft>
                <a:spcPts val="100"/>
              </a:spcAft>
            </a:pPr>
            <a:r>
              <a:rPr lang="es-PE" sz="1700" noProof="0" dirty="0">
                <a:solidFill>
                  <a:srgbClr val="2B2B2B"/>
                </a:solidFill>
                <a:latin typeface="Consolas"/>
              </a:rPr>
              <a:t> </a:t>
            </a:r>
          </a:p>
          <a:p>
            <a:pPr algn="l">
              <a:spcBef>
                <a:spcPts val="0"/>
              </a:spcBef>
              <a:spcAft>
                <a:spcPts val="100"/>
              </a:spcAft>
            </a:pPr>
            <a:r>
              <a:rPr lang="es-PE" sz="1700" noProof="0" dirty="0">
                <a:solidFill>
                  <a:srgbClr val="2B2B2B"/>
                </a:solidFill>
                <a:latin typeface="Consolas"/>
              </a:rPr>
              <a:t>    v = qd_ddot + Kd*</a:t>
            </a:r>
            <a:r>
              <a:rPr lang="es-PE" sz="1700" noProof="0" dirty="0" err="1">
                <a:solidFill>
                  <a:srgbClr val="2B2B2B"/>
                </a:solidFill>
                <a:latin typeface="Consolas"/>
              </a:rPr>
              <a:t>edot</a:t>
            </a:r>
            <a:r>
              <a:rPr lang="es-PE" sz="1700" noProof="0" dirty="0">
                <a:solidFill>
                  <a:srgbClr val="2B2B2B"/>
                </a:solidFill>
                <a:latin typeface="Consolas"/>
              </a:rPr>
              <a:t> + Kp*e;</a:t>
            </a:r>
          </a:p>
          <a:p>
            <a:pPr algn="l">
              <a:spcBef>
                <a:spcPts val="0"/>
              </a:spcBef>
              <a:spcAft>
                <a:spcPts val="100"/>
              </a:spcAft>
            </a:pPr>
            <a:r>
              <a:rPr lang="es-PE" sz="1700" noProof="0" dirty="0">
                <a:solidFill>
                  <a:srgbClr val="2B2B2B"/>
                </a:solidFill>
                <a:latin typeface="Consolas"/>
              </a:rPr>
              <a:t>    tau = </a:t>
            </a:r>
            <a:r>
              <a:rPr lang="es-PE" sz="1700" noProof="0" dirty="0" err="1">
                <a:solidFill>
                  <a:srgbClr val="2B2B2B"/>
                </a:solidFill>
                <a:latin typeface="Consolas"/>
              </a:rPr>
              <a:t>Mq</a:t>
            </a:r>
            <a:r>
              <a:rPr lang="es-PE" sz="1700" noProof="0" dirty="0">
                <a:solidFill>
                  <a:srgbClr val="2B2B2B"/>
                </a:solidFill>
                <a:latin typeface="Consolas"/>
              </a:rPr>
              <a:t>*v + </a:t>
            </a:r>
            <a:r>
              <a:rPr lang="es-PE" sz="1700" noProof="0" dirty="0" err="1">
                <a:solidFill>
                  <a:srgbClr val="2B2B2B"/>
                </a:solidFill>
                <a:latin typeface="Consolas"/>
              </a:rPr>
              <a:t>Cq</a:t>
            </a:r>
            <a:r>
              <a:rPr lang="es-PE" sz="1700" noProof="0" dirty="0">
                <a:solidFill>
                  <a:srgbClr val="2B2B2B"/>
                </a:solidFill>
                <a:latin typeface="Consolas"/>
              </a:rPr>
              <a:t>*qdot + </a:t>
            </a:r>
            <a:r>
              <a:rPr lang="es-PE" sz="1700" noProof="0" dirty="0" err="1">
                <a:solidFill>
                  <a:srgbClr val="2B2B2B"/>
                </a:solidFill>
                <a:latin typeface="Consolas"/>
              </a:rPr>
              <a:t>Gq</a:t>
            </a:r>
            <a:r>
              <a:rPr lang="es-PE" sz="1700" noProof="0" dirty="0">
                <a:solidFill>
                  <a:srgbClr val="2B2B2B"/>
                </a:solidFill>
                <a:latin typeface="Consolas"/>
              </a:rPr>
              <a:t>;</a:t>
            </a:r>
          </a:p>
          <a:p>
            <a:pPr algn="l">
              <a:spcBef>
                <a:spcPts val="0"/>
              </a:spcBef>
              <a:spcAft>
                <a:spcPts val="100"/>
              </a:spcAft>
            </a:pPr>
            <a:r>
              <a:rPr lang="es-PE" sz="1700" b="1" noProof="0" dirty="0">
                <a:solidFill>
                  <a:srgbClr val="990011"/>
                </a:solidFill>
                <a:latin typeface="Consolas"/>
              </a:rPr>
              <a:t>end</a:t>
            </a:r>
          </a:p>
        </p:txBody>
      </p:sp>
      <p:sp>
        <p:nvSpPr>
          <p:cNvPr id="7" name="TextBox 6"/>
          <p:cNvSpPr txBox="1"/>
          <p:nvPr/>
        </p:nvSpPr>
        <p:spPr>
          <a:xfrm>
            <a:off x="548640" y="5486400"/>
            <a:ext cx="11064240" cy="640080"/>
          </a:xfrm>
          <a:prstGeom prst="rect">
            <a:avLst/>
          </a:prstGeom>
          <a:noFill/>
        </p:spPr>
        <p:txBody>
          <a:bodyPr wrap="square" lIns="0" tIns="0" rIns="0" bIns="0">
            <a:spAutoFit/>
          </a:bodyPr>
          <a:lstStyle/>
          <a:p>
            <a:pPr algn="l"/>
            <a:r>
              <a:rPr lang="es-PE" sz="1200" b="0" i="1" noProof="0" dirty="0">
                <a:solidFill>
                  <a:srgbClr val="6E6E6E"/>
                </a:solidFill>
                <a:latin typeface="Calibri"/>
              </a:rPr>
              <a:t>Nota: PID_NoLineal y PD_Precomp son bloques hermanos (</a:t>
            </a:r>
            <a:r>
              <a:rPr lang="es-PE" sz="1200" b="0" i="1" noProof="0" dirty="0" err="1">
                <a:solidFill>
                  <a:srgbClr val="6E6E6E"/>
                </a:solidFill>
                <a:latin typeface="Calibri"/>
              </a:rPr>
              <a:t>mlfb_pid_nolineal.m</a:t>
            </a:r>
            <a:r>
              <a:rPr lang="es-PE" sz="1200" b="0" i="1" noProof="0" dirty="0">
                <a:solidFill>
                  <a:srgbClr val="6E6E6E"/>
                </a:solidFill>
                <a:latin typeface="Calibri"/>
              </a:rPr>
              <a:t>, </a:t>
            </a:r>
            <a:r>
              <a:rPr lang="es-PE" sz="1200" b="0" i="1" noProof="0" dirty="0" err="1">
                <a:solidFill>
                  <a:srgbClr val="6E6E6E"/>
                </a:solidFill>
                <a:latin typeface="Calibri"/>
              </a:rPr>
              <a:t>mlfb_pd_precomp.m</a:t>
            </a:r>
            <a:r>
              <a:rPr lang="es-PE" sz="1200" b="0" i="1" noProof="0" dirty="0">
                <a:solidFill>
                  <a:srgbClr val="6E6E6E"/>
                </a:solidFill>
                <a:latin typeface="Calibri"/>
              </a:rPr>
              <a:t>) con la misma estructura y las mismas funciones locales de M, C, G.</a:t>
            </a:r>
          </a:p>
        </p:txBody>
      </p:sp>
      <p:sp>
        <p:nvSpPr>
          <p:cNvPr id="8" name="TextBox 7"/>
          <p:cNvSpPr txBox="1"/>
          <p:nvPr/>
        </p:nvSpPr>
        <p:spPr>
          <a:xfrm>
            <a:off x="548640" y="6263640"/>
            <a:ext cx="11064240" cy="274320"/>
          </a:xfrm>
          <a:prstGeom prst="rect">
            <a:avLst/>
          </a:prstGeom>
          <a:noFill/>
        </p:spPr>
        <p:txBody>
          <a:bodyPr wrap="square" lIns="0" tIns="0" rIns="0" bIns="0">
            <a:spAutoFit/>
          </a:bodyPr>
          <a:lstStyle/>
          <a:p>
            <a:pPr algn="l"/>
            <a:r>
              <a:rPr lang="es-PE" sz="1200" b="0" i="0" noProof="0" dirty="0">
                <a:solidFill>
                  <a:srgbClr val="6E6E6E"/>
                </a:solidFill>
                <a:latin typeface="Calibri"/>
              </a:rPr>
              <a:t>Archivo: 01_codigo_final/</a:t>
            </a:r>
            <a:r>
              <a:rPr lang="es-PE" sz="1200" b="0" i="0" noProof="0" dirty="0" err="1">
                <a:solidFill>
                  <a:srgbClr val="6E6E6E"/>
                </a:solidFill>
                <a:latin typeface="Calibri"/>
              </a:rPr>
              <a:t>simulink_blocks</a:t>
            </a:r>
            <a:r>
              <a:rPr lang="es-PE" sz="1200" b="0" i="0" noProof="0" dirty="0">
                <a:solidFill>
                  <a:srgbClr val="6E6E6E"/>
                </a:solidFill>
                <a:latin typeface="Calibri"/>
              </a:rPr>
              <a:t>/</a:t>
            </a:r>
            <a:r>
              <a:rPr lang="es-PE" sz="1200" b="0" i="0" noProof="0" dirty="0" err="1">
                <a:solidFill>
                  <a:srgbClr val="6E6E6E"/>
                </a:solidFill>
                <a:latin typeface="Calibri"/>
              </a:rPr>
              <a:t>mlfb_par_calculado.m</a:t>
            </a:r>
            <a:endParaRPr lang="es-PE" sz="1200" b="0" i="0" noProof="0" dirty="0">
              <a:solidFill>
                <a:srgbClr val="6E6E6E"/>
              </a:solidFill>
              <a:latin typeface="Calibri"/>
            </a:endParaRPr>
          </a:p>
        </p:txBody>
      </p:sp>
      <p:sp>
        <p:nvSpPr>
          <p:cNvPr id="9" name="TextBox 8"/>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s-PE" sz="1100" b="1" kern="0" spc="300" noProof="0" dirty="0">
                <a:solidFill>
                  <a:srgbClr val="6E6E6E"/>
                </a:solidFill>
                <a:latin typeface="Calibri" pitchFamily="34" charset="0"/>
                <a:ea typeface="Calibri" pitchFamily="34" charset="-122"/>
                <a:cs typeface="Calibri" pitchFamily="34" charset="-120"/>
              </a:rPr>
              <a:t>3 · IMPLEMENTACIÓN EN SIMULINK</a:t>
            </a:r>
            <a:endParaRPr lang="es-PE" sz="1100" noProof="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s-PE" sz="2700" b="1" noProof="0" dirty="0">
                <a:solidFill>
                  <a:srgbClr val="990011"/>
                </a:solidFill>
                <a:latin typeface="Cambria" pitchFamily="34" charset="0"/>
                <a:ea typeface="Cambria" pitchFamily="34" charset="-122"/>
                <a:cs typeface="Cambria" pitchFamily="34" charset="-120"/>
              </a:rPr>
              <a:t>Tres subsistemas, misma planta y misma referencia</a:t>
            </a:r>
            <a:endParaRPr lang="es-PE" sz="2700" noProof="0" dirty="0"/>
          </a:p>
        </p:txBody>
      </p:sp>
      <p:sp>
        <p:nvSpPr>
          <p:cNvPr id="4" name="Text 2"/>
          <p:cNvSpPr/>
          <p:nvPr/>
        </p:nvSpPr>
        <p:spPr>
          <a:xfrm>
            <a:off x="548640" y="1600200"/>
            <a:ext cx="5486400" cy="1371600"/>
          </a:xfrm>
          <a:prstGeom prst="rect">
            <a:avLst/>
          </a:prstGeom>
          <a:noFill/>
          <a:ln/>
        </p:spPr>
        <p:txBody>
          <a:bodyPr wrap="square" lIns="0" tIns="0" rIns="0" bIns="0" rtlCol="0" anchor="t"/>
          <a:lstStyle/>
          <a:p>
            <a:pPr marL="0" indent="0">
              <a:lnSpc>
                <a:spcPct val="105000"/>
              </a:lnSpc>
              <a:buNone/>
            </a:pPr>
            <a:r>
              <a:rPr lang="es-PE" sz="1350" noProof="0" dirty="0">
                <a:solidFill>
                  <a:srgbClr val="2B2B2B"/>
                </a:solidFill>
                <a:latin typeface="Calibri" pitchFamily="34" charset="0"/>
                <a:ea typeface="Calibri" pitchFamily="34" charset="-122"/>
                <a:cs typeface="Calibri" pitchFamily="34" charset="-120"/>
              </a:rPr>
              <a:t>Cada controlador es un subsistema independiente, simulado con la misma trayectoria qd(t) para una comparación justa. La planta y los controladores son bloques MATLAB Function con código numérico puro (sin toolbox simbólico).</a:t>
            </a:r>
            <a:endParaRPr lang="es-PE" sz="1350" noProof="0" dirty="0"/>
          </a:p>
        </p:txBody>
      </p:sp>
      <p:sp>
        <p:nvSpPr>
          <p:cNvPr id="5" name="Shape 3"/>
          <p:cNvSpPr/>
          <p:nvPr/>
        </p:nvSpPr>
        <p:spPr>
          <a:xfrm>
            <a:off x="548640" y="3063240"/>
            <a:ext cx="5486400" cy="457200"/>
          </a:xfrm>
          <a:prstGeom prst="roundRect">
            <a:avLst>
              <a:gd name="adj" fmla="val 12000"/>
            </a:avLst>
          </a:prstGeom>
          <a:solidFill>
            <a:srgbClr val="FCF6F5"/>
          </a:solidFill>
          <a:ln w="12700">
            <a:solidFill>
              <a:srgbClr val="D9C7C6"/>
            </a:solidFill>
            <a:prstDash val="solid"/>
          </a:ln>
        </p:spPr>
        <p:txBody>
          <a:bodyPr/>
          <a:lstStyle/>
          <a:p>
            <a:endParaRPr lang="es-PE" sz="3200" noProof="0" dirty="0"/>
          </a:p>
        </p:txBody>
      </p:sp>
      <p:sp>
        <p:nvSpPr>
          <p:cNvPr id="6" name="Text 4"/>
          <p:cNvSpPr/>
          <p:nvPr/>
        </p:nvSpPr>
        <p:spPr>
          <a:xfrm>
            <a:off x="731520" y="3063240"/>
            <a:ext cx="5120640" cy="457200"/>
          </a:xfrm>
          <a:prstGeom prst="rect">
            <a:avLst/>
          </a:prstGeom>
          <a:noFill/>
          <a:ln/>
        </p:spPr>
        <p:txBody>
          <a:bodyPr wrap="square" lIns="0" tIns="0" rIns="0" bIns="0" rtlCol="0" anchor="ctr"/>
          <a:lstStyle/>
          <a:p>
            <a:pPr marL="0" indent="0">
              <a:buNone/>
            </a:pPr>
            <a:r>
              <a:rPr lang="es-PE" noProof="0" dirty="0">
                <a:solidFill>
                  <a:srgbClr val="2B2B2B"/>
                </a:solidFill>
                <a:latin typeface="Calibri" pitchFamily="34" charset="0"/>
                <a:ea typeface="Calibri" pitchFamily="34" charset="-122"/>
                <a:cs typeface="Calibri" pitchFamily="34" charset="-120"/>
              </a:rPr>
              <a:t>qd, q̇d, q̈d  (From Workspace)</a:t>
            </a:r>
            <a:endParaRPr lang="es-PE" noProof="0" dirty="0"/>
          </a:p>
        </p:txBody>
      </p:sp>
      <p:sp>
        <p:nvSpPr>
          <p:cNvPr id="7" name="Shape 5"/>
          <p:cNvSpPr/>
          <p:nvPr/>
        </p:nvSpPr>
        <p:spPr>
          <a:xfrm>
            <a:off x="548640" y="3639312"/>
            <a:ext cx="5486400" cy="457200"/>
          </a:xfrm>
          <a:prstGeom prst="roundRect">
            <a:avLst>
              <a:gd name="adj" fmla="val 12000"/>
            </a:avLst>
          </a:prstGeom>
          <a:solidFill>
            <a:srgbClr val="FCF6F5"/>
          </a:solidFill>
          <a:ln w="12700">
            <a:solidFill>
              <a:srgbClr val="D9C7C6"/>
            </a:solidFill>
            <a:prstDash val="solid"/>
          </a:ln>
        </p:spPr>
        <p:txBody>
          <a:bodyPr/>
          <a:lstStyle/>
          <a:p>
            <a:endParaRPr lang="es-PE" sz="3200" noProof="0" dirty="0"/>
          </a:p>
        </p:txBody>
      </p:sp>
      <p:sp>
        <p:nvSpPr>
          <p:cNvPr id="8" name="Text 6"/>
          <p:cNvSpPr/>
          <p:nvPr/>
        </p:nvSpPr>
        <p:spPr>
          <a:xfrm>
            <a:off x="731520" y="3639312"/>
            <a:ext cx="5120640" cy="457200"/>
          </a:xfrm>
          <a:prstGeom prst="rect">
            <a:avLst/>
          </a:prstGeom>
          <a:noFill/>
          <a:ln/>
        </p:spPr>
        <p:txBody>
          <a:bodyPr wrap="square" lIns="0" tIns="0" rIns="0" bIns="0" rtlCol="0" anchor="ctr"/>
          <a:lstStyle/>
          <a:p>
            <a:pPr marL="0" indent="0">
              <a:buNone/>
            </a:pPr>
            <a:r>
              <a:rPr lang="es-PE" noProof="0" dirty="0">
                <a:solidFill>
                  <a:srgbClr val="2B2B2B"/>
                </a:solidFill>
                <a:latin typeface="Calibri" pitchFamily="34" charset="0"/>
                <a:ea typeface="Calibri" pitchFamily="34" charset="-122"/>
                <a:cs typeface="Calibri" pitchFamily="34" charset="-120"/>
              </a:rPr>
              <a:t>Controlador (MATLAB Function) → τ</a:t>
            </a:r>
            <a:endParaRPr lang="es-PE" noProof="0" dirty="0"/>
          </a:p>
        </p:txBody>
      </p:sp>
      <p:sp>
        <p:nvSpPr>
          <p:cNvPr id="9" name="Shape 7"/>
          <p:cNvSpPr/>
          <p:nvPr/>
        </p:nvSpPr>
        <p:spPr>
          <a:xfrm>
            <a:off x="548640" y="4215384"/>
            <a:ext cx="5486400" cy="457200"/>
          </a:xfrm>
          <a:prstGeom prst="roundRect">
            <a:avLst>
              <a:gd name="adj" fmla="val 12000"/>
            </a:avLst>
          </a:prstGeom>
          <a:solidFill>
            <a:srgbClr val="FCF6F5"/>
          </a:solidFill>
          <a:ln w="12700">
            <a:solidFill>
              <a:srgbClr val="D9C7C6"/>
            </a:solidFill>
            <a:prstDash val="solid"/>
          </a:ln>
        </p:spPr>
        <p:txBody>
          <a:bodyPr/>
          <a:lstStyle/>
          <a:p>
            <a:endParaRPr lang="es-PE" sz="3200" noProof="0" dirty="0"/>
          </a:p>
        </p:txBody>
      </p:sp>
      <p:sp>
        <p:nvSpPr>
          <p:cNvPr id="10" name="Text 8"/>
          <p:cNvSpPr/>
          <p:nvPr/>
        </p:nvSpPr>
        <p:spPr>
          <a:xfrm>
            <a:off x="731520" y="4215384"/>
            <a:ext cx="5120640" cy="457200"/>
          </a:xfrm>
          <a:prstGeom prst="rect">
            <a:avLst/>
          </a:prstGeom>
          <a:noFill/>
          <a:ln/>
        </p:spPr>
        <p:txBody>
          <a:bodyPr wrap="square" lIns="0" tIns="0" rIns="0" bIns="0" rtlCol="0" anchor="ctr"/>
          <a:lstStyle/>
          <a:p>
            <a:pPr marL="0" indent="0">
              <a:buNone/>
            </a:pPr>
            <a:r>
              <a:rPr lang="es-PE" noProof="0" dirty="0">
                <a:solidFill>
                  <a:srgbClr val="2B2B2B"/>
                </a:solidFill>
                <a:latin typeface="Calibri" pitchFamily="34" charset="0"/>
                <a:ea typeface="Calibri" pitchFamily="34" charset="-122"/>
                <a:cs typeface="Calibri" pitchFamily="34" charset="-120"/>
              </a:rPr>
              <a:t>Saturación ±[80, 80, 60] N·m</a:t>
            </a:r>
            <a:endParaRPr lang="es-PE" noProof="0" dirty="0"/>
          </a:p>
        </p:txBody>
      </p:sp>
      <p:sp>
        <p:nvSpPr>
          <p:cNvPr id="11" name="Shape 9"/>
          <p:cNvSpPr/>
          <p:nvPr/>
        </p:nvSpPr>
        <p:spPr>
          <a:xfrm>
            <a:off x="548640" y="4791456"/>
            <a:ext cx="5486400" cy="457200"/>
          </a:xfrm>
          <a:prstGeom prst="roundRect">
            <a:avLst>
              <a:gd name="adj" fmla="val 12000"/>
            </a:avLst>
          </a:prstGeom>
          <a:solidFill>
            <a:srgbClr val="FCF6F5"/>
          </a:solidFill>
          <a:ln w="12700">
            <a:solidFill>
              <a:srgbClr val="D9C7C6"/>
            </a:solidFill>
            <a:prstDash val="solid"/>
          </a:ln>
        </p:spPr>
        <p:txBody>
          <a:bodyPr/>
          <a:lstStyle/>
          <a:p>
            <a:endParaRPr lang="es-PE" sz="3200" noProof="0" dirty="0"/>
          </a:p>
        </p:txBody>
      </p:sp>
      <p:sp>
        <p:nvSpPr>
          <p:cNvPr id="12" name="Text 10"/>
          <p:cNvSpPr/>
          <p:nvPr/>
        </p:nvSpPr>
        <p:spPr>
          <a:xfrm>
            <a:off x="731520" y="4791456"/>
            <a:ext cx="5120640" cy="457200"/>
          </a:xfrm>
          <a:prstGeom prst="rect">
            <a:avLst/>
          </a:prstGeom>
          <a:noFill/>
          <a:ln/>
        </p:spPr>
        <p:txBody>
          <a:bodyPr wrap="square" lIns="0" tIns="0" rIns="0" bIns="0" rtlCol="0" anchor="ctr"/>
          <a:lstStyle/>
          <a:p>
            <a:pPr marL="0" indent="0">
              <a:buNone/>
            </a:pPr>
            <a:r>
              <a:rPr lang="es-PE" noProof="0" dirty="0">
                <a:solidFill>
                  <a:srgbClr val="2B2B2B"/>
                </a:solidFill>
                <a:latin typeface="Calibri" pitchFamily="34" charset="0"/>
                <a:ea typeface="Calibri" pitchFamily="34" charset="-122"/>
                <a:cs typeface="Calibri" pitchFamily="34" charset="-120"/>
              </a:rPr>
              <a:t>Planta 3GDL: q̈ = M⁻¹(τ − </a:t>
            </a:r>
            <a:r>
              <a:rPr lang="es-PE" noProof="0" dirty="0" err="1">
                <a:solidFill>
                  <a:srgbClr val="2B2B2B"/>
                </a:solidFill>
                <a:latin typeface="Calibri" pitchFamily="34" charset="0"/>
                <a:ea typeface="Calibri" pitchFamily="34" charset="-122"/>
                <a:cs typeface="Calibri" pitchFamily="34" charset="-120"/>
              </a:rPr>
              <a:t>Cq</a:t>
            </a:r>
            <a:r>
              <a:rPr lang="es-PE" noProof="0" dirty="0">
                <a:solidFill>
                  <a:srgbClr val="2B2B2B"/>
                </a:solidFill>
                <a:latin typeface="Calibri" pitchFamily="34" charset="0"/>
                <a:ea typeface="Calibri" pitchFamily="34" charset="-122"/>
                <a:cs typeface="Calibri" pitchFamily="34" charset="-120"/>
              </a:rPr>
              <a:t>̇ − G)</a:t>
            </a:r>
            <a:endParaRPr lang="es-PE" noProof="0" dirty="0"/>
          </a:p>
        </p:txBody>
      </p:sp>
      <p:sp>
        <p:nvSpPr>
          <p:cNvPr id="13" name="Shape 11"/>
          <p:cNvSpPr/>
          <p:nvPr/>
        </p:nvSpPr>
        <p:spPr>
          <a:xfrm>
            <a:off x="548640" y="5367528"/>
            <a:ext cx="5486400" cy="457200"/>
          </a:xfrm>
          <a:prstGeom prst="roundRect">
            <a:avLst>
              <a:gd name="adj" fmla="val 12000"/>
            </a:avLst>
          </a:prstGeom>
          <a:solidFill>
            <a:srgbClr val="FCF6F5"/>
          </a:solidFill>
          <a:ln w="12700">
            <a:solidFill>
              <a:srgbClr val="D9C7C6"/>
            </a:solidFill>
            <a:prstDash val="solid"/>
          </a:ln>
        </p:spPr>
        <p:txBody>
          <a:bodyPr/>
          <a:lstStyle/>
          <a:p>
            <a:endParaRPr lang="es-PE" sz="3200" noProof="0" dirty="0"/>
          </a:p>
        </p:txBody>
      </p:sp>
      <p:sp>
        <p:nvSpPr>
          <p:cNvPr id="14" name="Text 12"/>
          <p:cNvSpPr/>
          <p:nvPr/>
        </p:nvSpPr>
        <p:spPr>
          <a:xfrm>
            <a:off x="731520" y="5367528"/>
            <a:ext cx="5120640" cy="457200"/>
          </a:xfrm>
          <a:prstGeom prst="rect">
            <a:avLst/>
          </a:prstGeom>
          <a:noFill/>
          <a:ln/>
        </p:spPr>
        <p:txBody>
          <a:bodyPr wrap="square" lIns="0" tIns="0" rIns="0" bIns="0" rtlCol="0" anchor="ctr"/>
          <a:lstStyle/>
          <a:p>
            <a:pPr marL="0" indent="0">
              <a:buNone/>
            </a:pPr>
            <a:r>
              <a:rPr lang="es-PE" noProof="0" dirty="0">
                <a:solidFill>
                  <a:srgbClr val="2B2B2B"/>
                </a:solidFill>
                <a:latin typeface="Calibri" pitchFamily="34" charset="0"/>
                <a:ea typeface="Calibri" pitchFamily="34" charset="-122"/>
                <a:cs typeface="Calibri" pitchFamily="34" charset="-120"/>
              </a:rPr>
              <a:t>Integradores q̈→q̇→q (realimentación)</a:t>
            </a:r>
            <a:endParaRPr lang="es-PE" noProof="0" dirty="0"/>
          </a:p>
        </p:txBody>
      </p:sp>
      <p:sp>
        <p:nvSpPr>
          <p:cNvPr id="15" name="Shape 13"/>
          <p:cNvSpPr/>
          <p:nvPr/>
        </p:nvSpPr>
        <p:spPr>
          <a:xfrm>
            <a:off x="6309360" y="1600200"/>
            <a:ext cx="5349240" cy="4480560"/>
          </a:xfrm>
          <a:prstGeom prst="roundRect">
            <a:avLst>
              <a:gd name="adj" fmla="val 1224"/>
            </a:avLst>
          </a:prstGeom>
          <a:solidFill>
            <a:srgbClr val="FCF6F5"/>
          </a:solidFill>
          <a:ln w="12700">
            <a:solidFill>
              <a:srgbClr val="D9C7C6"/>
            </a:solidFill>
            <a:prstDash val="solid"/>
          </a:ln>
        </p:spPr>
        <p:txBody>
          <a:bodyPr/>
          <a:lstStyle/>
          <a:p>
            <a:endParaRPr lang="es-PE" noProof="0" dirty="0"/>
          </a:p>
        </p:txBody>
      </p:sp>
      <p:pic>
        <p:nvPicPr>
          <p:cNvPr id="16" name="Image 0" descr="/tmp/deck/assets/scope.png"/>
          <p:cNvPicPr>
            <a:picLocks noChangeAspect="1"/>
          </p:cNvPicPr>
          <p:nvPr/>
        </p:nvPicPr>
        <p:blipFill>
          <a:blip r:embed="rId3"/>
          <a:srcRect/>
          <a:stretch/>
        </p:blipFill>
        <p:spPr>
          <a:xfrm>
            <a:off x="6446520" y="1737360"/>
            <a:ext cx="5074920" cy="3977640"/>
          </a:xfrm>
          <a:prstGeom prst="rect">
            <a:avLst/>
          </a:prstGeom>
        </p:spPr>
      </p:pic>
      <p:sp>
        <p:nvSpPr>
          <p:cNvPr id="17" name="Text 14"/>
          <p:cNvSpPr/>
          <p:nvPr/>
        </p:nvSpPr>
        <p:spPr>
          <a:xfrm>
            <a:off x="6309360" y="5779008"/>
            <a:ext cx="5349240" cy="274320"/>
          </a:xfrm>
          <a:prstGeom prst="rect">
            <a:avLst/>
          </a:prstGeom>
          <a:noFill/>
          <a:ln/>
        </p:spPr>
        <p:txBody>
          <a:bodyPr wrap="square" rtlCol="0" anchor="ctr"/>
          <a:lstStyle/>
          <a:p>
            <a:pPr marL="0" indent="0" algn="ctr">
              <a:buNone/>
            </a:pPr>
            <a:r>
              <a:rPr lang="es-PE" sz="1050" i="1" noProof="0" dirty="0">
                <a:solidFill>
                  <a:srgbClr val="6E6E6E"/>
                </a:solidFill>
                <a:latin typeface="Calibri" pitchFamily="34" charset="0"/>
                <a:ea typeface="Calibri" pitchFamily="34" charset="-122"/>
                <a:cs typeface="Calibri" pitchFamily="34" charset="-120"/>
              </a:rPr>
              <a:t>Scope del par calculado en Simulink real: las 3 articulaciones convergen.</a:t>
            </a:r>
            <a:endParaRPr lang="es-PE" sz="1050" noProof="0" dirty="0"/>
          </a:p>
        </p:txBody>
      </p:sp>
      <p:sp>
        <p:nvSpPr>
          <p:cNvPr id="18" name="Text 15"/>
          <p:cNvSpPr/>
          <p:nvPr/>
        </p:nvSpPr>
        <p:spPr>
          <a:xfrm>
            <a:off x="11612880" y="6455664"/>
            <a:ext cx="457200" cy="274320"/>
          </a:xfrm>
          <a:prstGeom prst="rect">
            <a:avLst/>
          </a:prstGeom>
          <a:noFill/>
          <a:ln/>
        </p:spPr>
        <p:txBody>
          <a:bodyPr wrap="square" lIns="0" tIns="0" rIns="0" bIns="0" rtlCol="0" anchor="ctr"/>
          <a:lstStyle/>
          <a:p>
            <a:pPr marL="0" indent="0" algn="r">
              <a:buNone/>
            </a:pPr>
            <a:r>
              <a:rPr lang="es-PE" sz="1000" noProof="0" dirty="0">
                <a:solidFill>
                  <a:srgbClr val="6E6E6E"/>
                </a:solidFill>
                <a:latin typeface="Calibri" pitchFamily="34" charset="0"/>
                <a:ea typeface="Calibri" pitchFamily="34" charset="-122"/>
                <a:cs typeface="Calibri" pitchFamily="34" charset="-120"/>
              </a:rPr>
              <a:t>15</a:t>
            </a:r>
            <a:endParaRPr lang="es-PE" sz="1000" noProof="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3 · IMPLEMENTACIÓN EN SIMULINK · EVIDENCIA</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Los tres controladores en Simulink real</a:t>
            </a:r>
          </a:p>
        </p:txBody>
      </p:sp>
      <p:pic>
        <p:nvPicPr>
          <p:cNvPr id="4" name="Picture 3" descr="01_Scope_PID_NoLineal.png"/>
          <p:cNvPicPr>
            <a:picLocks noChangeAspect="1"/>
          </p:cNvPicPr>
          <p:nvPr/>
        </p:nvPicPr>
        <p:blipFill>
          <a:blip r:embed="rId3"/>
          <a:stretch>
            <a:fillRect/>
          </a:stretch>
        </p:blipFill>
        <p:spPr>
          <a:xfrm>
            <a:off x="548639" y="2000000"/>
            <a:ext cx="8099601" cy="4179998"/>
          </a:xfrm>
          <a:prstGeom prst="rect">
            <a:avLst/>
          </a:prstGeom>
        </p:spPr>
      </p:pic>
      <p:sp>
        <p:nvSpPr>
          <p:cNvPr id="5" name="TextBox 4"/>
          <p:cNvSpPr txBox="1"/>
          <p:nvPr/>
        </p:nvSpPr>
        <p:spPr>
          <a:xfrm>
            <a:off x="548640" y="1807976"/>
            <a:ext cx="3576218" cy="169277"/>
          </a:xfrm>
          <a:prstGeom prst="rect">
            <a:avLst/>
          </a:prstGeom>
          <a:noFill/>
        </p:spPr>
        <p:txBody>
          <a:bodyPr wrap="square" lIns="0" tIns="0" rIns="0" bIns="0">
            <a:spAutoFit/>
          </a:bodyPr>
          <a:lstStyle/>
          <a:p>
            <a:pPr algn="just"/>
            <a:r>
              <a:rPr lang="es-PE" sz="1100" b="1" i="1" noProof="0" dirty="0">
                <a:solidFill>
                  <a:srgbClr val="6E6E6E"/>
                </a:solidFill>
                <a:latin typeface="Calibri"/>
              </a:rPr>
              <a:t>Scope PID no lineal</a:t>
            </a:r>
          </a:p>
        </p:txBody>
      </p:sp>
      <p:sp>
        <p:nvSpPr>
          <p:cNvPr id="10" name="TextBox 9"/>
          <p:cNvSpPr txBox="1"/>
          <p:nvPr/>
        </p:nvSpPr>
        <p:spPr>
          <a:xfrm>
            <a:off x="548640" y="6263640"/>
            <a:ext cx="11064240" cy="274320"/>
          </a:xfrm>
          <a:prstGeom prst="rect">
            <a:avLst/>
          </a:prstGeom>
          <a:noFill/>
        </p:spPr>
        <p:txBody>
          <a:bodyPr wrap="square" lIns="0" tIns="0" rIns="0" bIns="0">
            <a:spAutoFit/>
          </a:bodyPr>
          <a:lstStyle/>
          <a:p>
            <a:pPr algn="l"/>
            <a:r>
              <a:rPr lang="es-PE" sz="1100" b="0" i="0" noProof="0" dirty="0">
                <a:solidFill>
                  <a:srgbClr val="6E6E6E"/>
                </a:solidFill>
                <a:latin typeface="Calibri"/>
              </a:rPr>
              <a:t>Las tres articulaciones convergen en los tres subsistemas, corriendo en Simulink real.</a:t>
            </a:r>
          </a:p>
        </p:txBody>
      </p:sp>
      <p:sp>
        <p:nvSpPr>
          <p:cNvPr id="11" name="TextBox 10"/>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4B8F1-E323-8F33-349E-6C08DA24DFB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F13F13-9586-11F7-7957-D4319C57A1CA}"/>
              </a:ext>
            </a:extLst>
          </p:cNvPr>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3 · IMPLEMENTACIÓN EN SIMULINK · EVIDENCIA</a:t>
            </a:r>
          </a:p>
        </p:txBody>
      </p:sp>
      <p:sp>
        <p:nvSpPr>
          <p:cNvPr id="3" name="TextBox 2">
            <a:extLst>
              <a:ext uri="{FF2B5EF4-FFF2-40B4-BE49-F238E27FC236}">
                <a16:creationId xmlns:a16="http://schemas.microsoft.com/office/drawing/2014/main" id="{B595F0D3-8839-95E3-B5DF-5D3B3C15A679}"/>
              </a:ext>
            </a:extLst>
          </p:cNvPr>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Los tres controladores en Simulink real</a:t>
            </a:r>
          </a:p>
        </p:txBody>
      </p:sp>
      <p:pic>
        <p:nvPicPr>
          <p:cNvPr id="6" name="Picture 5" descr="02_Scope_PD_Precomp.png">
            <a:extLst>
              <a:ext uri="{FF2B5EF4-FFF2-40B4-BE49-F238E27FC236}">
                <a16:creationId xmlns:a16="http://schemas.microsoft.com/office/drawing/2014/main" id="{DB4313D1-2AFC-20F6-F1FD-621C8D6484A4}"/>
              </a:ext>
            </a:extLst>
          </p:cNvPr>
          <p:cNvPicPr>
            <a:picLocks noChangeAspect="1"/>
          </p:cNvPicPr>
          <p:nvPr/>
        </p:nvPicPr>
        <p:blipFill>
          <a:blip r:embed="rId3"/>
          <a:stretch>
            <a:fillRect/>
          </a:stretch>
        </p:blipFill>
        <p:spPr>
          <a:xfrm>
            <a:off x="548946" y="2000000"/>
            <a:ext cx="7989125" cy="4250735"/>
          </a:xfrm>
          <a:prstGeom prst="rect">
            <a:avLst/>
          </a:prstGeom>
        </p:spPr>
      </p:pic>
      <p:sp>
        <p:nvSpPr>
          <p:cNvPr id="7" name="TextBox 6">
            <a:extLst>
              <a:ext uri="{FF2B5EF4-FFF2-40B4-BE49-F238E27FC236}">
                <a16:creationId xmlns:a16="http://schemas.microsoft.com/office/drawing/2014/main" id="{477F4F79-BC4C-1EED-994C-F6589CAF20C8}"/>
              </a:ext>
            </a:extLst>
          </p:cNvPr>
          <p:cNvSpPr txBox="1"/>
          <p:nvPr/>
        </p:nvSpPr>
        <p:spPr>
          <a:xfrm>
            <a:off x="548640" y="1807976"/>
            <a:ext cx="3576218" cy="169277"/>
          </a:xfrm>
          <a:prstGeom prst="rect">
            <a:avLst/>
          </a:prstGeom>
          <a:noFill/>
        </p:spPr>
        <p:txBody>
          <a:bodyPr wrap="square" lIns="0" tIns="0" rIns="0" bIns="0">
            <a:spAutoFit/>
          </a:bodyPr>
          <a:lstStyle/>
          <a:p>
            <a:pPr algn="just"/>
            <a:r>
              <a:rPr lang="es-PE" sz="1100" b="1" i="1" noProof="0" dirty="0">
                <a:solidFill>
                  <a:srgbClr val="6E6E6E"/>
                </a:solidFill>
                <a:latin typeface="Calibri"/>
              </a:rPr>
              <a:t>Scope PD precompensado</a:t>
            </a:r>
          </a:p>
        </p:txBody>
      </p:sp>
      <p:sp>
        <p:nvSpPr>
          <p:cNvPr id="10" name="TextBox 9">
            <a:extLst>
              <a:ext uri="{FF2B5EF4-FFF2-40B4-BE49-F238E27FC236}">
                <a16:creationId xmlns:a16="http://schemas.microsoft.com/office/drawing/2014/main" id="{6E141F33-BC3F-0F91-9E45-4462FCB7371C}"/>
              </a:ext>
            </a:extLst>
          </p:cNvPr>
          <p:cNvSpPr txBox="1"/>
          <p:nvPr/>
        </p:nvSpPr>
        <p:spPr>
          <a:xfrm>
            <a:off x="548640" y="6263640"/>
            <a:ext cx="11064240" cy="274320"/>
          </a:xfrm>
          <a:prstGeom prst="rect">
            <a:avLst/>
          </a:prstGeom>
          <a:noFill/>
        </p:spPr>
        <p:txBody>
          <a:bodyPr wrap="square" lIns="0" tIns="0" rIns="0" bIns="0">
            <a:spAutoFit/>
          </a:bodyPr>
          <a:lstStyle/>
          <a:p>
            <a:pPr algn="l"/>
            <a:r>
              <a:rPr lang="es-PE" sz="1100" b="0" i="0" noProof="0" dirty="0">
                <a:solidFill>
                  <a:srgbClr val="6E6E6E"/>
                </a:solidFill>
                <a:latin typeface="Calibri"/>
              </a:rPr>
              <a:t>Las tres articulaciones convergen en los tres subsistemas, corriendo en Simulink real.</a:t>
            </a:r>
          </a:p>
        </p:txBody>
      </p:sp>
      <p:sp>
        <p:nvSpPr>
          <p:cNvPr id="11" name="TextBox 10">
            <a:extLst>
              <a:ext uri="{FF2B5EF4-FFF2-40B4-BE49-F238E27FC236}">
                <a16:creationId xmlns:a16="http://schemas.microsoft.com/office/drawing/2014/main" id="{634C9365-B534-0E5E-D9CD-29B3EFE2642E}"/>
              </a:ext>
            </a:extLst>
          </p:cNvPr>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17</a:t>
            </a:r>
          </a:p>
        </p:txBody>
      </p:sp>
    </p:spTree>
    <p:extLst>
      <p:ext uri="{BB962C8B-B14F-4D97-AF65-F5344CB8AC3E}">
        <p14:creationId xmlns:p14="http://schemas.microsoft.com/office/powerpoint/2010/main" val="2493888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88544-D12C-B7A3-6B4E-979B053EC7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47CF9AD-BDEE-8109-9D9E-A8F0385FD4FE}"/>
              </a:ext>
            </a:extLst>
          </p:cNvPr>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3 · IMPLEMENTACIÓN EN SIMULINK · EVIDENCIA</a:t>
            </a:r>
          </a:p>
        </p:txBody>
      </p:sp>
      <p:sp>
        <p:nvSpPr>
          <p:cNvPr id="3" name="TextBox 2">
            <a:extLst>
              <a:ext uri="{FF2B5EF4-FFF2-40B4-BE49-F238E27FC236}">
                <a16:creationId xmlns:a16="http://schemas.microsoft.com/office/drawing/2014/main" id="{5B439CE9-6E45-54DD-F8DA-45EEAEF21B26}"/>
              </a:ext>
            </a:extLst>
          </p:cNvPr>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Los tres controladores en Simulink real</a:t>
            </a:r>
          </a:p>
        </p:txBody>
      </p:sp>
      <p:pic>
        <p:nvPicPr>
          <p:cNvPr id="8" name="Picture 7" descr="image.png">
            <a:extLst>
              <a:ext uri="{FF2B5EF4-FFF2-40B4-BE49-F238E27FC236}">
                <a16:creationId xmlns:a16="http://schemas.microsoft.com/office/drawing/2014/main" id="{2DD24A76-9B2E-59F4-BAD0-4B0804C341B2}"/>
              </a:ext>
            </a:extLst>
          </p:cNvPr>
          <p:cNvPicPr>
            <a:picLocks noChangeAspect="1"/>
          </p:cNvPicPr>
          <p:nvPr/>
        </p:nvPicPr>
        <p:blipFill>
          <a:blip r:embed="rId3"/>
          <a:stretch>
            <a:fillRect/>
          </a:stretch>
        </p:blipFill>
        <p:spPr>
          <a:xfrm>
            <a:off x="548639" y="2045720"/>
            <a:ext cx="7978415" cy="4227765"/>
          </a:xfrm>
          <a:prstGeom prst="rect">
            <a:avLst/>
          </a:prstGeom>
        </p:spPr>
      </p:pic>
      <p:sp>
        <p:nvSpPr>
          <p:cNvPr id="9" name="TextBox 8">
            <a:extLst>
              <a:ext uri="{FF2B5EF4-FFF2-40B4-BE49-F238E27FC236}">
                <a16:creationId xmlns:a16="http://schemas.microsoft.com/office/drawing/2014/main" id="{B31D1D60-CD2B-334B-53A7-BE2247C44083}"/>
              </a:ext>
            </a:extLst>
          </p:cNvPr>
          <p:cNvSpPr txBox="1"/>
          <p:nvPr/>
        </p:nvSpPr>
        <p:spPr>
          <a:xfrm>
            <a:off x="548640" y="1908560"/>
            <a:ext cx="3576218" cy="169277"/>
          </a:xfrm>
          <a:prstGeom prst="rect">
            <a:avLst/>
          </a:prstGeom>
          <a:noFill/>
        </p:spPr>
        <p:txBody>
          <a:bodyPr wrap="square" lIns="0" tIns="0" rIns="0" bIns="0">
            <a:spAutoFit/>
          </a:bodyPr>
          <a:lstStyle/>
          <a:p>
            <a:pPr algn="just"/>
            <a:r>
              <a:rPr lang="es-PE" sz="1100" b="1" i="1" noProof="0" dirty="0">
                <a:solidFill>
                  <a:srgbClr val="6E6E6E"/>
                </a:solidFill>
                <a:latin typeface="Calibri"/>
              </a:rPr>
              <a:t>Scope Par calculado</a:t>
            </a:r>
          </a:p>
        </p:txBody>
      </p:sp>
      <p:sp>
        <p:nvSpPr>
          <p:cNvPr id="10" name="TextBox 9">
            <a:extLst>
              <a:ext uri="{FF2B5EF4-FFF2-40B4-BE49-F238E27FC236}">
                <a16:creationId xmlns:a16="http://schemas.microsoft.com/office/drawing/2014/main" id="{D5D74A85-E238-018C-6413-A1035B6C993E}"/>
              </a:ext>
            </a:extLst>
          </p:cNvPr>
          <p:cNvSpPr txBox="1"/>
          <p:nvPr/>
        </p:nvSpPr>
        <p:spPr>
          <a:xfrm>
            <a:off x="548640" y="6263640"/>
            <a:ext cx="11064240" cy="274320"/>
          </a:xfrm>
          <a:prstGeom prst="rect">
            <a:avLst/>
          </a:prstGeom>
          <a:noFill/>
        </p:spPr>
        <p:txBody>
          <a:bodyPr wrap="square" lIns="0" tIns="0" rIns="0" bIns="0">
            <a:spAutoFit/>
          </a:bodyPr>
          <a:lstStyle/>
          <a:p>
            <a:pPr algn="l"/>
            <a:r>
              <a:rPr lang="es-PE" sz="1100" b="0" i="0" noProof="0" dirty="0">
                <a:solidFill>
                  <a:srgbClr val="6E6E6E"/>
                </a:solidFill>
                <a:latin typeface="Calibri"/>
              </a:rPr>
              <a:t>Las tres articulaciones convergen en los tres subsistemas, corriendo en Simulink real.</a:t>
            </a:r>
          </a:p>
        </p:txBody>
      </p:sp>
      <p:sp>
        <p:nvSpPr>
          <p:cNvPr id="11" name="TextBox 10">
            <a:extLst>
              <a:ext uri="{FF2B5EF4-FFF2-40B4-BE49-F238E27FC236}">
                <a16:creationId xmlns:a16="http://schemas.microsoft.com/office/drawing/2014/main" id="{6A45C27B-1DC5-0A5D-01B3-472F34A00182}"/>
              </a:ext>
            </a:extLst>
          </p:cNvPr>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18</a:t>
            </a:r>
          </a:p>
        </p:txBody>
      </p:sp>
    </p:spTree>
    <p:extLst>
      <p:ext uri="{BB962C8B-B14F-4D97-AF65-F5344CB8AC3E}">
        <p14:creationId xmlns:p14="http://schemas.microsoft.com/office/powerpoint/2010/main" val="23472184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s-PE" sz="1100" b="1" kern="0" spc="300" noProof="0" dirty="0">
                <a:solidFill>
                  <a:srgbClr val="6E6E6E"/>
                </a:solidFill>
                <a:latin typeface="Calibri" pitchFamily="34" charset="0"/>
                <a:ea typeface="Calibri" pitchFamily="34" charset="-122"/>
                <a:cs typeface="Calibri" pitchFamily="34" charset="-120"/>
              </a:rPr>
              <a:t>3 · RESULTADOS COMPARATIVOS</a:t>
            </a:r>
            <a:endParaRPr lang="es-PE" sz="1100" noProof="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s-PE" sz="2700" b="1" noProof="0" dirty="0">
                <a:solidFill>
                  <a:srgbClr val="990011"/>
                </a:solidFill>
                <a:latin typeface="Cambria" pitchFamily="34" charset="0"/>
                <a:ea typeface="Cambria" pitchFamily="34" charset="-122"/>
                <a:cs typeface="Cambria" pitchFamily="34" charset="-120"/>
              </a:rPr>
              <a:t>El par calculado converge antes y con menos torque</a:t>
            </a:r>
            <a:endParaRPr lang="es-PE" sz="2700" noProof="0" dirty="0"/>
          </a:p>
        </p:txBody>
      </p:sp>
      <p:graphicFrame>
        <p:nvGraphicFramePr>
          <p:cNvPr id="15" name="Table 0"/>
          <p:cNvGraphicFramePr>
            <a:graphicFrameLocks noGrp="1"/>
          </p:cNvGraphicFramePr>
          <p:nvPr>
            <p:extLst>
              <p:ext uri="{D42A27DB-BD31-4B8C-83A1-F6EECF244321}">
                <p14:modId xmlns:p14="http://schemas.microsoft.com/office/powerpoint/2010/main" val="2774813786"/>
              </p:ext>
            </p:extLst>
          </p:nvPr>
        </p:nvGraphicFramePr>
        <p:xfrm>
          <a:off x="548639" y="1356094"/>
          <a:ext cx="4717424" cy="2753834"/>
        </p:xfrm>
        <a:graphic>
          <a:graphicData uri="http://schemas.openxmlformats.org/drawingml/2006/table">
            <a:tbl>
              <a:tblPr/>
              <a:tblGrid>
                <a:gridCol w="1365570">
                  <a:extLst>
                    <a:ext uri="{9D8B030D-6E8A-4147-A177-3AD203B41FA5}">
                      <a16:colId xmlns:a16="http://schemas.microsoft.com/office/drawing/2014/main" val="20000"/>
                    </a:ext>
                  </a:extLst>
                </a:gridCol>
                <a:gridCol w="837963">
                  <a:extLst>
                    <a:ext uri="{9D8B030D-6E8A-4147-A177-3AD203B41FA5}">
                      <a16:colId xmlns:a16="http://schemas.microsoft.com/office/drawing/2014/main" val="20001"/>
                    </a:ext>
                  </a:extLst>
                </a:gridCol>
                <a:gridCol w="713821">
                  <a:extLst>
                    <a:ext uri="{9D8B030D-6E8A-4147-A177-3AD203B41FA5}">
                      <a16:colId xmlns:a16="http://schemas.microsoft.com/office/drawing/2014/main" val="20002"/>
                    </a:ext>
                  </a:extLst>
                </a:gridCol>
                <a:gridCol w="900035">
                  <a:extLst>
                    <a:ext uri="{9D8B030D-6E8A-4147-A177-3AD203B41FA5}">
                      <a16:colId xmlns:a16="http://schemas.microsoft.com/office/drawing/2014/main" val="20003"/>
                    </a:ext>
                  </a:extLst>
                </a:gridCol>
                <a:gridCol w="900035">
                  <a:extLst>
                    <a:ext uri="{9D8B030D-6E8A-4147-A177-3AD203B41FA5}">
                      <a16:colId xmlns:a16="http://schemas.microsoft.com/office/drawing/2014/main" val="20004"/>
                    </a:ext>
                  </a:extLst>
                </a:gridCol>
              </a:tblGrid>
              <a:tr h="547095">
                <a:tc>
                  <a:txBody>
                    <a:bodyPr/>
                    <a:lstStyle/>
                    <a:p>
                      <a:pPr marL="0" indent="0" algn="ctr">
                        <a:buNone/>
                      </a:pPr>
                      <a:r>
                        <a:rPr lang="es-PE" sz="1150" b="1" noProof="0" dirty="0">
                          <a:solidFill>
                            <a:srgbClr val="FFFFFF"/>
                          </a:solidFill>
                          <a:latin typeface="Calibri" pitchFamily="34" charset="0"/>
                          <a:ea typeface="Calibri" pitchFamily="34" charset="-122"/>
                          <a:cs typeface="Calibri" pitchFamily="34" charset="-120"/>
                        </a:rPr>
                        <a:t>Controlador</a:t>
                      </a:r>
                      <a:endParaRPr lang="es-PE" sz="115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990011"/>
                    </a:solidFill>
                  </a:tcPr>
                </a:tc>
                <a:tc>
                  <a:txBody>
                    <a:bodyPr/>
                    <a:lstStyle/>
                    <a:p>
                      <a:pPr marL="0" indent="0" algn="ctr">
                        <a:buNone/>
                      </a:pPr>
                      <a:r>
                        <a:rPr lang="es-PE" sz="1150" b="1" noProof="0" dirty="0">
                          <a:solidFill>
                            <a:srgbClr val="FFFFFF"/>
                          </a:solidFill>
                          <a:latin typeface="Calibri" pitchFamily="34" charset="0"/>
                          <a:ea typeface="Calibri" pitchFamily="34" charset="-122"/>
                          <a:cs typeface="Calibri" pitchFamily="34" charset="-120"/>
                        </a:rPr>
                        <a:t>Error RMS [rad]</a:t>
                      </a:r>
                      <a:endParaRPr lang="es-PE" sz="115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990011"/>
                    </a:solidFill>
                  </a:tcPr>
                </a:tc>
                <a:tc>
                  <a:txBody>
                    <a:bodyPr/>
                    <a:lstStyle/>
                    <a:p>
                      <a:pPr marL="0" indent="0" algn="ctr">
                        <a:buNone/>
                      </a:pPr>
                      <a:r>
                        <a:rPr lang="es-PE" sz="1150" b="1" noProof="0" dirty="0">
                          <a:solidFill>
                            <a:srgbClr val="FFFFFF"/>
                          </a:solidFill>
                          <a:latin typeface="Calibri" pitchFamily="34" charset="0"/>
                          <a:ea typeface="Calibri" pitchFamily="34" charset="-122"/>
                          <a:cs typeface="Calibri" pitchFamily="34" charset="-120"/>
                        </a:rPr>
                        <a:t>T. </a:t>
                      </a:r>
                      <a:r>
                        <a:rPr lang="es-PE" sz="1150" b="1" noProof="0" dirty="0" err="1">
                          <a:solidFill>
                            <a:srgbClr val="FFFFFF"/>
                          </a:solidFill>
                          <a:latin typeface="Calibri" pitchFamily="34" charset="0"/>
                          <a:ea typeface="Calibri" pitchFamily="34" charset="-122"/>
                          <a:cs typeface="Calibri" pitchFamily="34" charset="-120"/>
                        </a:rPr>
                        <a:t>estab</a:t>
                      </a:r>
                      <a:r>
                        <a:rPr lang="es-PE" sz="1150" b="1" noProof="0" dirty="0">
                          <a:solidFill>
                            <a:srgbClr val="FFFFFF"/>
                          </a:solidFill>
                          <a:latin typeface="Calibri" pitchFamily="34" charset="0"/>
                          <a:ea typeface="Calibri" pitchFamily="34" charset="-122"/>
                          <a:cs typeface="Calibri" pitchFamily="34" charset="-120"/>
                        </a:rPr>
                        <a:t>. [s]</a:t>
                      </a:r>
                      <a:endParaRPr lang="es-PE" sz="115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990011"/>
                    </a:solidFill>
                  </a:tcPr>
                </a:tc>
                <a:tc>
                  <a:txBody>
                    <a:bodyPr/>
                    <a:lstStyle/>
                    <a:p>
                      <a:pPr marL="0" indent="0" algn="ctr">
                        <a:buNone/>
                      </a:pPr>
                      <a:r>
                        <a:rPr lang="es-PE" sz="1150" b="1" noProof="0" dirty="0">
                          <a:solidFill>
                            <a:srgbClr val="FFFFFF"/>
                          </a:solidFill>
                          <a:latin typeface="Calibri" pitchFamily="34" charset="0"/>
                          <a:ea typeface="Calibri" pitchFamily="34" charset="-122"/>
                          <a:cs typeface="Calibri" pitchFamily="34" charset="-120"/>
                        </a:rPr>
                        <a:t>Torque RMS [N·m]</a:t>
                      </a:r>
                      <a:endParaRPr lang="es-PE" sz="115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990011"/>
                    </a:solidFill>
                  </a:tcPr>
                </a:tc>
                <a:tc>
                  <a:txBody>
                    <a:bodyPr/>
                    <a:lstStyle/>
                    <a:p>
                      <a:pPr marL="0" indent="0" algn="ctr">
                        <a:buNone/>
                      </a:pPr>
                      <a:r>
                        <a:rPr lang="es-PE" sz="1150" b="1" noProof="0" dirty="0">
                          <a:solidFill>
                            <a:srgbClr val="FFFFFF"/>
                          </a:solidFill>
                          <a:latin typeface="Calibri" pitchFamily="34" charset="0"/>
                          <a:ea typeface="Calibri" pitchFamily="34" charset="-122"/>
                          <a:cs typeface="Calibri" pitchFamily="34" charset="-120"/>
                        </a:rPr>
                        <a:t>Torque </a:t>
                      </a:r>
                      <a:r>
                        <a:rPr lang="es-PE" sz="1150" b="1" noProof="0" dirty="0" err="1">
                          <a:solidFill>
                            <a:srgbClr val="FFFFFF"/>
                          </a:solidFill>
                          <a:latin typeface="Calibri" pitchFamily="34" charset="0"/>
                          <a:ea typeface="Calibri" pitchFamily="34" charset="-122"/>
                          <a:cs typeface="Calibri" pitchFamily="34" charset="-120"/>
                        </a:rPr>
                        <a:t>máx</a:t>
                      </a:r>
                      <a:r>
                        <a:rPr lang="es-PE" sz="1150" b="1" noProof="0" dirty="0">
                          <a:solidFill>
                            <a:srgbClr val="FFFFFF"/>
                          </a:solidFill>
                          <a:latin typeface="Calibri" pitchFamily="34" charset="0"/>
                          <a:ea typeface="Calibri" pitchFamily="34" charset="-122"/>
                          <a:cs typeface="Calibri" pitchFamily="34" charset="-120"/>
                        </a:rPr>
                        <a:t> [N·m]</a:t>
                      </a:r>
                      <a:endParaRPr lang="es-PE" sz="115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990011"/>
                    </a:solidFill>
                  </a:tcPr>
                </a:tc>
                <a:extLst>
                  <a:ext uri="{0D108BD9-81ED-4DB2-BD59-A6C34878D82A}">
                    <a16:rowId xmlns:a16="http://schemas.microsoft.com/office/drawing/2014/main" val="10000"/>
                  </a:ext>
                </a:extLst>
              </a:tr>
              <a:tr h="547095">
                <a:tc>
                  <a:txBody>
                    <a:bodyPr/>
                    <a:lstStyle/>
                    <a:p>
                      <a:pPr marL="0" indent="0" algn="ctr">
                        <a:buNone/>
                      </a:pPr>
                      <a:r>
                        <a:rPr lang="es-PE" sz="1800" noProof="0" dirty="0">
                          <a:solidFill>
                            <a:srgbClr val="2B2B2B"/>
                          </a:solidFill>
                          <a:latin typeface="Calibri" pitchFamily="34" charset="0"/>
                          <a:ea typeface="Calibri" pitchFamily="34" charset="-122"/>
                          <a:cs typeface="Calibri" pitchFamily="34" charset="-120"/>
                        </a:rPr>
                        <a:t>PID no lineal</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noProof="0" dirty="0">
                          <a:solidFill>
                            <a:srgbClr val="2B2B2B"/>
                          </a:solidFill>
                          <a:latin typeface="Calibri" pitchFamily="34" charset="0"/>
                          <a:ea typeface="Calibri" pitchFamily="34" charset="-122"/>
                          <a:cs typeface="Calibri" pitchFamily="34" charset="-120"/>
                        </a:rPr>
                        <a:t>0.0303</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noProof="0" dirty="0">
                          <a:solidFill>
                            <a:srgbClr val="2B2B2B"/>
                          </a:solidFill>
                          <a:latin typeface="Calibri" pitchFamily="34" charset="0"/>
                          <a:ea typeface="Calibri" pitchFamily="34" charset="-122"/>
                          <a:cs typeface="Calibri" pitchFamily="34" charset="-120"/>
                        </a:rPr>
                        <a:t>1.89</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noProof="0" dirty="0">
                          <a:solidFill>
                            <a:srgbClr val="2B2B2B"/>
                          </a:solidFill>
                          <a:latin typeface="Calibri" pitchFamily="34" charset="0"/>
                          <a:ea typeface="Calibri" pitchFamily="34" charset="-122"/>
                          <a:cs typeface="Calibri" pitchFamily="34" charset="-120"/>
                        </a:rPr>
                        <a:t>4.28</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noProof="0" dirty="0">
                          <a:solidFill>
                            <a:srgbClr val="2B2B2B"/>
                          </a:solidFill>
                          <a:latin typeface="Calibri" pitchFamily="34" charset="0"/>
                          <a:ea typeface="Calibri" pitchFamily="34" charset="-122"/>
                          <a:cs typeface="Calibri" pitchFamily="34" charset="-120"/>
                        </a:rPr>
                        <a:t>18.66</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extLst>
                  <a:ext uri="{0D108BD9-81ED-4DB2-BD59-A6C34878D82A}">
                    <a16:rowId xmlns:a16="http://schemas.microsoft.com/office/drawing/2014/main" val="10001"/>
                  </a:ext>
                </a:extLst>
              </a:tr>
              <a:tr h="1019564">
                <a:tc>
                  <a:txBody>
                    <a:bodyPr/>
                    <a:lstStyle/>
                    <a:p>
                      <a:pPr marL="0" indent="0" algn="ctr">
                        <a:buNone/>
                      </a:pPr>
                      <a:r>
                        <a:rPr lang="es-PE" sz="1800" noProof="0" dirty="0">
                          <a:solidFill>
                            <a:srgbClr val="2B2B2B"/>
                          </a:solidFill>
                          <a:latin typeface="Calibri" pitchFamily="34" charset="0"/>
                          <a:ea typeface="Calibri" pitchFamily="34" charset="-122"/>
                          <a:cs typeface="Calibri" pitchFamily="34" charset="-120"/>
                        </a:rPr>
                        <a:t>PD precompensado</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noProof="0" dirty="0">
                          <a:solidFill>
                            <a:srgbClr val="2B2B2B"/>
                          </a:solidFill>
                          <a:latin typeface="Calibri" pitchFamily="34" charset="0"/>
                          <a:ea typeface="Calibri" pitchFamily="34" charset="-122"/>
                          <a:cs typeface="Calibri" pitchFamily="34" charset="-120"/>
                        </a:rPr>
                        <a:t>0.0304</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noProof="0" dirty="0">
                          <a:solidFill>
                            <a:srgbClr val="2B2B2B"/>
                          </a:solidFill>
                          <a:latin typeface="Calibri" pitchFamily="34" charset="0"/>
                          <a:ea typeface="Calibri" pitchFamily="34" charset="-122"/>
                          <a:cs typeface="Calibri" pitchFamily="34" charset="-120"/>
                        </a:rPr>
                        <a:t>0.85</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noProof="0" dirty="0">
                          <a:solidFill>
                            <a:srgbClr val="2B2B2B"/>
                          </a:solidFill>
                          <a:latin typeface="Calibri" pitchFamily="34" charset="0"/>
                          <a:ea typeface="Calibri" pitchFamily="34" charset="-122"/>
                          <a:cs typeface="Calibri" pitchFamily="34" charset="-120"/>
                        </a:rPr>
                        <a:t>4.30</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noProof="0" dirty="0">
                          <a:solidFill>
                            <a:srgbClr val="2B2B2B"/>
                          </a:solidFill>
                          <a:latin typeface="Calibri" pitchFamily="34" charset="0"/>
                          <a:ea typeface="Calibri" pitchFamily="34" charset="-122"/>
                          <a:cs typeface="Calibri" pitchFamily="34" charset="-120"/>
                        </a:rPr>
                        <a:t>20.42</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extLst>
                  <a:ext uri="{0D108BD9-81ED-4DB2-BD59-A6C34878D82A}">
                    <a16:rowId xmlns:a16="http://schemas.microsoft.com/office/drawing/2014/main" val="10002"/>
                  </a:ext>
                </a:extLst>
              </a:tr>
              <a:tr h="547095">
                <a:tc>
                  <a:txBody>
                    <a:bodyPr/>
                    <a:lstStyle/>
                    <a:p>
                      <a:pPr marL="0" indent="0" algn="ctr">
                        <a:buNone/>
                      </a:pPr>
                      <a:r>
                        <a:rPr lang="es-PE" sz="1800" b="1" noProof="0" dirty="0">
                          <a:solidFill>
                            <a:srgbClr val="990011"/>
                          </a:solidFill>
                          <a:latin typeface="Calibri" pitchFamily="34" charset="0"/>
                          <a:ea typeface="Calibri" pitchFamily="34" charset="-122"/>
                          <a:cs typeface="Calibri" pitchFamily="34" charset="-120"/>
                        </a:rPr>
                        <a:t>Par calculado</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b="1" noProof="0" dirty="0">
                          <a:solidFill>
                            <a:srgbClr val="990011"/>
                          </a:solidFill>
                          <a:latin typeface="Calibri" pitchFamily="34" charset="0"/>
                          <a:ea typeface="Calibri" pitchFamily="34" charset="-122"/>
                          <a:cs typeface="Calibri" pitchFamily="34" charset="-120"/>
                        </a:rPr>
                        <a:t>0.0316</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b="1" noProof="0" dirty="0">
                          <a:solidFill>
                            <a:srgbClr val="990011"/>
                          </a:solidFill>
                          <a:latin typeface="Calibri" pitchFamily="34" charset="0"/>
                          <a:ea typeface="Calibri" pitchFamily="34" charset="-122"/>
                          <a:cs typeface="Calibri" pitchFamily="34" charset="-120"/>
                        </a:rPr>
                        <a:t>0.70</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b="1" noProof="0" dirty="0">
                          <a:solidFill>
                            <a:srgbClr val="990011"/>
                          </a:solidFill>
                          <a:latin typeface="Calibri" pitchFamily="34" charset="0"/>
                          <a:ea typeface="Calibri" pitchFamily="34" charset="-122"/>
                          <a:cs typeface="Calibri" pitchFamily="34" charset="-120"/>
                        </a:rPr>
                        <a:t>4.23</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s-PE" sz="1800" b="1" noProof="0" dirty="0">
                          <a:solidFill>
                            <a:srgbClr val="990011"/>
                          </a:solidFill>
                          <a:latin typeface="Calibri" pitchFamily="34" charset="0"/>
                          <a:ea typeface="Calibri" pitchFamily="34" charset="-122"/>
                          <a:cs typeface="Calibri" pitchFamily="34" charset="-120"/>
                        </a:rPr>
                        <a:t>10.03</a:t>
                      </a:r>
                      <a:endParaRPr lang="es-PE" sz="1800" noProof="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extLst>
                  <a:ext uri="{0D108BD9-81ED-4DB2-BD59-A6C34878D82A}">
                    <a16:rowId xmlns:a16="http://schemas.microsoft.com/office/drawing/2014/main" val="10003"/>
                  </a:ext>
                </a:extLst>
              </a:tr>
            </a:tbl>
          </a:graphicData>
        </a:graphic>
      </p:graphicFrame>
      <p:sp>
        <p:nvSpPr>
          <p:cNvPr id="5" name="Text 2"/>
          <p:cNvSpPr/>
          <p:nvPr/>
        </p:nvSpPr>
        <p:spPr>
          <a:xfrm>
            <a:off x="579120" y="4396197"/>
            <a:ext cx="3840480" cy="472513"/>
          </a:xfrm>
          <a:prstGeom prst="rect">
            <a:avLst/>
          </a:prstGeom>
          <a:noFill/>
          <a:ln/>
        </p:spPr>
        <p:txBody>
          <a:bodyPr wrap="square" lIns="0" tIns="0" rIns="0" bIns="0" rtlCol="0" anchor="ctr"/>
          <a:lstStyle/>
          <a:p>
            <a:pPr marL="0" indent="0" algn="l">
              <a:buNone/>
            </a:pPr>
            <a:r>
              <a:rPr lang="es-PE" sz="3600" b="1" noProof="0" dirty="0">
                <a:solidFill>
                  <a:srgbClr val="990011"/>
                </a:solidFill>
                <a:latin typeface="Cambria" pitchFamily="34" charset="0"/>
                <a:ea typeface="Cambria" pitchFamily="34" charset="-122"/>
                <a:cs typeface="Cambria" pitchFamily="34" charset="-120"/>
              </a:rPr>
              <a:t>0.70 s</a:t>
            </a:r>
            <a:endParaRPr lang="es-PE" sz="3600" noProof="0" dirty="0"/>
          </a:p>
        </p:txBody>
      </p:sp>
      <p:sp>
        <p:nvSpPr>
          <p:cNvPr id="6" name="Text 3"/>
          <p:cNvSpPr/>
          <p:nvPr/>
        </p:nvSpPr>
        <p:spPr>
          <a:xfrm>
            <a:off x="579120" y="4890193"/>
            <a:ext cx="3840480" cy="265176"/>
          </a:xfrm>
          <a:prstGeom prst="rect">
            <a:avLst/>
          </a:prstGeom>
          <a:noFill/>
          <a:ln/>
        </p:spPr>
        <p:txBody>
          <a:bodyPr wrap="square" lIns="0" tIns="0" rIns="0" bIns="0" rtlCol="0" anchor="t"/>
          <a:lstStyle/>
          <a:p>
            <a:pPr marL="0" indent="0" algn="l">
              <a:buNone/>
            </a:pPr>
            <a:r>
              <a:rPr lang="es-PE" sz="1100" noProof="0" dirty="0">
                <a:solidFill>
                  <a:srgbClr val="2B2B2B"/>
                </a:solidFill>
                <a:latin typeface="Calibri" pitchFamily="34" charset="0"/>
                <a:ea typeface="Calibri" pitchFamily="34" charset="-122"/>
                <a:cs typeface="Calibri" pitchFamily="34" charset="-120"/>
              </a:rPr>
              <a:t>Tiempo de estabilización del par calculado (vs. 1.89 s del PID)</a:t>
            </a:r>
            <a:endParaRPr lang="es-PE" sz="1100" noProof="0" dirty="0"/>
          </a:p>
        </p:txBody>
      </p:sp>
      <p:sp>
        <p:nvSpPr>
          <p:cNvPr id="7" name="Text 4"/>
          <p:cNvSpPr/>
          <p:nvPr/>
        </p:nvSpPr>
        <p:spPr>
          <a:xfrm>
            <a:off x="609600" y="4924235"/>
            <a:ext cx="3840480" cy="777240"/>
          </a:xfrm>
          <a:prstGeom prst="rect">
            <a:avLst/>
          </a:prstGeom>
          <a:noFill/>
          <a:ln/>
        </p:spPr>
        <p:txBody>
          <a:bodyPr wrap="square" lIns="0" tIns="0" rIns="0" bIns="0" rtlCol="0" anchor="ctr"/>
          <a:lstStyle/>
          <a:p>
            <a:pPr marL="0" indent="0" algn="l">
              <a:buNone/>
            </a:pPr>
            <a:r>
              <a:rPr lang="es-PE" sz="3600" b="1" noProof="0" dirty="0">
                <a:solidFill>
                  <a:srgbClr val="2F3C7E"/>
                </a:solidFill>
                <a:latin typeface="Cambria" pitchFamily="34" charset="0"/>
                <a:ea typeface="Cambria" pitchFamily="34" charset="-122"/>
                <a:cs typeface="Cambria" pitchFamily="34" charset="-120"/>
              </a:rPr>
              <a:t>10.03 N·m</a:t>
            </a:r>
            <a:endParaRPr lang="es-PE" sz="3600" noProof="0" dirty="0"/>
          </a:p>
        </p:txBody>
      </p:sp>
      <p:sp>
        <p:nvSpPr>
          <p:cNvPr id="8" name="Text 5"/>
          <p:cNvSpPr/>
          <p:nvPr/>
        </p:nvSpPr>
        <p:spPr>
          <a:xfrm>
            <a:off x="609600" y="5521017"/>
            <a:ext cx="3840480" cy="209872"/>
          </a:xfrm>
          <a:prstGeom prst="rect">
            <a:avLst/>
          </a:prstGeom>
          <a:noFill/>
          <a:ln/>
        </p:spPr>
        <p:txBody>
          <a:bodyPr wrap="square" lIns="0" tIns="0" rIns="0" bIns="0" rtlCol="0" anchor="t"/>
          <a:lstStyle/>
          <a:p>
            <a:pPr marL="0" indent="0" algn="l">
              <a:buNone/>
            </a:pPr>
            <a:r>
              <a:rPr lang="es-PE" sz="1100" noProof="0" dirty="0">
                <a:solidFill>
                  <a:srgbClr val="2B2B2B"/>
                </a:solidFill>
                <a:latin typeface="Calibri" pitchFamily="34" charset="0"/>
                <a:ea typeface="Calibri" pitchFamily="34" charset="-122"/>
                <a:cs typeface="Calibri" pitchFamily="34" charset="-120"/>
              </a:rPr>
              <a:t>Torque máximo, la mitad que PID/PD (18.7–20.4 N·m)</a:t>
            </a:r>
            <a:endParaRPr lang="es-PE" sz="1100" noProof="0" dirty="0"/>
          </a:p>
        </p:txBody>
      </p:sp>
      <p:sp>
        <p:nvSpPr>
          <p:cNvPr id="9" name="Text 6"/>
          <p:cNvSpPr/>
          <p:nvPr/>
        </p:nvSpPr>
        <p:spPr>
          <a:xfrm>
            <a:off x="579120" y="5679441"/>
            <a:ext cx="3840480" cy="725130"/>
          </a:xfrm>
          <a:prstGeom prst="rect">
            <a:avLst/>
          </a:prstGeom>
          <a:noFill/>
          <a:ln/>
        </p:spPr>
        <p:txBody>
          <a:bodyPr wrap="square" lIns="0" tIns="0" rIns="0" bIns="0" rtlCol="0" anchor="ctr"/>
          <a:lstStyle/>
          <a:p>
            <a:pPr marL="0" indent="0" algn="l">
              <a:buNone/>
            </a:pPr>
            <a:r>
              <a:rPr lang="es-PE" sz="3600" b="1" noProof="0" dirty="0">
                <a:solidFill>
                  <a:srgbClr val="990011"/>
                </a:solidFill>
                <a:latin typeface="Cambria" pitchFamily="34" charset="0"/>
                <a:ea typeface="Cambria" pitchFamily="34" charset="-122"/>
                <a:cs typeface="Cambria" pitchFamily="34" charset="-120"/>
              </a:rPr>
              <a:t>&lt; 1 %</a:t>
            </a:r>
            <a:endParaRPr lang="es-PE" sz="3600" noProof="0" dirty="0"/>
          </a:p>
        </p:txBody>
      </p:sp>
      <p:sp>
        <p:nvSpPr>
          <p:cNvPr id="10" name="Text 7"/>
          <p:cNvSpPr/>
          <p:nvPr/>
        </p:nvSpPr>
        <p:spPr>
          <a:xfrm>
            <a:off x="579120" y="6287849"/>
            <a:ext cx="3840480" cy="209872"/>
          </a:xfrm>
          <a:prstGeom prst="rect">
            <a:avLst/>
          </a:prstGeom>
          <a:noFill/>
          <a:ln/>
        </p:spPr>
        <p:txBody>
          <a:bodyPr wrap="square" lIns="0" tIns="0" rIns="0" bIns="0" rtlCol="0" anchor="t"/>
          <a:lstStyle/>
          <a:p>
            <a:pPr marL="0" indent="0" algn="l">
              <a:buNone/>
            </a:pPr>
            <a:r>
              <a:rPr lang="es-PE" sz="1100" noProof="0" dirty="0">
                <a:solidFill>
                  <a:srgbClr val="2B2B2B"/>
                </a:solidFill>
                <a:latin typeface="Calibri" pitchFamily="34" charset="0"/>
                <a:ea typeface="Calibri" pitchFamily="34" charset="-122"/>
                <a:cs typeface="Calibri" pitchFamily="34" charset="-120"/>
              </a:rPr>
              <a:t>Diferencia Simulink vs. MATLAB puro (validación cruzada)</a:t>
            </a:r>
            <a:endParaRPr lang="es-PE" sz="1100" noProof="0" dirty="0"/>
          </a:p>
        </p:txBody>
      </p:sp>
      <p:sp>
        <p:nvSpPr>
          <p:cNvPr id="11" name="Shape 8"/>
          <p:cNvSpPr/>
          <p:nvPr/>
        </p:nvSpPr>
        <p:spPr>
          <a:xfrm>
            <a:off x="5486400" y="1356094"/>
            <a:ext cx="6477918" cy="5373890"/>
          </a:xfrm>
          <a:prstGeom prst="roundRect">
            <a:avLst>
              <a:gd name="adj" fmla="val 2400"/>
            </a:avLst>
          </a:prstGeom>
          <a:solidFill>
            <a:srgbClr val="FCF6F5"/>
          </a:solidFill>
          <a:ln w="12700">
            <a:solidFill>
              <a:srgbClr val="D9C7C6"/>
            </a:solidFill>
            <a:prstDash val="solid"/>
          </a:ln>
        </p:spPr>
        <p:txBody>
          <a:bodyPr/>
          <a:lstStyle/>
          <a:p>
            <a:endParaRPr lang="es-PE" noProof="0" dirty="0"/>
          </a:p>
        </p:txBody>
      </p:sp>
      <p:sp>
        <p:nvSpPr>
          <p:cNvPr id="13" name="Text 9"/>
          <p:cNvSpPr/>
          <p:nvPr/>
        </p:nvSpPr>
        <p:spPr>
          <a:xfrm>
            <a:off x="11612880" y="6455664"/>
            <a:ext cx="457200" cy="274320"/>
          </a:xfrm>
          <a:prstGeom prst="rect">
            <a:avLst/>
          </a:prstGeom>
          <a:noFill/>
          <a:ln/>
        </p:spPr>
        <p:txBody>
          <a:bodyPr wrap="square" lIns="0" tIns="0" rIns="0" bIns="0" rtlCol="0" anchor="ctr"/>
          <a:lstStyle/>
          <a:p>
            <a:pPr marL="0" indent="0" algn="r">
              <a:buNone/>
            </a:pPr>
            <a:r>
              <a:rPr lang="es-PE" sz="1000" noProof="0" dirty="0">
                <a:solidFill>
                  <a:srgbClr val="6E6E6E"/>
                </a:solidFill>
                <a:latin typeface="Calibri" pitchFamily="34" charset="0"/>
                <a:ea typeface="Calibri" pitchFamily="34" charset="-122"/>
                <a:cs typeface="Calibri" pitchFamily="34" charset="-120"/>
              </a:rPr>
              <a:t>19</a:t>
            </a:r>
            <a:endParaRPr lang="es-PE" sz="1000" noProof="0" dirty="0"/>
          </a:p>
        </p:txBody>
      </p:sp>
      <p:pic>
        <p:nvPicPr>
          <p:cNvPr id="17" name="Imagen 16">
            <a:extLst>
              <a:ext uri="{FF2B5EF4-FFF2-40B4-BE49-F238E27FC236}">
                <a16:creationId xmlns:a16="http://schemas.microsoft.com/office/drawing/2014/main" id="{29D80465-F9F7-B924-5C28-EFDC20259B94}"/>
              </a:ext>
            </a:extLst>
          </p:cNvPr>
          <p:cNvPicPr>
            <a:picLocks noChangeAspect="1"/>
          </p:cNvPicPr>
          <p:nvPr/>
        </p:nvPicPr>
        <p:blipFill>
          <a:blip r:embed="rId3"/>
          <a:srcRect l="5802" r="6413"/>
          <a:stretch>
            <a:fillRect/>
          </a:stretch>
        </p:blipFill>
        <p:spPr>
          <a:xfrm>
            <a:off x="5555325" y="1761031"/>
            <a:ext cx="6340068" cy="435491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4CC3FC9A-D24E-4486-F5D8-BAEB8A22BD58}"/>
              </a:ext>
            </a:extLst>
          </p:cNvPr>
          <p:cNvPicPr>
            <a:picLocks noChangeAspect="1"/>
          </p:cNvPicPr>
          <p:nvPr/>
        </p:nvPicPr>
        <p:blipFill>
          <a:blip r:embed="rId3"/>
          <a:stretch>
            <a:fillRect/>
          </a:stretch>
        </p:blipFill>
        <p:spPr>
          <a:xfrm>
            <a:off x="3833622" y="3832787"/>
            <a:ext cx="4233214" cy="2552565"/>
          </a:xfrm>
          <a:prstGeom prst="rect">
            <a:avLst/>
          </a:prstGeom>
        </p:spPr>
      </p:pic>
      <p:pic>
        <p:nvPicPr>
          <p:cNvPr id="15" name="Imagen 14">
            <a:extLst>
              <a:ext uri="{FF2B5EF4-FFF2-40B4-BE49-F238E27FC236}">
                <a16:creationId xmlns:a16="http://schemas.microsoft.com/office/drawing/2014/main" id="{746B91D9-93B7-9B0B-7A69-E6423BD8AB84}"/>
              </a:ext>
            </a:extLst>
          </p:cNvPr>
          <p:cNvPicPr>
            <a:picLocks noChangeAspect="1"/>
          </p:cNvPicPr>
          <p:nvPr/>
        </p:nvPicPr>
        <p:blipFill>
          <a:blip r:embed="rId4"/>
          <a:stretch>
            <a:fillRect/>
          </a:stretch>
        </p:blipFill>
        <p:spPr>
          <a:xfrm>
            <a:off x="7239830" y="1152143"/>
            <a:ext cx="4952170" cy="2986085"/>
          </a:xfrm>
          <a:prstGeom prst="rect">
            <a:avLst/>
          </a:prstGeom>
        </p:spPr>
      </p:pic>
      <p:pic>
        <p:nvPicPr>
          <p:cNvPr id="13" name="Imagen 12">
            <a:extLst>
              <a:ext uri="{FF2B5EF4-FFF2-40B4-BE49-F238E27FC236}">
                <a16:creationId xmlns:a16="http://schemas.microsoft.com/office/drawing/2014/main" id="{B377EA0E-4CFB-BB22-1992-4E41EC1BB3B8}"/>
              </a:ext>
            </a:extLst>
          </p:cNvPr>
          <p:cNvPicPr>
            <a:picLocks noChangeAspect="1"/>
          </p:cNvPicPr>
          <p:nvPr/>
        </p:nvPicPr>
        <p:blipFill>
          <a:blip r:embed="rId5"/>
          <a:stretch>
            <a:fillRect/>
          </a:stretch>
        </p:blipFill>
        <p:spPr>
          <a:xfrm>
            <a:off x="161850" y="1152143"/>
            <a:ext cx="4721477" cy="2846980"/>
          </a:xfrm>
          <a:prstGeom prst="rect">
            <a:avLst/>
          </a:prstGeom>
        </p:spPr>
      </p:pic>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3 · RESULTADOS COMPARATIVOS · DETALLE</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Error articular por junta (Simulink real)</a:t>
            </a:r>
          </a:p>
        </p:txBody>
      </p:sp>
      <p:sp>
        <p:nvSpPr>
          <p:cNvPr id="7" name="TextBox 6"/>
          <p:cNvSpPr txBox="1"/>
          <p:nvPr/>
        </p:nvSpPr>
        <p:spPr>
          <a:xfrm>
            <a:off x="4490618" y="6359469"/>
            <a:ext cx="3576218" cy="274320"/>
          </a:xfrm>
          <a:prstGeom prst="rect">
            <a:avLst/>
          </a:prstGeom>
          <a:noFill/>
        </p:spPr>
        <p:txBody>
          <a:bodyPr wrap="square" lIns="0" tIns="0" rIns="0" bIns="0">
            <a:spAutoFit/>
          </a:bodyPr>
          <a:lstStyle/>
          <a:p>
            <a:pPr algn="ctr"/>
            <a:r>
              <a:rPr lang="es-PE" sz="1100" b="0" i="1" noProof="0" dirty="0">
                <a:solidFill>
                  <a:srgbClr val="6E6E6E"/>
                </a:solidFill>
                <a:latin typeface="Calibri"/>
              </a:rPr>
              <a:t>Error articular q2</a:t>
            </a:r>
          </a:p>
        </p:txBody>
      </p:sp>
      <p:sp>
        <p:nvSpPr>
          <p:cNvPr id="9" name="TextBox 8"/>
          <p:cNvSpPr txBox="1"/>
          <p:nvPr/>
        </p:nvSpPr>
        <p:spPr>
          <a:xfrm>
            <a:off x="7956668" y="4161289"/>
            <a:ext cx="3576218" cy="274320"/>
          </a:xfrm>
          <a:prstGeom prst="rect">
            <a:avLst/>
          </a:prstGeom>
          <a:noFill/>
        </p:spPr>
        <p:txBody>
          <a:bodyPr wrap="square" lIns="0" tIns="0" rIns="0" bIns="0">
            <a:spAutoFit/>
          </a:bodyPr>
          <a:lstStyle/>
          <a:p>
            <a:pPr algn="ctr"/>
            <a:r>
              <a:rPr lang="es-PE" sz="1100" b="0" i="1" noProof="0" dirty="0">
                <a:solidFill>
                  <a:srgbClr val="6E6E6E"/>
                </a:solidFill>
                <a:latin typeface="Calibri"/>
              </a:rPr>
              <a:t>Error articular q3</a:t>
            </a:r>
          </a:p>
        </p:txBody>
      </p:sp>
      <p:sp>
        <p:nvSpPr>
          <p:cNvPr id="10" name="TextBox 9"/>
          <p:cNvSpPr txBox="1"/>
          <p:nvPr/>
        </p:nvSpPr>
        <p:spPr>
          <a:xfrm>
            <a:off x="468646" y="6610727"/>
            <a:ext cx="11064240" cy="274320"/>
          </a:xfrm>
          <a:prstGeom prst="rect">
            <a:avLst/>
          </a:prstGeom>
          <a:noFill/>
        </p:spPr>
        <p:txBody>
          <a:bodyPr wrap="square" lIns="0" tIns="0" rIns="0" bIns="0">
            <a:spAutoFit/>
          </a:bodyPr>
          <a:lstStyle/>
          <a:p>
            <a:pPr algn="l"/>
            <a:r>
              <a:rPr lang="es-PE" sz="1100" b="0" i="0" noProof="0" dirty="0">
                <a:solidFill>
                  <a:srgbClr val="6E6E6E"/>
                </a:solidFill>
                <a:latin typeface="Calibri"/>
              </a:rPr>
              <a:t>El PID no lineal deja un rizado sostenido; PD y par calculado se estabilizan más cerca de cero.</a:t>
            </a:r>
          </a:p>
        </p:txBody>
      </p:sp>
      <p:sp>
        <p:nvSpPr>
          <p:cNvPr id="11" name="TextBox 10"/>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20</a:t>
            </a:r>
          </a:p>
        </p:txBody>
      </p:sp>
      <p:sp>
        <p:nvSpPr>
          <p:cNvPr id="5" name="TextBox 4"/>
          <p:cNvSpPr txBox="1"/>
          <p:nvPr/>
        </p:nvSpPr>
        <p:spPr>
          <a:xfrm>
            <a:off x="1024568" y="4138227"/>
            <a:ext cx="3576218" cy="274320"/>
          </a:xfrm>
          <a:prstGeom prst="rect">
            <a:avLst/>
          </a:prstGeom>
          <a:noFill/>
        </p:spPr>
        <p:txBody>
          <a:bodyPr wrap="square" lIns="0" tIns="0" rIns="0" bIns="0">
            <a:spAutoFit/>
          </a:bodyPr>
          <a:lstStyle/>
          <a:p>
            <a:pPr algn="ctr"/>
            <a:r>
              <a:rPr lang="es-PE" sz="1100" b="0" i="1" noProof="0" dirty="0">
                <a:solidFill>
                  <a:srgbClr val="6E6E6E"/>
                </a:solidFill>
                <a:latin typeface="Calibri"/>
              </a:rPr>
              <a:t>Error articular q1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3 · VALIDACIÓN CRUZADA (v3, MATLAB PURO)</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Seguimiento articular — v3</a:t>
            </a:r>
          </a:p>
        </p:txBody>
      </p:sp>
      <p:pic>
        <p:nvPicPr>
          <p:cNvPr id="4" name="Picture 3" descr="v3_SeguimientoArticularQ1.png"/>
          <p:cNvPicPr>
            <a:picLocks noChangeAspect="1"/>
          </p:cNvPicPr>
          <p:nvPr/>
        </p:nvPicPr>
        <p:blipFill>
          <a:blip r:embed="rId3"/>
          <a:stretch>
            <a:fillRect/>
          </a:stretch>
        </p:blipFill>
        <p:spPr>
          <a:xfrm>
            <a:off x="548640" y="3972462"/>
            <a:ext cx="4282384" cy="1932782"/>
          </a:xfrm>
          <a:prstGeom prst="rect">
            <a:avLst/>
          </a:prstGeom>
        </p:spPr>
      </p:pic>
      <p:sp>
        <p:nvSpPr>
          <p:cNvPr id="5" name="TextBox 4"/>
          <p:cNvSpPr txBox="1"/>
          <p:nvPr/>
        </p:nvSpPr>
        <p:spPr>
          <a:xfrm>
            <a:off x="365760" y="5820414"/>
            <a:ext cx="3576218" cy="274320"/>
          </a:xfrm>
          <a:prstGeom prst="rect">
            <a:avLst/>
          </a:prstGeom>
          <a:noFill/>
        </p:spPr>
        <p:txBody>
          <a:bodyPr wrap="square" lIns="0" tIns="0" rIns="0" bIns="0">
            <a:spAutoFit/>
          </a:bodyPr>
          <a:lstStyle/>
          <a:p>
            <a:pPr algn="ctr"/>
            <a:r>
              <a:rPr lang="es-PE" sz="1100" b="0" i="1" noProof="0" dirty="0">
                <a:solidFill>
                  <a:srgbClr val="6E6E6E"/>
                </a:solidFill>
                <a:latin typeface="Calibri"/>
              </a:rPr>
              <a:t>Seguimiento q1 (v3)</a:t>
            </a:r>
          </a:p>
        </p:txBody>
      </p:sp>
      <p:pic>
        <p:nvPicPr>
          <p:cNvPr id="6" name="Picture 5" descr="v3_SeguimientoArticularQ2.png"/>
          <p:cNvPicPr>
            <a:picLocks noChangeAspect="1"/>
          </p:cNvPicPr>
          <p:nvPr/>
        </p:nvPicPr>
        <p:blipFill>
          <a:blip r:embed="rId4"/>
          <a:stretch>
            <a:fillRect/>
          </a:stretch>
        </p:blipFill>
        <p:spPr>
          <a:xfrm>
            <a:off x="3738311" y="1626107"/>
            <a:ext cx="4684898" cy="2114450"/>
          </a:xfrm>
          <a:prstGeom prst="rect">
            <a:avLst/>
          </a:prstGeom>
        </p:spPr>
      </p:pic>
      <p:sp>
        <p:nvSpPr>
          <p:cNvPr id="7" name="TextBox 6"/>
          <p:cNvSpPr txBox="1"/>
          <p:nvPr/>
        </p:nvSpPr>
        <p:spPr>
          <a:xfrm>
            <a:off x="4234139" y="3607308"/>
            <a:ext cx="3576218" cy="274320"/>
          </a:xfrm>
          <a:prstGeom prst="rect">
            <a:avLst/>
          </a:prstGeom>
          <a:noFill/>
        </p:spPr>
        <p:txBody>
          <a:bodyPr wrap="square" lIns="0" tIns="0" rIns="0" bIns="0">
            <a:spAutoFit/>
          </a:bodyPr>
          <a:lstStyle/>
          <a:p>
            <a:pPr algn="ctr"/>
            <a:r>
              <a:rPr lang="es-PE" sz="1100" b="0" i="1" noProof="0" dirty="0">
                <a:solidFill>
                  <a:srgbClr val="6E6E6E"/>
                </a:solidFill>
                <a:latin typeface="Calibri"/>
              </a:rPr>
              <a:t>Seguimiento q2 (v3)</a:t>
            </a:r>
          </a:p>
        </p:txBody>
      </p:sp>
      <p:pic>
        <p:nvPicPr>
          <p:cNvPr id="8" name="Picture 7" descr="v3_SeguimientoArticularQ3.png"/>
          <p:cNvPicPr>
            <a:picLocks noChangeAspect="1"/>
          </p:cNvPicPr>
          <p:nvPr/>
        </p:nvPicPr>
        <p:blipFill>
          <a:blip r:embed="rId5"/>
          <a:stretch>
            <a:fillRect/>
          </a:stretch>
        </p:blipFill>
        <p:spPr>
          <a:xfrm>
            <a:off x="7543856" y="3972462"/>
            <a:ext cx="4282384" cy="1932782"/>
          </a:xfrm>
          <a:prstGeom prst="rect">
            <a:avLst/>
          </a:prstGeom>
        </p:spPr>
      </p:pic>
      <p:sp>
        <p:nvSpPr>
          <p:cNvPr id="9" name="TextBox 8"/>
          <p:cNvSpPr txBox="1"/>
          <p:nvPr/>
        </p:nvSpPr>
        <p:spPr>
          <a:xfrm>
            <a:off x="7883956" y="5820414"/>
            <a:ext cx="3576218" cy="274320"/>
          </a:xfrm>
          <a:prstGeom prst="rect">
            <a:avLst/>
          </a:prstGeom>
          <a:noFill/>
        </p:spPr>
        <p:txBody>
          <a:bodyPr wrap="square" lIns="0" tIns="0" rIns="0" bIns="0">
            <a:spAutoFit/>
          </a:bodyPr>
          <a:lstStyle/>
          <a:p>
            <a:pPr algn="ctr"/>
            <a:r>
              <a:rPr lang="es-PE" sz="1100" b="0" i="1" noProof="0" dirty="0">
                <a:solidFill>
                  <a:srgbClr val="6E6E6E"/>
                </a:solidFill>
                <a:latin typeface="Calibri"/>
              </a:rPr>
              <a:t>Seguimiento q3 (v3)</a:t>
            </a:r>
          </a:p>
        </p:txBody>
      </p:sp>
      <p:sp>
        <p:nvSpPr>
          <p:cNvPr id="10" name="TextBox 9"/>
          <p:cNvSpPr txBox="1"/>
          <p:nvPr/>
        </p:nvSpPr>
        <p:spPr>
          <a:xfrm>
            <a:off x="563880" y="6425350"/>
            <a:ext cx="11064240" cy="169277"/>
          </a:xfrm>
          <a:prstGeom prst="rect">
            <a:avLst/>
          </a:prstGeom>
          <a:noFill/>
        </p:spPr>
        <p:txBody>
          <a:bodyPr wrap="square" lIns="0" tIns="0" rIns="0" bIns="0">
            <a:spAutoFit/>
          </a:bodyPr>
          <a:lstStyle/>
          <a:p>
            <a:pPr algn="ctr"/>
            <a:r>
              <a:rPr lang="es-PE" sz="1100" b="1" i="0" noProof="0" dirty="0">
                <a:solidFill>
                  <a:srgbClr val="6E6E6E"/>
                </a:solidFill>
                <a:latin typeface="Calibri"/>
              </a:rPr>
              <a:t>Reproducción en MATLAB puro (ode45, sin Simulink), misma trayectoria, ganancias y dinámica.</a:t>
            </a:r>
          </a:p>
        </p:txBody>
      </p:sp>
      <p:sp>
        <p:nvSpPr>
          <p:cNvPr id="11" name="TextBox 10"/>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3 · VALIDACIÓN CRUZADA (v3, MATLAB PURO)</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Error articular y trayectoria cartesiana — v3</a:t>
            </a:r>
          </a:p>
        </p:txBody>
      </p:sp>
      <p:pic>
        <p:nvPicPr>
          <p:cNvPr id="4" name="Picture 3" descr="image.png"/>
          <p:cNvPicPr>
            <a:picLocks noChangeAspect="1"/>
          </p:cNvPicPr>
          <p:nvPr/>
        </p:nvPicPr>
        <p:blipFill>
          <a:blip r:embed="rId3">
            <a:extLst>
              <a:ext uri="{BEBA8EAE-BF5A-486C-A8C5-ECC9F3942E4B}">
                <a14:imgProps xmlns:a14="http://schemas.microsoft.com/office/drawing/2010/main">
                  <a14:imgLayer r:embed="rId4">
                    <a14:imgEffect>
                      <a14:brightnessContrast contrast="-40000"/>
                    </a14:imgEffect>
                  </a14:imgLayer>
                </a14:imgProps>
              </a:ext>
            </a:extLst>
          </a:blip>
          <a:stretch>
            <a:fillRect/>
          </a:stretch>
        </p:blipFill>
        <p:spPr>
          <a:xfrm>
            <a:off x="-8831" y="1156771"/>
            <a:ext cx="7347289" cy="3316077"/>
          </a:xfrm>
          <a:prstGeom prst="rect">
            <a:avLst/>
          </a:prstGeom>
        </p:spPr>
      </p:pic>
      <p:sp>
        <p:nvSpPr>
          <p:cNvPr id="5" name="TextBox 4"/>
          <p:cNvSpPr txBox="1"/>
          <p:nvPr/>
        </p:nvSpPr>
        <p:spPr>
          <a:xfrm>
            <a:off x="1360599" y="4335400"/>
            <a:ext cx="5410047" cy="274320"/>
          </a:xfrm>
          <a:prstGeom prst="rect">
            <a:avLst/>
          </a:prstGeom>
          <a:noFill/>
        </p:spPr>
        <p:txBody>
          <a:bodyPr wrap="square" lIns="0" tIns="0" rIns="0" bIns="0">
            <a:spAutoFit/>
          </a:bodyPr>
          <a:lstStyle/>
          <a:p>
            <a:pPr algn="ctr"/>
            <a:r>
              <a:rPr lang="es-PE" sz="1100" b="0" i="1" noProof="0" dirty="0">
                <a:solidFill>
                  <a:srgbClr val="6E6E6E"/>
                </a:solidFill>
                <a:latin typeface="Calibri"/>
              </a:rPr>
              <a:t>Comparación de error articular (v3)</a:t>
            </a:r>
          </a:p>
        </p:txBody>
      </p:sp>
      <p:pic>
        <p:nvPicPr>
          <p:cNvPr id="6" name="Picture 5" descr="v3_TrayectoriaCartesianaDelEfectorFinal.png"/>
          <p:cNvPicPr>
            <a:picLocks noChangeAspect="1"/>
          </p:cNvPicPr>
          <p:nvPr/>
        </p:nvPicPr>
        <p:blipFill>
          <a:blip r:embed="rId5"/>
          <a:srcRect l="21002" r="9084"/>
          <a:stretch>
            <a:fillRect/>
          </a:stretch>
        </p:blipFill>
        <p:spPr>
          <a:xfrm>
            <a:off x="6770646" y="2712463"/>
            <a:ext cx="5410047" cy="3492460"/>
          </a:xfrm>
          <a:prstGeom prst="rect">
            <a:avLst/>
          </a:prstGeom>
        </p:spPr>
      </p:pic>
      <p:sp>
        <p:nvSpPr>
          <p:cNvPr id="7" name="TextBox 6"/>
          <p:cNvSpPr txBox="1"/>
          <p:nvPr/>
        </p:nvSpPr>
        <p:spPr>
          <a:xfrm>
            <a:off x="6332159" y="5979943"/>
            <a:ext cx="5410047" cy="274320"/>
          </a:xfrm>
          <a:prstGeom prst="rect">
            <a:avLst/>
          </a:prstGeom>
          <a:noFill/>
        </p:spPr>
        <p:txBody>
          <a:bodyPr wrap="square" lIns="0" tIns="0" rIns="0" bIns="0">
            <a:spAutoFit/>
          </a:bodyPr>
          <a:lstStyle/>
          <a:p>
            <a:pPr algn="ctr"/>
            <a:r>
              <a:rPr lang="es-PE" sz="1100" b="0" i="1" noProof="0" dirty="0">
                <a:solidFill>
                  <a:srgbClr val="6E6E6E"/>
                </a:solidFill>
                <a:latin typeface="Calibri"/>
              </a:rPr>
              <a:t>Trayectoria cartesiana del efector final (v3)</a:t>
            </a:r>
          </a:p>
        </p:txBody>
      </p:sp>
      <p:sp>
        <p:nvSpPr>
          <p:cNvPr id="8" name="TextBox 7"/>
          <p:cNvSpPr txBox="1"/>
          <p:nvPr/>
        </p:nvSpPr>
        <p:spPr>
          <a:xfrm>
            <a:off x="548640" y="6537960"/>
            <a:ext cx="11064240" cy="169277"/>
          </a:xfrm>
          <a:prstGeom prst="rect">
            <a:avLst/>
          </a:prstGeom>
          <a:noFill/>
        </p:spPr>
        <p:txBody>
          <a:bodyPr wrap="square" lIns="0" tIns="0" rIns="0" bIns="0">
            <a:spAutoFit/>
          </a:bodyPr>
          <a:lstStyle/>
          <a:p>
            <a:pPr algn="ctr"/>
            <a:r>
              <a:rPr lang="es-PE" sz="1100" b="1" i="0" noProof="0" dirty="0">
                <a:solidFill>
                  <a:srgbClr val="6E6E6E"/>
                </a:solidFill>
                <a:latin typeface="Calibri"/>
              </a:rPr>
              <a:t>Coincide con Simulink con &lt;1% de diferencia en error RMS, error máximo, torque RMS y torque máximo.</a:t>
            </a:r>
          </a:p>
        </p:txBody>
      </p:sp>
      <p:sp>
        <p:nvSpPr>
          <p:cNvPr id="9" name="TextBox 8"/>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3 · VALIDACIÓN CRUZADA (v3, MATLAB PURO)</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Torque por controlador y por articulación — v3</a:t>
            </a:r>
          </a:p>
        </p:txBody>
      </p:sp>
      <p:pic>
        <p:nvPicPr>
          <p:cNvPr id="4" name="Picture 3" descr="v3_NormaDeTorque.png"/>
          <p:cNvPicPr>
            <a:picLocks noChangeAspect="1"/>
          </p:cNvPicPr>
          <p:nvPr/>
        </p:nvPicPr>
        <p:blipFill>
          <a:blip r:embed="rId3"/>
          <a:stretch>
            <a:fillRect/>
          </a:stretch>
        </p:blipFill>
        <p:spPr>
          <a:xfrm>
            <a:off x="548640" y="1161669"/>
            <a:ext cx="3153027" cy="2364771"/>
          </a:xfrm>
          <a:prstGeom prst="rect">
            <a:avLst/>
          </a:prstGeom>
        </p:spPr>
      </p:pic>
      <p:sp>
        <p:nvSpPr>
          <p:cNvPr id="5" name="TextBox 4"/>
          <p:cNvSpPr txBox="1"/>
          <p:nvPr/>
        </p:nvSpPr>
        <p:spPr>
          <a:xfrm>
            <a:off x="757959" y="3473007"/>
            <a:ext cx="2612373" cy="182880"/>
          </a:xfrm>
          <a:prstGeom prst="rect">
            <a:avLst/>
          </a:prstGeom>
          <a:noFill/>
        </p:spPr>
        <p:txBody>
          <a:bodyPr wrap="square" lIns="0" tIns="0" rIns="0" bIns="0">
            <a:spAutoFit/>
          </a:bodyPr>
          <a:lstStyle/>
          <a:p>
            <a:pPr algn="ctr"/>
            <a:r>
              <a:rPr lang="es-PE" sz="1100" b="0" i="1" noProof="0" dirty="0">
                <a:solidFill>
                  <a:srgbClr val="6E6E6E"/>
                </a:solidFill>
                <a:latin typeface="Calibri"/>
              </a:rPr>
              <a:t>Norma de torque por controlador (v3)</a:t>
            </a:r>
          </a:p>
        </p:txBody>
      </p:sp>
      <p:pic>
        <p:nvPicPr>
          <p:cNvPr id="6" name="Picture 5" descr="v3_TorqueJunta1.png"/>
          <p:cNvPicPr>
            <a:picLocks noChangeAspect="1"/>
          </p:cNvPicPr>
          <p:nvPr/>
        </p:nvPicPr>
        <p:blipFill>
          <a:blip r:embed="rId4"/>
          <a:stretch>
            <a:fillRect/>
          </a:stretch>
        </p:blipFill>
        <p:spPr>
          <a:xfrm>
            <a:off x="6418616" y="1044481"/>
            <a:ext cx="3309278" cy="2481959"/>
          </a:xfrm>
          <a:prstGeom prst="rect">
            <a:avLst/>
          </a:prstGeom>
        </p:spPr>
      </p:pic>
      <p:sp>
        <p:nvSpPr>
          <p:cNvPr id="7" name="TextBox 6"/>
          <p:cNvSpPr txBox="1"/>
          <p:nvPr/>
        </p:nvSpPr>
        <p:spPr>
          <a:xfrm>
            <a:off x="6418616" y="3450973"/>
            <a:ext cx="2612373" cy="182880"/>
          </a:xfrm>
          <a:prstGeom prst="rect">
            <a:avLst/>
          </a:prstGeom>
          <a:noFill/>
        </p:spPr>
        <p:txBody>
          <a:bodyPr wrap="square" lIns="0" tIns="0" rIns="0" bIns="0">
            <a:spAutoFit/>
          </a:bodyPr>
          <a:lstStyle/>
          <a:p>
            <a:pPr algn="ctr"/>
            <a:r>
              <a:rPr lang="es-PE" sz="1100" b="0" i="1" noProof="0" dirty="0">
                <a:solidFill>
                  <a:srgbClr val="6E6E6E"/>
                </a:solidFill>
                <a:latin typeface="Calibri"/>
              </a:rPr>
              <a:t>Torque junta 1 (v3)</a:t>
            </a:r>
          </a:p>
        </p:txBody>
      </p:sp>
      <p:pic>
        <p:nvPicPr>
          <p:cNvPr id="8" name="Picture 7" descr="v3_TorqueJunta2.png"/>
          <p:cNvPicPr>
            <a:picLocks noChangeAspect="1"/>
          </p:cNvPicPr>
          <p:nvPr/>
        </p:nvPicPr>
        <p:blipFill>
          <a:blip r:embed="rId5"/>
          <a:stretch>
            <a:fillRect/>
          </a:stretch>
        </p:blipFill>
        <p:spPr>
          <a:xfrm>
            <a:off x="548640" y="3837879"/>
            <a:ext cx="3126494" cy="2344871"/>
          </a:xfrm>
          <a:prstGeom prst="rect">
            <a:avLst/>
          </a:prstGeom>
        </p:spPr>
      </p:pic>
      <p:sp>
        <p:nvSpPr>
          <p:cNvPr id="9" name="TextBox 8"/>
          <p:cNvSpPr txBox="1"/>
          <p:nvPr/>
        </p:nvSpPr>
        <p:spPr>
          <a:xfrm>
            <a:off x="548639" y="6228471"/>
            <a:ext cx="2612373" cy="182880"/>
          </a:xfrm>
          <a:prstGeom prst="rect">
            <a:avLst/>
          </a:prstGeom>
          <a:noFill/>
        </p:spPr>
        <p:txBody>
          <a:bodyPr wrap="square" lIns="0" tIns="0" rIns="0" bIns="0">
            <a:spAutoFit/>
          </a:bodyPr>
          <a:lstStyle/>
          <a:p>
            <a:pPr algn="ctr"/>
            <a:r>
              <a:rPr lang="es-PE" sz="1100" b="0" i="1" noProof="0" dirty="0">
                <a:solidFill>
                  <a:srgbClr val="6E6E6E"/>
                </a:solidFill>
                <a:latin typeface="Calibri"/>
              </a:rPr>
              <a:t>Torque junta 2 (v3)</a:t>
            </a:r>
          </a:p>
        </p:txBody>
      </p:sp>
      <p:pic>
        <p:nvPicPr>
          <p:cNvPr id="10" name="Picture 9" descr="v3_TorqueJunta3.png"/>
          <p:cNvPicPr>
            <a:picLocks noChangeAspect="1"/>
          </p:cNvPicPr>
          <p:nvPr/>
        </p:nvPicPr>
        <p:blipFill>
          <a:blip r:embed="rId6"/>
          <a:stretch>
            <a:fillRect/>
          </a:stretch>
        </p:blipFill>
        <p:spPr>
          <a:xfrm>
            <a:off x="6418616" y="3634691"/>
            <a:ext cx="3397413" cy="2548060"/>
          </a:xfrm>
          <a:prstGeom prst="rect">
            <a:avLst/>
          </a:prstGeom>
        </p:spPr>
      </p:pic>
      <p:sp>
        <p:nvSpPr>
          <p:cNvPr id="11" name="TextBox 10"/>
          <p:cNvSpPr txBox="1"/>
          <p:nvPr/>
        </p:nvSpPr>
        <p:spPr>
          <a:xfrm>
            <a:off x="6418616" y="6228471"/>
            <a:ext cx="2612373" cy="182880"/>
          </a:xfrm>
          <a:prstGeom prst="rect">
            <a:avLst/>
          </a:prstGeom>
          <a:noFill/>
        </p:spPr>
        <p:txBody>
          <a:bodyPr wrap="square" lIns="0" tIns="0" rIns="0" bIns="0">
            <a:spAutoFit/>
          </a:bodyPr>
          <a:lstStyle/>
          <a:p>
            <a:pPr algn="ctr"/>
            <a:r>
              <a:rPr lang="es-PE" sz="1100" b="0" i="1" noProof="0" dirty="0">
                <a:solidFill>
                  <a:srgbClr val="6E6E6E"/>
                </a:solidFill>
                <a:latin typeface="Calibri"/>
              </a:rPr>
              <a:t>Torque junta 3 (v3)</a:t>
            </a:r>
          </a:p>
        </p:txBody>
      </p:sp>
      <p:sp>
        <p:nvSpPr>
          <p:cNvPr id="12" name="TextBox 11"/>
          <p:cNvSpPr txBox="1"/>
          <p:nvPr/>
        </p:nvSpPr>
        <p:spPr>
          <a:xfrm>
            <a:off x="548640" y="6592824"/>
            <a:ext cx="11064240" cy="169277"/>
          </a:xfrm>
          <a:prstGeom prst="rect">
            <a:avLst/>
          </a:prstGeom>
          <a:noFill/>
        </p:spPr>
        <p:txBody>
          <a:bodyPr wrap="square" lIns="0" tIns="0" rIns="0" bIns="0">
            <a:spAutoFit/>
          </a:bodyPr>
          <a:lstStyle/>
          <a:p>
            <a:pPr algn="ctr"/>
            <a:r>
              <a:rPr lang="es-PE" sz="1100" b="1" i="0" noProof="0" dirty="0">
                <a:solidFill>
                  <a:srgbClr val="6E6E6E"/>
                </a:solidFill>
                <a:latin typeface="Calibri"/>
              </a:rPr>
              <a:t>Validación cruzada e independiente de Simulink, plataforma MATLAB pura.</a:t>
            </a:r>
          </a:p>
        </p:txBody>
      </p:sp>
      <p:sp>
        <p:nvSpPr>
          <p:cNvPr id="13" name="TextBox 12"/>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6008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PE" noProof="0" dirty="0"/>
          </a:p>
        </p:txBody>
      </p:sp>
      <p:sp>
        <p:nvSpPr>
          <p:cNvPr id="3" name="TextBox 2"/>
          <p:cNvSpPr txBox="1"/>
          <p:nvPr/>
        </p:nvSpPr>
        <p:spPr>
          <a:xfrm>
            <a:off x="822960" y="2286000"/>
            <a:ext cx="10058400" cy="457200"/>
          </a:xfrm>
          <a:prstGeom prst="rect">
            <a:avLst/>
          </a:prstGeom>
          <a:noFill/>
        </p:spPr>
        <p:txBody>
          <a:bodyPr wrap="square" lIns="0" tIns="0" rIns="0" bIns="0">
            <a:spAutoFit/>
          </a:bodyPr>
          <a:lstStyle/>
          <a:p>
            <a:r>
              <a:rPr lang="es-PE" sz="1500" b="1" noProof="0" dirty="0">
                <a:solidFill>
                  <a:srgbClr val="E8C8CB"/>
                </a:solidFill>
                <a:latin typeface="Calibri"/>
              </a:rPr>
              <a:t>BLOQUE 4</a:t>
            </a:r>
          </a:p>
        </p:txBody>
      </p:sp>
      <p:sp>
        <p:nvSpPr>
          <p:cNvPr id="4" name="TextBox 3"/>
          <p:cNvSpPr txBox="1"/>
          <p:nvPr/>
        </p:nvSpPr>
        <p:spPr>
          <a:xfrm>
            <a:off x="822960" y="2834640"/>
            <a:ext cx="10515600" cy="1188720"/>
          </a:xfrm>
          <a:prstGeom prst="rect">
            <a:avLst/>
          </a:prstGeom>
          <a:noFill/>
        </p:spPr>
        <p:txBody>
          <a:bodyPr wrap="square" lIns="0" tIns="0" rIns="0" bIns="0">
            <a:spAutoFit/>
          </a:bodyPr>
          <a:lstStyle/>
          <a:p>
            <a:r>
              <a:rPr lang="es-PE" sz="3400" b="1" noProof="0" dirty="0">
                <a:solidFill>
                  <a:srgbClr val="FFFFFF"/>
                </a:solidFill>
                <a:latin typeface="Cambria"/>
              </a:rPr>
              <a:t>Planeación autónoma y conclusiones</a:t>
            </a:r>
          </a:p>
        </p:txBody>
      </p:sp>
      <p:sp>
        <p:nvSpPr>
          <p:cNvPr id="5" name="TextBox 4"/>
          <p:cNvSpPr txBox="1"/>
          <p:nvPr/>
        </p:nvSpPr>
        <p:spPr>
          <a:xfrm>
            <a:off x="822960" y="4206240"/>
            <a:ext cx="10058400" cy="246221"/>
          </a:xfrm>
          <a:prstGeom prst="rect">
            <a:avLst/>
          </a:prstGeom>
          <a:noFill/>
        </p:spPr>
        <p:txBody>
          <a:bodyPr wrap="square" lIns="0" tIns="0" rIns="0" bIns="0">
            <a:spAutoFit/>
          </a:bodyPr>
          <a:lstStyle/>
          <a:p>
            <a:r>
              <a:rPr lang="es-PE" sz="1600" b="0" noProof="0" dirty="0">
                <a:solidFill>
                  <a:srgbClr val="F0D5D8"/>
                </a:solidFill>
                <a:latin typeface="Calibri"/>
              </a:rPr>
              <a:t>Fernando García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s-PE" sz="1100" b="1" kern="0" spc="300" noProof="0" dirty="0">
                <a:solidFill>
                  <a:srgbClr val="6E6E6E"/>
                </a:solidFill>
                <a:latin typeface="Calibri" pitchFamily="34" charset="0"/>
                <a:ea typeface="Calibri" pitchFamily="34" charset="-122"/>
                <a:cs typeface="Calibri" pitchFamily="34" charset="-120"/>
              </a:rPr>
              <a:t>4 · PLANEACIÓN AUTÓNOMA CON OBSTÁCULOS</a:t>
            </a:r>
            <a:endParaRPr lang="es-PE" sz="1100" noProof="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s-PE" sz="2700" b="1" noProof="0" dirty="0">
                <a:solidFill>
                  <a:srgbClr val="990011"/>
                </a:solidFill>
                <a:latin typeface="Cambria" pitchFamily="34" charset="0"/>
                <a:ea typeface="Cambria" pitchFamily="34" charset="-122"/>
                <a:cs typeface="Cambria" pitchFamily="34" charset="-120"/>
              </a:rPr>
              <a:t>A*: una ruta libre de obstáculos → trayectoria articular</a:t>
            </a:r>
            <a:endParaRPr lang="es-PE" sz="2700" noProof="0" dirty="0"/>
          </a:p>
        </p:txBody>
      </p:sp>
      <p:sp>
        <p:nvSpPr>
          <p:cNvPr id="4" name="Shape 2"/>
          <p:cNvSpPr/>
          <p:nvPr/>
        </p:nvSpPr>
        <p:spPr>
          <a:xfrm>
            <a:off x="548640" y="1691640"/>
            <a:ext cx="5852160" cy="4389120"/>
          </a:xfrm>
          <a:prstGeom prst="roundRect">
            <a:avLst>
              <a:gd name="adj" fmla="val 1250"/>
            </a:avLst>
          </a:prstGeom>
          <a:solidFill>
            <a:srgbClr val="FCF6F5"/>
          </a:solidFill>
          <a:ln w="12700">
            <a:solidFill>
              <a:srgbClr val="D9C7C6"/>
            </a:solidFill>
            <a:prstDash val="solid"/>
          </a:ln>
        </p:spPr>
        <p:txBody>
          <a:bodyPr/>
          <a:lstStyle/>
          <a:p>
            <a:endParaRPr lang="es-PE" noProof="0" dirty="0"/>
          </a:p>
        </p:txBody>
      </p:sp>
      <p:pic>
        <p:nvPicPr>
          <p:cNvPr id="5" name="Image 0" descr="/tmp/deck/assets/astar.png"/>
          <p:cNvPicPr>
            <a:picLocks noChangeAspect="1"/>
          </p:cNvPicPr>
          <p:nvPr/>
        </p:nvPicPr>
        <p:blipFill>
          <a:blip r:embed="rId3"/>
          <a:srcRect/>
          <a:stretch/>
        </p:blipFill>
        <p:spPr>
          <a:xfrm>
            <a:off x="685800" y="1828800"/>
            <a:ext cx="5577840" cy="4114800"/>
          </a:xfrm>
          <a:prstGeom prst="rect">
            <a:avLst/>
          </a:prstGeom>
        </p:spPr>
      </p:pic>
      <p:sp>
        <p:nvSpPr>
          <p:cNvPr id="6" name="Shape 3"/>
          <p:cNvSpPr/>
          <p:nvPr/>
        </p:nvSpPr>
        <p:spPr>
          <a:xfrm>
            <a:off x="6675120" y="1828800"/>
            <a:ext cx="502920" cy="502920"/>
          </a:xfrm>
          <a:prstGeom prst="roundRect">
            <a:avLst>
              <a:gd name="adj" fmla="val 10909"/>
            </a:avLst>
          </a:prstGeom>
          <a:solidFill>
            <a:srgbClr val="990011"/>
          </a:solidFill>
          <a:ln/>
        </p:spPr>
        <p:txBody>
          <a:bodyPr/>
          <a:lstStyle/>
          <a:p>
            <a:endParaRPr lang="es-PE" noProof="0" dirty="0"/>
          </a:p>
        </p:txBody>
      </p:sp>
      <p:sp>
        <p:nvSpPr>
          <p:cNvPr id="7" name="Text 4"/>
          <p:cNvSpPr/>
          <p:nvPr/>
        </p:nvSpPr>
        <p:spPr>
          <a:xfrm>
            <a:off x="6675120" y="1828800"/>
            <a:ext cx="502920" cy="502920"/>
          </a:xfrm>
          <a:prstGeom prst="rect">
            <a:avLst/>
          </a:prstGeom>
          <a:noFill/>
          <a:ln/>
        </p:spPr>
        <p:txBody>
          <a:bodyPr wrap="square" rtlCol="0" anchor="ctr"/>
          <a:lstStyle/>
          <a:p>
            <a:pPr marL="0" indent="0" algn="ctr">
              <a:buNone/>
            </a:pPr>
            <a:r>
              <a:rPr lang="es-PE" sz="1800" b="1" noProof="0" dirty="0">
                <a:solidFill>
                  <a:srgbClr val="FFFFFF"/>
                </a:solidFill>
                <a:latin typeface="Cambria" pitchFamily="34" charset="0"/>
                <a:ea typeface="Cambria" pitchFamily="34" charset="-122"/>
                <a:cs typeface="Cambria" pitchFamily="34" charset="-120"/>
              </a:rPr>
              <a:t>1</a:t>
            </a:r>
            <a:endParaRPr lang="es-PE" sz="1800" noProof="0" dirty="0"/>
          </a:p>
        </p:txBody>
      </p:sp>
      <p:sp>
        <p:nvSpPr>
          <p:cNvPr id="8" name="Text 5"/>
          <p:cNvSpPr/>
          <p:nvPr/>
        </p:nvSpPr>
        <p:spPr>
          <a:xfrm>
            <a:off x="7315200" y="1828800"/>
            <a:ext cx="4480560" cy="548640"/>
          </a:xfrm>
          <a:prstGeom prst="rect">
            <a:avLst/>
          </a:prstGeom>
          <a:noFill/>
          <a:ln/>
        </p:spPr>
        <p:txBody>
          <a:bodyPr wrap="square" lIns="0" tIns="0" rIns="0" bIns="0" rtlCol="0" anchor="ctr"/>
          <a:lstStyle/>
          <a:p>
            <a:pPr marL="0" indent="0">
              <a:buNone/>
            </a:pPr>
            <a:r>
              <a:rPr lang="es-PE" sz="1600" b="1" noProof="0" dirty="0">
                <a:solidFill>
                  <a:srgbClr val="2B2B2B"/>
                </a:solidFill>
                <a:latin typeface="Calibri" pitchFamily="34" charset="0"/>
                <a:ea typeface="Calibri" pitchFamily="34" charset="-122"/>
                <a:cs typeface="Calibri" pitchFamily="34" charset="-120"/>
              </a:rPr>
              <a:t>Mapa cartesiano XZ con 2 obstáculos circulares</a:t>
            </a:r>
            <a:endParaRPr lang="es-PE" sz="1600" b="1" noProof="0" dirty="0"/>
          </a:p>
        </p:txBody>
      </p:sp>
      <p:sp>
        <p:nvSpPr>
          <p:cNvPr id="9" name="Shape 6"/>
          <p:cNvSpPr/>
          <p:nvPr/>
        </p:nvSpPr>
        <p:spPr>
          <a:xfrm>
            <a:off x="6675120" y="2670048"/>
            <a:ext cx="502920" cy="502920"/>
          </a:xfrm>
          <a:prstGeom prst="roundRect">
            <a:avLst>
              <a:gd name="adj" fmla="val 10909"/>
            </a:avLst>
          </a:prstGeom>
          <a:solidFill>
            <a:srgbClr val="990011"/>
          </a:solidFill>
          <a:ln/>
        </p:spPr>
        <p:txBody>
          <a:bodyPr/>
          <a:lstStyle/>
          <a:p>
            <a:endParaRPr lang="es-PE" noProof="0" dirty="0"/>
          </a:p>
        </p:txBody>
      </p:sp>
      <p:sp>
        <p:nvSpPr>
          <p:cNvPr id="10" name="Text 7"/>
          <p:cNvSpPr/>
          <p:nvPr/>
        </p:nvSpPr>
        <p:spPr>
          <a:xfrm>
            <a:off x="6675120" y="2670048"/>
            <a:ext cx="502920" cy="502920"/>
          </a:xfrm>
          <a:prstGeom prst="rect">
            <a:avLst/>
          </a:prstGeom>
          <a:noFill/>
          <a:ln/>
        </p:spPr>
        <p:txBody>
          <a:bodyPr wrap="square" rtlCol="0" anchor="ctr"/>
          <a:lstStyle/>
          <a:p>
            <a:pPr marL="0" indent="0" algn="ctr">
              <a:buNone/>
            </a:pPr>
            <a:r>
              <a:rPr lang="es-PE" sz="1800" b="1" noProof="0" dirty="0">
                <a:solidFill>
                  <a:srgbClr val="FFFFFF"/>
                </a:solidFill>
                <a:latin typeface="Cambria" pitchFamily="34" charset="0"/>
                <a:ea typeface="Cambria" pitchFamily="34" charset="-122"/>
                <a:cs typeface="Cambria" pitchFamily="34" charset="-120"/>
              </a:rPr>
              <a:t>2</a:t>
            </a:r>
            <a:endParaRPr lang="es-PE" sz="1800" noProof="0" dirty="0"/>
          </a:p>
        </p:txBody>
      </p:sp>
      <p:sp>
        <p:nvSpPr>
          <p:cNvPr id="11" name="Text 8"/>
          <p:cNvSpPr/>
          <p:nvPr/>
        </p:nvSpPr>
        <p:spPr>
          <a:xfrm>
            <a:off x="7315200" y="2670048"/>
            <a:ext cx="4480560" cy="548640"/>
          </a:xfrm>
          <a:prstGeom prst="rect">
            <a:avLst/>
          </a:prstGeom>
          <a:noFill/>
          <a:ln/>
        </p:spPr>
        <p:txBody>
          <a:bodyPr wrap="square" lIns="0" tIns="0" rIns="0" bIns="0" rtlCol="0" anchor="ctr"/>
          <a:lstStyle/>
          <a:p>
            <a:pPr marL="0" indent="0">
              <a:buNone/>
            </a:pPr>
            <a:r>
              <a:rPr lang="es-PE" sz="1600" b="1" noProof="0" dirty="0">
                <a:solidFill>
                  <a:srgbClr val="2B2B2B"/>
                </a:solidFill>
                <a:latin typeface="Calibri" pitchFamily="34" charset="0"/>
                <a:ea typeface="Calibri" pitchFamily="34" charset="-122"/>
                <a:cs typeface="Calibri" pitchFamily="34" charset="-120"/>
              </a:rPr>
              <a:t>A* (8 vecinos) → ruta óptima libre de colisión</a:t>
            </a:r>
            <a:endParaRPr lang="es-PE" sz="1600" b="1" noProof="0" dirty="0"/>
          </a:p>
        </p:txBody>
      </p:sp>
      <p:sp>
        <p:nvSpPr>
          <p:cNvPr id="12" name="Shape 9"/>
          <p:cNvSpPr/>
          <p:nvPr/>
        </p:nvSpPr>
        <p:spPr>
          <a:xfrm>
            <a:off x="6675120" y="3511296"/>
            <a:ext cx="502920" cy="502920"/>
          </a:xfrm>
          <a:prstGeom prst="roundRect">
            <a:avLst>
              <a:gd name="adj" fmla="val 10909"/>
            </a:avLst>
          </a:prstGeom>
          <a:solidFill>
            <a:srgbClr val="990011"/>
          </a:solidFill>
          <a:ln/>
        </p:spPr>
        <p:txBody>
          <a:bodyPr/>
          <a:lstStyle/>
          <a:p>
            <a:endParaRPr lang="es-PE" noProof="0" dirty="0"/>
          </a:p>
        </p:txBody>
      </p:sp>
      <p:sp>
        <p:nvSpPr>
          <p:cNvPr id="13" name="Text 10"/>
          <p:cNvSpPr/>
          <p:nvPr/>
        </p:nvSpPr>
        <p:spPr>
          <a:xfrm>
            <a:off x="6675120" y="3511296"/>
            <a:ext cx="502920" cy="502920"/>
          </a:xfrm>
          <a:prstGeom prst="rect">
            <a:avLst/>
          </a:prstGeom>
          <a:noFill/>
          <a:ln/>
        </p:spPr>
        <p:txBody>
          <a:bodyPr wrap="square" rtlCol="0" anchor="ctr"/>
          <a:lstStyle/>
          <a:p>
            <a:pPr marL="0" indent="0" algn="ctr">
              <a:buNone/>
            </a:pPr>
            <a:r>
              <a:rPr lang="es-PE" sz="1800" b="1" noProof="0" dirty="0">
                <a:solidFill>
                  <a:srgbClr val="FFFFFF"/>
                </a:solidFill>
                <a:latin typeface="Cambria" pitchFamily="34" charset="0"/>
                <a:ea typeface="Cambria" pitchFamily="34" charset="-122"/>
                <a:cs typeface="Cambria" pitchFamily="34" charset="-120"/>
              </a:rPr>
              <a:t>3</a:t>
            </a:r>
            <a:endParaRPr lang="es-PE" sz="1800" noProof="0" dirty="0"/>
          </a:p>
        </p:txBody>
      </p:sp>
      <p:sp>
        <p:nvSpPr>
          <p:cNvPr id="14" name="Text 11"/>
          <p:cNvSpPr/>
          <p:nvPr/>
        </p:nvSpPr>
        <p:spPr>
          <a:xfrm>
            <a:off x="7315200" y="3511296"/>
            <a:ext cx="4480560" cy="548640"/>
          </a:xfrm>
          <a:prstGeom prst="rect">
            <a:avLst/>
          </a:prstGeom>
          <a:noFill/>
          <a:ln/>
        </p:spPr>
        <p:txBody>
          <a:bodyPr wrap="square" lIns="0" tIns="0" rIns="0" bIns="0" rtlCol="0" anchor="ctr"/>
          <a:lstStyle/>
          <a:p>
            <a:pPr marL="0" indent="0">
              <a:buNone/>
            </a:pPr>
            <a:r>
              <a:rPr lang="es-PE" sz="1600" b="1" noProof="0" dirty="0">
                <a:solidFill>
                  <a:srgbClr val="2B2B2B"/>
                </a:solidFill>
                <a:latin typeface="Calibri" pitchFamily="34" charset="0"/>
                <a:ea typeface="Calibri" pitchFamily="34" charset="-122"/>
                <a:cs typeface="Calibri" pitchFamily="34" charset="-120"/>
              </a:rPr>
              <a:t>13 </a:t>
            </a:r>
            <a:r>
              <a:rPr lang="es-PE" sz="1600" b="1" noProof="0" dirty="0" err="1">
                <a:solidFill>
                  <a:srgbClr val="2B2B2B"/>
                </a:solidFill>
                <a:latin typeface="Calibri" pitchFamily="34" charset="0"/>
                <a:ea typeface="Calibri" pitchFamily="34" charset="-122"/>
                <a:cs typeface="Calibri" pitchFamily="34" charset="-120"/>
              </a:rPr>
              <a:t>waypoints</a:t>
            </a:r>
            <a:r>
              <a:rPr lang="es-PE" sz="1600" b="1" noProof="0" dirty="0">
                <a:solidFill>
                  <a:srgbClr val="2B2B2B"/>
                </a:solidFill>
                <a:latin typeface="Calibri" pitchFamily="34" charset="0"/>
                <a:ea typeface="Calibri" pitchFamily="34" charset="-122"/>
                <a:cs typeface="Calibri" pitchFamily="34" charset="-120"/>
              </a:rPr>
              <a:t>, todos alcanzables por cinemática inversa</a:t>
            </a:r>
            <a:endParaRPr lang="es-PE" sz="1600" b="1" noProof="0" dirty="0"/>
          </a:p>
        </p:txBody>
      </p:sp>
      <p:sp>
        <p:nvSpPr>
          <p:cNvPr id="15" name="Shape 12"/>
          <p:cNvSpPr/>
          <p:nvPr/>
        </p:nvSpPr>
        <p:spPr>
          <a:xfrm>
            <a:off x="6675120" y="4352544"/>
            <a:ext cx="502920" cy="502920"/>
          </a:xfrm>
          <a:prstGeom prst="roundRect">
            <a:avLst>
              <a:gd name="adj" fmla="val 10909"/>
            </a:avLst>
          </a:prstGeom>
          <a:solidFill>
            <a:srgbClr val="990011"/>
          </a:solidFill>
          <a:ln/>
        </p:spPr>
        <p:txBody>
          <a:bodyPr/>
          <a:lstStyle/>
          <a:p>
            <a:endParaRPr lang="es-PE" noProof="0" dirty="0"/>
          </a:p>
        </p:txBody>
      </p:sp>
      <p:sp>
        <p:nvSpPr>
          <p:cNvPr id="16" name="Text 13"/>
          <p:cNvSpPr/>
          <p:nvPr/>
        </p:nvSpPr>
        <p:spPr>
          <a:xfrm>
            <a:off x="6675120" y="4352544"/>
            <a:ext cx="502920" cy="502920"/>
          </a:xfrm>
          <a:prstGeom prst="rect">
            <a:avLst/>
          </a:prstGeom>
          <a:noFill/>
          <a:ln/>
        </p:spPr>
        <p:txBody>
          <a:bodyPr wrap="square" rtlCol="0" anchor="ctr"/>
          <a:lstStyle/>
          <a:p>
            <a:pPr marL="0" indent="0" algn="ctr">
              <a:buNone/>
            </a:pPr>
            <a:r>
              <a:rPr lang="es-PE" sz="1800" b="1" noProof="0" dirty="0">
                <a:solidFill>
                  <a:srgbClr val="FFFFFF"/>
                </a:solidFill>
                <a:latin typeface="Cambria" pitchFamily="34" charset="0"/>
                <a:ea typeface="Cambria" pitchFamily="34" charset="-122"/>
                <a:cs typeface="Cambria" pitchFamily="34" charset="-120"/>
              </a:rPr>
              <a:t>4</a:t>
            </a:r>
            <a:endParaRPr lang="es-PE" sz="1800" noProof="0" dirty="0"/>
          </a:p>
        </p:txBody>
      </p:sp>
      <p:sp>
        <p:nvSpPr>
          <p:cNvPr id="17" name="Text 14"/>
          <p:cNvSpPr/>
          <p:nvPr/>
        </p:nvSpPr>
        <p:spPr>
          <a:xfrm>
            <a:off x="7315200" y="4352544"/>
            <a:ext cx="4480560" cy="548640"/>
          </a:xfrm>
          <a:prstGeom prst="rect">
            <a:avLst/>
          </a:prstGeom>
          <a:noFill/>
          <a:ln/>
        </p:spPr>
        <p:txBody>
          <a:bodyPr wrap="square" lIns="0" tIns="0" rIns="0" bIns="0" rtlCol="0" anchor="ctr"/>
          <a:lstStyle/>
          <a:p>
            <a:pPr marL="0" indent="0">
              <a:buNone/>
            </a:pPr>
            <a:r>
              <a:rPr lang="es-PE" sz="1600" b="1" noProof="0" dirty="0">
                <a:solidFill>
                  <a:srgbClr val="2B2B2B"/>
                </a:solidFill>
                <a:latin typeface="Calibri" pitchFamily="34" charset="0"/>
                <a:ea typeface="Calibri" pitchFamily="34" charset="-122"/>
                <a:cs typeface="Calibri" pitchFamily="34" charset="-120"/>
              </a:rPr>
              <a:t>Suavizado (</a:t>
            </a:r>
            <a:r>
              <a:rPr lang="es-PE" sz="1600" b="1" noProof="0" dirty="0" err="1">
                <a:solidFill>
                  <a:srgbClr val="2B2B2B"/>
                </a:solidFill>
                <a:latin typeface="Calibri" pitchFamily="34" charset="0"/>
                <a:ea typeface="Calibri" pitchFamily="34" charset="-122"/>
                <a:cs typeface="Calibri" pitchFamily="34" charset="-120"/>
              </a:rPr>
              <a:t>pchip</a:t>
            </a:r>
            <a:r>
              <a:rPr lang="es-PE" sz="1600" b="1" noProof="0" dirty="0">
                <a:solidFill>
                  <a:srgbClr val="2B2B2B"/>
                </a:solidFill>
                <a:latin typeface="Calibri" pitchFamily="34" charset="0"/>
                <a:ea typeface="Calibri" pitchFamily="34" charset="-122"/>
                <a:cs typeface="Calibri" pitchFamily="34" charset="-120"/>
              </a:rPr>
              <a:t>) → trayectoria articular qd(t)</a:t>
            </a:r>
            <a:endParaRPr lang="es-PE" sz="1600" b="1" noProof="0" dirty="0"/>
          </a:p>
        </p:txBody>
      </p:sp>
      <p:sp>
        <p:nvSpPr>
          <p:cNvPr id="18" name="Shape 15"/>
          <p:cNvSpPr/>
          <p:nvPr/>
        </p:nvSpPr>
        <p:spPr>
          <a:xfrm>
            <a:off x="6675120" y="5193792"/>
            <a:ext cx="502920" cy="502920"/>
          </a:xfrm>
          <a:prstGeom prst="roundRect">
            <a:avLst>
              <a:gd name="adj" fmla="val 10909"/>
            </a:avLst>
          </a:prstGeom>
          <a:solidFill>
            <a:srgbClr val="990011"/>
          </a:solidFill>
          <a:ln/>
        </p:spPr>
        <p:txBody>
          <a:bodyPr/>
          <a:lstStyle/>
          <a:p>
            <a:endParaRPr lang="es-PE" noProof="0" dirty="0"/>
          </a:p>
        </p:txBody>
      </p:sp>
      <p:sp>
        <p:nvSpPr>
          <p:cNvPr id="19" name="Text 16"/>
          <p:cNvSpPr/>
          <p:nvPr/>
        </p:nvSpPr>
        <p:spPr>
          <a:xfrm>
            <a:off x="6675120" y="5193792"/>
            <a:ext cx="502920" cy="502920"/>
          </a:xfrm>
          <a:prstGeom prst="rect">
            <a:avLst/>
          </a:prstGeom>
          <a:noFill/>
          <a:ln/>
        </p:spPr>
        <p:txBody>
          <a:bodyPr wrap="square" rtlCol="0" anchor="ctr"/>
          <a:lstStyle/>
          <a:p>
            <a:pPr marL="0" indent="0" algn="ctr">
              <a:buNone/>
            </a:pPr>
            <a:r>
              <a:rPr lang="es-PE" sz="1800" b="1" noProof="0" dirty="0">
                <a:solidFill>
                  <a:srgbClr val="FFFFFF"/>
                </a:solidFill>
                <a:latin typeface="Cambria" pitchFamily="34" charset="0"/>
                <a:ea typeface="Cambria" pitchFamily="34" charset="-122"/>
                <a:cs typeface="Cambria" pitchFamily="34" charset="-120"/>
              </a:rPr>
              <a:t>5</a:t>
            </a:r>
            <a:endParaRPr lang="es-PE" sz="1800" noProof="0" dirty="0"/>
          </a:p>
        </p:txBody>
      </p:sp>
      <p:sp>
        <p:nvSpPr>
          <p:cNvPr id="20" name="Text 17"/>
          <p:cNvSpPr/>
          <p:nvPr/>
        </p:nvSpPr>
        <p:spPr>
          <a:xfrm>
            <a:off x="7315200" y="5193792"/>
            <a:ext cx="4480560" cy="548640"/>
          </a:xfrm>
          <a:prstGeom prst="rect">
            <a:avLst/>
          </a:prstGeom>
          <a:noFill/>
          <a:ln/>
        </p:spPr>
        <p:txBody>
          <a:bodyPr wrap="square" lIns="0" tIns="0" rIns="0" bIns="0" rtlCol="0" anchor="ctr"/>
          <a:lstStyle/>
          <a:p>
            <a:pPr marL="0" indent="0">
              <a:buNone/>
            </a:pPr>
            <a:r>
              <a:rPr lang="es-PE" sz="1600" b="1" noProof="0" dirty="0">
                <a:solidFill>
                  <a:srgbClr val="2B2B2B"/>
                </a:solidFill>
                <a:latin typeface="Calibri" pitchFamily="34" charset="0"/>
                <a:ea typeface="Calibri" pitchFamily="34" charset="-122"/>
                <a:cs typeface="Calibri" pitchFamily="34" charset="-120"/>
              </a:rPr>
              <a:t>Los 3 controladores ya vistos siguen la trayectoria qd(t) que genera A*</a:t>
            </a:r>
            <a:endParaRPr lang="es-PE" sz="1600" b="1" noProof="0" dirty="0"/>
          </a:p>
        </p:txBody>
      </p:sp>
      <p:sp>
        <p:nvSpPr>
          <p:cNvPr id="21" name="Text 18"/>
          <p:cNvSpPr/>
          <p:nvPr/>
        </p:nvSpPr>
        <p:spPr>
          <a:xfrm>
            <a:off x="11612880" y="6455664"/>
            <a:ext cx="457200" cy="274320"/>
          </a:xfrm>
          <a:prstGeom prst="rect">
            <a:avLst/>
          </a:prstGeom>
          <a:noFill/>
          <a:ln/>
        </p:spPr>
        <p:txBody>
          <a:bodyPr wrap="square" lIns="0" tIns="0" rIns="0" bIns="0" rtlCol="0" anchor="ctr"/>
          <a:lstStyle/>
          <a:p>
            <a:pPr marL="0" indent="0" algn="r">
              <a:buNone/>
            </a:pPr>
            <a:r>
              <a:rPr lang="es-PE" sz="1000" noProof="0" dirty="0">
                <a:solidFill>
                  <a:srgbClr val="6E6E6E"/>
                </a:solidFill>
                <a:latin typeface="Calibri" pitchFamily="34" charset="0"/>
                <a:ea typeface="Calibri" pitchFamily="34" charset="-122"/>
                <a:cs typeface="Calibri" pitchFamily="34" charset="-120"/>
              </a:rPr>
              <a:t>25</a:t>
            </a:r>
            <a:endParaRPr lang="es-PE" sz="1000" noProof="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4 · PLANEACIÓN AUTÓNOMA (v4) · DETALLE</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Seguimiento articular con la ruta A* — v4</a:t>
            </a:r>
          </a:p>
        </p:txBody>
      </p:sp>
      <p:pic>
        <p:nvPicPr>
          <p:cNvPr id="4" name="Picture 3" descr="v4_SeguimientoArticularQ1.png"/>
          <p:cNvPicPr>
            <a:picLocks noChangeAspect="1"/>
          </p:cNvPicPr>
          <p:nvPr/>
        </p:nvPicPr>
        <p:blipFill>
          <a:blip r:embed="rId3"/>
          <a:stretch>
            <a:fillRect/>
          </a:stretch>
        </p:blipFill>
        <p:spPr>
          <a:xfrm>
            <a:off x="-35251" y="1110358"/>
            <a:ext cx="5547360" cy="2503708"/>
          </a:xfrm>
          <a:prstGeom prst="rect">
            <a:avLst/>
          </a:prstGeom>
        </p:spPr>
      </p:pic>
      <p:sp>
        <p:nvSpPr>
          <p:cNvPr id="5" name="TextBox 4"/>
          <p:cNvSpPr txBox="1"/>
          <p:nvPr/>
        </p:nvSpPr>
        <p:spPr>
          <a:xfrm>
            <a:off x="640163" y="3483750"/>
            <a:ext cx="3576218" cy="274320"/>
          </a:xfrm>
          <a:prstGeom prst="rect">
            <a:avLst/>
          </a:prstGeom>
          <a:noFill/>
        </p:spPr>
        <p:txBody>
          <a:bodyPr wrap="square" lIns="0" tIns="0" rIns="0" bIns="0">
            <a:spAutoFit/>
          </a:bodyPr>
          <a:lstStyle/>
          <a:p>
            <a:pPr algn="ctr"/>
            <a:r>
              <a:rPr lang="es-PE" sz="1100" b="0" i="1" noProof="0" dirty="0">
                <a:solidFill>
                  <a:srgbClr val="6E6E6E"/>
                </a:solidFill>
                <a:latin typeface="Calibri"/>
              </a:rPr>
              <a:t>Seguimiento q1 (v4)</a:t>
            </a:r>
          </a:p>
        </p:txBody>
      </p:sp>
      <p:pic>
        <p:nvPicPr>
          <p:cNvPr id="6" name="Picture 5" descr="v4_SeguimientoArticularQ2.png"/>
          <p:cNvPicPr>
            <a:picLocks noChangeAspect="1"/>
          </p:cNvPicPr>
          <p:nvPr/>
        </p:nvPicPr>
        <p:blipFill>
          <a:blip r:embed="rId4"/>
          <a:stretch>
            <a:fillRect/>
          </a:stretch>
        </p:blipFill>
        <p:spPr>
          <a:xfrm>
            <a:off x="3272010" y="3620910"/>
            <a:ext cx="5743596" cy="2592276"/>
          </a:xfrm>
          <a:prstGeom prst="rect">
            <a:avLst/>
          </a:prstGeom>
        </p:spPr>
      </p:pic>
      <p:sp>
        <p:nvSpPr>
          <p:cNvPr id="7" name="TextBox 6"/>
          <p:cNvSpPr txBox="1"/>
          <p:nvPr/>
        </p:nvSpPr>
        <p:spPr>
          <a:xfrm>
            <a:off x="4334181" y="6115684"/>
            <a:ext cx="3576218" cy="274320"/>
          </a:xfrm>
          <a:prstGeom prst="rect">
            <a:avLst/>
          </a:prstGeom>
          <a:noFill/>
        </p:spPr>
        <p:txBody>
          <a:bodyPr wrap="square" lIns="0" tIns="0" rIns="0" bIns="0">
            <a:spAutoFit/>
          </a:bodyPr>
          <a:lstStyle/>
          <a:p>
            <a:pPr algn="ctr"/>
            <a:r>
              <a:rPr lang="es-PE" sz="1100" b="0" i="1" noProof="0" dirty="0">
                <a:solidFill>
                  <a:srgbClr val="6E6E6E"/>
                </a:solidFill>
                <a:latin typeface="Calibri"/>
              </a:rPr>
              <a:t>Seguimiento q2 (v4)</a:t>
            </a:r>
          </a:p>
        </p:txBody>
      </p:sp>
      <p:pic>
        <p:nvPicPr>
          <p:cNvPr id="8" name="Picture 7" descr="v4_SeguimientoArticularQ3.png"/>
          <p:cNvPicPr>
            <a:picLocks noChangeAspect="1"/>
          </p:cNvPicPr>
          <p:nvPr/>
        </p:nvPicPr>
        <p:blipFill>
          <a:blip r:embed="rId5"/>
          <a:stretch>
            <a:fillRect/>
          </a:stretch>
        </p:blipFill>
        <p:spPr>
          <a:xfrm>
            <a:off x="6613794" y="1110496"/>
            <a:ext cx="5547054" cy="2503570"/>
          </a:xfrm>
          <a:prstGeom prst="rect">
            <a:avLst/>
          </a:prstGeom>
        </p:spPr>
      </p:pic>
      <p:sp>
        <p:nvSpPr>
          <p:cNvPr id="9" name="TextBox 8"/>
          <p:cNvSpPr txBox="1"/>
          <p:nvPr/>
        </p:nvSpPr>
        <p:spPr>
          <a:xfrm>
            <a:off x="7910399" y="3548278"/>
            <a:ext cx="3576218" cy="274320"/>
          </a:xfrm>
          <a:prstGeom prst="rect">
            <a:avLst/>
          </a:prstGeom>
          <a:noFill/>
        </p:spPr>
        <p:txBody>
          <a:bodyPr wrap="square" lIns="0" tIns="0" rIns="0" bIns="0">
            <a:spAutoFit/>
          </a:bodyPr>
          <a:lstStyle/>
          <a:p>
            <a:pPr algn="ctr"/>
            <a:r>
              <a:rPr lang="es-PE" sz="1100" b="0" i="1" noProof="0" dirty="0">
                <a:solidFill>
                  <a:srgbClr val="6E6E6E"/>
                </a:solidFill>
                <a:latin typeface="Calibri"/>
              </a:rPr>
              <a:t>Seguimiento q3 (v4)</a:t>
            </a:r>
          </a:p>
        </p:txBody>
      </p:sp>
      <p:sp>
        <p:nvSpPr>
          <p:cNvPr id="10" name="TextBox 9"/>
          <p:cNvSpPr txBox="1"/>
          <p:nvPr/>
        </p:nvSpPr>
        <p:spPr>
          <a:xfrm>
            <a:off x="548640" y="6550409"/>
            <a:ext cx="11064240" cy="169277"/>
          </a:xfrm>
          <a:prstGeom prst="rect">
            <a:avLst/>
          </a:prstGeom>
          <a:noFill/>
        </p:spPr>
        <p:txBody>
          <a:bodyPr wrap="square" lIns="0" tIns="0" rIns="0" bIns="0">
            <a:spAutoFit/>
          </a:bodyPr>
          <a:lstStyle/>
          <a:p>
            <a:pPr algn="ctr"/>
            <a:r>
              <a:rPr lang="es-PE" sz="1100" b="1" i="0" noProof="0" dirty="0">
                <a:solidFill>
                  <a:srgbClr val="6E6E6E"/>
                </a:solidFill>
                <a:latin typeface="Calibri"/>
              </a:rPr>
              <a:t>Los mismos tres controladores del Bloque 3, siguiendo ahora la trayectoria qd(t) generada por A*.</a:t>
            </a:r>
          </a:p>
        </p:txBody>
      </p:sp>
      <p:sp>
        <p:nvSpPr>
          <p:cNvPr id="11" name="TextBox 10"/>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4 · PLANEACIÓN AUTÓNOMA (v4) · DETALLE</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Error articular y trayectoria cartesiana — v4</a:t>
            </a:r>
          </a:p>
        </p:txBody>
      </p:sp>
      <p:pic>
        <p:nvPicPr>
          <p:cNvPr id="4" name="Picture 3" descr="v4_ComparacionDeErrorArticular.png"/>
          <p:cNvPicPr>
            <a:picLocks noChangeAspect="1"/>
          </p:cNvPicPr>
          <p:nvPr/>
        </p:nvPicPr>
        <p:blipFill>
          <a:blip r:embed="rId3"/>
          <a:srcRect l="9433" r="6779"/>
          <a:stretch>
            <a:fillRect/>
          </a:stretch>
        </p:blipFill>
        <p:spPr>
          <a:xfrm>
            <a:off x="548640" y="1336628"/>
            <a:ext cx="6325885" cy="3407504"/>
          </a:xfrm>
          <a:prstGeom prst="rect">
            <a:avLst/>
          </a:prstGeom>
        </p:spPr>
      </p:pic>
      <p:sp>
        <p:nvSpPr>
          <p:cNvPr id="5" name="TextBox 4"/>
          <p:cNvSpPr txBox="1"/>
          <p:nvPr/>
        </p:nvSpPr>
        <p:spPr>
          <a:xfrm>
            <a:off x="1006558" y="4744132"/>
            <a:ext cx="5410047" cy="274320"/>
          </a:xfrm>
          <a:prstGeom prst="rect">
            <a:avLst/>
          </a:prstGeom>
          <a:noFill/>
        </p:spPr>
        <p:txBody>
          <a:bodyPr wrap="square" lIns="0" tIns="0" rIns="0" bIns="0">
            <a:spAutoFit/>
          </a:bodyPr>
          <a:lstStyle/>
          <a:p>
            <a:pPr algn="ctr"/>
            <a:r>
              <a:rPr lang="es-PE" sz="1100" b="0" i="1" noProof="0" dirty="0">
                <a:solidFill>
                  <a:srgbClr val="6E6E6E"/>
                </a:solidFill>
                <a:latin typeface="Calibri"/>
              </a:rPr>
              <a:t>Comparación de error articular (v4)</a:t>
            </a:r>
          </a:p>
        </p:txBody>
      </p:sp>
      <p:pic>
        <p:nvPicPr>
          <p:cNvPr id="6" name="Picture 5" descr="v4_TrayectoriaCartesianaDelEfectorFinal.png"/>
          <p:cNvPicPr>
            <a:picLocks noChangeAspect="1"/>
          </p:cNvPicPr>
          <p:nvPr/>
        </p:nvPicPr>
        <p:blipFill>
          <a:blip r:embed="rId4"/>
          <a:srcRect l="37135" r="9797"/>
          <a:stretch>
            <a:fillRect/>
          </a:stretch>
        </p:blipFill>
        <p:spPr>
          <a:xfrm>
            <a:off x="6982798" y="991941"/>
            <a:ext cx="5209202" cy="4430452"/>
          </a:xfrm>
          <a:prstGeom prst="rect">
            <a:avLst/>
          </a:prstGeom>
        </p:spPr>
      </p:pic>
      <p:sp>
        <p:nvSpPr>
          <p:cNvPr id="7" name="TextBox 6"/>
          <p:cNvSpPr txBox="1"/>
          <p:nvPr/>
        </p:nvSpPr>
        <p:spPr>
          <a:xfrm>
            <a:off x="6563512" y="5366010"/>
            <a:ext cx="5410047" cy="274320"/>
          </a:xfrm>
          <a:prstGeom prst="rect">
            <a:avLst/>
          </a:prstGeom>
          <a:noFill/>
        </p:spPr>
        <p:txBody>
          <a:bodyPr wrap="square" lIns="0" tIns="0" rIns="0" bIns="0">
            <a:spAutoFit/>
          </a:bodyPr>
          <a:lstStyle/>
          <a:p>
            <a:pPr algn="ctr"/>
            <a:r>
              <a:rPr lang="es-PE" sz="1100" b="0" i="1" noProof="0" dirty="0">
                <a:solidFill>
                  <a:srgbClr val="6E6E6E"/>
                </a:solidFill>
                <a:latin typeface="Calibri"/>
              </a:rPr>
              <a:t>Trayectoria cartesiana del efector final (v4)</a:t>
            </a:r>
          </a:p>
        </p:txBody>
      </p:sp>
      <p:sp>
        <p:nvSpPr>
          <p:cNvPr id="8" name="TextBox 7"/>
          <p:cNvSpPr txBox="1"/>
          <p:nvPr/>
        </p:nvSpPr>
        <p:spPr>
          <a:xfrm>
            <a:off x="548640" y="6263640"/>
            <a:ext cx="11064240" cy="169277"/>
          </a:xfrm>
          <a:prstGeom prst="rect">
            <a:avLst/>
          </a:prstGeom>
          <a:noFill/>
        </p:spPr>
        <p:txBody>
          <a:bodyPr wrap="square" lIns="0" tIns="0" rIns="0" bIns="0">
            <a:spAutoFit/>
          </a:bodyPr>
          <a:lstStyle/>
          <a:p>
            <a:pPr algn="ctr"/>
            <a:r>
              <a:rPr lang="es-PE" sz="1100" b="1" i="0" noProof="0" dirty="0">
                <a:solidFill>
                  <a:srgbClr val="6E6E6E"/>
                </a:solidFill>
                <a:latin typeface="Calibri"/>
              </a:rPr>
              <a:t>El par calculado mantiene 0.70 s de estabilización también sobre la ruta con obstáculos.</a:t>
            </a:r>
          </a:p>
        </p:txBody>
      </p:sp>
      <p:sp>
        <p:nvSpPr>
          <p:cNvPr id="9" name="TextBox 8"/>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lang="es-PE" sz="1100" b="1" i="0" noProof="0" dirty="0">
                <a:solidFill>
                  <a:srgbClr val="6E6E6E"/>
                </a:solidFill>
                <a:latin typeface="Calibri"/>
              </a:rPr>
              <a:t>4 · PLANEACIÓN AUTÓNOMA (v4) · DETALLE</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lang="es-PE" sz="2700" b="1" i="0" noProof="0" dirty="0">
                <a:solidFill>
                  <a:srgbClr val="990011"/>
                </a:solidFill>
                <a:latin typeface="Cambria"/>
              </a:rPr>
              <a:t>Torque por controlador y por articulación — v4</a:t>
            </a:r>
          </a:p>
        </p:txBody>
      </p:sp>
      <p:pic>
        <p:nvPicPr>
          <p:cNvPr id="4" name="Picture 3" descr="v4_NormaDeTorque.png"/>
          <p:cNvPicPr>
            <a:picLocks noChangeAspect="1"/>
          </p:cNvPicPr>
          <p:nvPr/>
        </p:nvPicPr>
        <p:blipFill>
          <a:blip r:embed="rId3"/>
          <a:stretch>
            <a:fillRect/>
          </a:stretch>
        </p:blipFill>
        <p:spPr>
          <a:xfrm>
            <a:off x="2013273" y="1105142"/>
            <a:ext cx="3197705" cy="2398279"/>
          </a:xfrm>
          <a:prstGeom prst="rect">
            <a:avLst/>
          </a:prstGeom>
        </p:spPr>
      </p:pic>
      <p:sp>
        <p:nvSpPr>
          <p:cNvPr id="5" name="TextBox 4"/>
          <p:cNvSpPr txBox="1"/>
          <p:nvPr/>
        </p:nvSpPr>
        <p:spPr>
          <a:xfrm>
            <a:off x="2013273" y="3549141"/>
            <a:ext cx="2612373" cy="182880"/>
          </a:xfrm>
          <a:prstGeom prst="rect">
            <a:avLst/>
          </a:prstGeom>
          <a:noFill/>
        </p:spPr>
        <p:txBody>
          <a:bodyPr wrap="square" lIns="0" tIns="0" rIns="0" bIns="0">
            <a:spAutoFit/>
          </a:bodyPr>
          <a:lstStyle/>
          <a:p>
            <a:pPr algn="ctr"/>
            <a:r>
              <a:rPr lang="es-PE" sz="1100" b="0" i="1" noProof="0" dirty="0">
                <a:solidFill>
                  <a:srgbClr val="6E6E6E"/>
                </a:solidFill>
                <a:latin typeface="Calibri"/>
              </a:rPr>
              <a:t>Norma de torque por controlador (v4)</a:t>
            </a:r>
          </a:p>
        </p:txBody>
      </p:sp>
      <p:pic>
        <p:nvPicPr>
          <p:cNvPr id="6" name="Picture 5" descr="v4_TorqueJunta1.png"/>
          <p:cNvPicPr>
            <a:picLocks noChangeAspect="1"/>
          </p:cNvPicPr>
          <p:nvPr/>
        </p:nvPicPr>
        <p:blipFill>
          <a:blip r:embed="rId4"/>
          <a:stretch>
            <a:fillRect/>
          </a:stretch>
        </p:blipFill>
        <p:spPr>
          <a:xfrm>
            <a:off x="6431311" y="1078905"/>
            <a:ext cx="3171727" cy="2378796"/>
          </a:xfrm>
          <a:prstGeom prst="rect">
            <a:avLst/>
          </a:prstGeom>
        </p:spPr>
      </p:pic>
      <p:sp>
        <p:nvSpPr>
          <p:cNvPr id="7" name="TextBox 6"/>
          <p:cNvSpPr txBox="1"/>
          <p:nvPr/>
        </p:nvSpPr>
        <p:spPr>
          <a:xfrm>
            <a:off x="6431311" y="3503421"/>
            <a:ext cx="2612373" cy="182880"/>
          </a:xfrm>
          <a:prstGeom prst="rect">
            <a:avLst/>
          </a:prstGeom>
          <a:noFill/>
        </p:spPr>
        <p:txBody>
          <a:bodyPr wrap="square" lIns="0" tIns="0" rIns="0" bIns="0">
            <a:spAutoFit/>
          </a:bodyPr>
          <a:lstStyle/>
          <a:p>
            <a:pPr algn="ctr"/>
            <a:r>
              <a:rPr lang="es-PE" sz="1100" b="0" i="1" noProof="0" dirty="0">
                <a:solidFill>
                  <a:srgbClr val="6E6E6E"/>
                </a:solidFill>
                <a:latin typeface="Calibri"/>
              </a:rPr>
              <a:t>Torque junta 1 (v4)</a:t>
            </a:r>
          </a:p>
        </p:txBody>
      </p:sp>
      <p:pic>
        <p:nvPicPr>
          <p:cNvPr id="8" name="Picture 7" descr="v4_TorqueJunta2.png"/>
          <p:cNvPicPr>
            <a:picLocks noChangeAspect="1"/>
          </p:cNvPicPr>
          <p:nvPr/>
        </p:nvPicPr>
        <p:blipFill>
          <a:blip r:embed="rId5"/>
          <a:stretch>
            <a:fillRect/>
          </a:stretch>
        </p:blipFill>
        <p:spPr>
          <a:xfrm>
            <a:off x="2013273" y="3814860"/>
            <a:ext cx="3197705" cy="2398279"/>
          </a:xfrm>
          <a:prstGeom prst="rect">
            <a:avLst/>
          </a:prstGeom>
        </p:spPr>
      </p:pic>
      <p:sp>
        <p:nvSpPr>
          <p:cNvPr id="9" name="TextBox 8"/>
          <p:cNvSpPr txBox="1"/>
          <p:nvPr/>
        </p:nvSpPr>
        <p:spPr>
          <a:xfrm>
            <a:off x="2305938" y="6116141"/>
            <a:ext cx="2612373" cy="182880"/>
          </a:xfrm>
          <a:prstGeom prst="rect">
            <a:avLst/>
          </a:prstGeom>
          <a:noFill/>
        </p:spPr>
        <p:txBody>
          <a:bodyPr wrap="square" lIns="0" tIns="0" rIns="0" bIns="0">
            <a:spAutoFit/>
          </a:bodyPr>
          <a:lstStyle/>
          <a:p>
            <a:pPr algn="ctr"/>
            <a:r>
              <a:rPr lang="es-PE" sz="1100" b="0" i="1" noProof="0" dirty="0">
                <a:solidFill>
                  <a:srgbClr val="6E6E6E"/>
                </a:solidFill>
                <a:latin typeface="Calibri"/>
              </a:rPr>
              <a:t>Torque junta 2 (v4)</a:t>
            </a:r>
          </a:p>
        </p:txBody>
      </p:sp>
      <p:pic>
        <p:nvPicPr>
          <p:cNvPr id="10" name="Picture 9" descr="v4_TorqueJunta3.png"/>
          <p:cNvPicPr>
            <a:picLocks noChangeAspect="1"/>
          </p:cNvPicPr>
          <p:nvPr/>
        </p:nvPicPr>
        <p:blipFill>
          <a:blip r:embed="rId6"/>
          <a:stretch>
            <a:fillRect/>
          </a:stretch>
        </p:blipFill>
        <p:spPr>
          <a:xfrm>
            <a:off x="6431311" y="3769141"/>
            <a:ext cx="3171727" cy="2378796"/>
          </a:xfrm>
          <a:prstGeom prst="rect">
            <a:avLst/>
          </a:prstGeom>
        </p:spPr>
      </p:pic>
      <p:sp>
        <p:nvSpPr>
          <p:cNvPr id="11" name="TextBox 10"/>
          <p:cNvSpPr txBox="1"/>
          <p:nvPr/>
        </p:nvSpPr>
        <p:spPr>
          <a:xfrm>
            <a:off x="6710987" y="6061277"/>
            <a:ext cx="2612373" cy="182880"/>
          </a:xfrm>
          <a:prstGeom prst="rect">
            <a:avLst/>
          </a:prstGeom>
          <a:noFill/>
        </p:spPr>
        <p:txBody>
          <a:bodyPr wrap="square" lIns="0" tIns="0" rIns="0" bIns="0">
            <a:spAutoFit/>
          </a:bodyPr>
          <a:lstStyle/>
          <a:p>
            <a:pPr algn="ctr"/>
            <a:r>
              <a:rPr lang="es-PE" sz="1100" b="0" i="1" noProof="0" dirty="0">
                <a:solidFill>
                  <a:srgbClr val="6E6E6E"/>
                </a:solidFill>
                <a:latin typeface="Calibri"/>
              </a:rPr>
              <a:t>Torque junta 3 (v4)</a:t>
            </a:r>
          </a:p>
        </p:txBody>
      </p:sp>
      <p:sp>
        <p:nvSpPr>
          <p:cNvPr id="12" name="TextBox 11"/>
          <p:cNvSpPr txBox="1"/>
          <p:nvPr/>
        </p:nvSpPr>
        <p:spPr>
          <a:xfrm>
            <a:off x="601185" y="6576850"/>
            <a:ext cx="11064240" cy="169277"/>
          </a:xfrm>
          <a:prstGeom prst="rect">
            <a:avLst/>
          </a:prstGeom>
          <a:noFill/>
        </p:spPr>
        <p:txBody>
          <a:bodyPr wrap="square" lIns="0" tIns="0" rIns="0" bIns="0">
            <a:spAutoFit/>
          </a:bodyPr>
          <a:lstStyle/>
          <a:p>
            <a:pPr algn="ctr"/>
            <a:r>
              <a:rPr lang="es-PE" sz="1100" b="1" i="0" noProof="0" dirty="0">
                <a:solidFill>
                  <a:srgbClr val="6E6E6E"/>
                </a:solidFill>
                <a:latin typeface="Calibri"/>
              </a:rPr>
              <a:t>Torque máximo notablemente menor del par calculado (4.27 N·m) por la trayectoria A* más suave.</a:t>
            </a:r>
          </a:p>
        </p:txBody>
      </p:sp>
      <p:sp>
        <p:nvSpPr>
          <p:cNvPr id="13" name="TextBox 12"/>
          <p:cNvSpPr txBox="1"/>
          <p:nvPr/>
        </p:nvSpPr>
        <p:spPr>
          <a:xfrm>
            <a:off x="11612880" y="6455664"/>
            <a:ext cx="457200" cy="274320"/>
          </a:xfrm>
          <a:prstGeom prst="rect">
            <a:avLst/>
          </a:prstGeom>
          <a:noFill/>
        </p:spPr>
        <p:txBody>
          <a:bodyPr wrap="square" lIns="0" tIns="0" rIns="0" bIns="0">
            <a:spAutoFit/>
          </a:bodyPr>
          <a:lstStyle/>
          <a:p>
            <a:pPr algn="l"/>
            <a:r>
              <a:rPr lang="es-PE" sz="1000" b="0" i="0" noProof="0" dirty="0">
                <a:solidFill>
                  <a:srgbClr val="6E6E6E"/>
                </a:solidFill>
                <a:latin typeface="Calibr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5">
    <p:bg>
      <p:bgPr>
        <a:solidFill>
          <a:srgbClr val="990011"/>
        </a:solidFill>
        <a:effectLst/>
      </p:bgPr>
    </p:bg>
    <p:spTree>
      <p:nvGrpSpPr>
        <p:cNvPr id="1" name=""/>
        <p:cNvGrpSpPr/>
        <p:nvPr/>
      </p:nvGrpSpPr>
      <p:grpSpPr>
        <a:xfrm>
          <a:off x="0" y="0"/>
          <a:ext cx="0" cy="0"/>
          <a:chOff x="0" y="0"/>
          <a:chExt cx="0" cy="0"/>
        </a:xfrm>
      </p:grpSpPr>
      <p:sp>
        <p:nvSpPr>
          <p:cNvPr id="24" name="Shape 0">
            <a:extLst>
              <a:ext uri="{FF2B5EF4-FFF2-40B4-BE49-F238E27FC236}">
                <a16:creationId xmlns:a16="http://schemas.microsoft.com/office/drawing/2014/main" id="{E867B791-05A1-FC19-C7AF-4EB931893926}"/>
              </a:ext>
            </a:extLst>
          </p:cNvPr>
          <p:cNvSpPr/>
          <p:nvPr/>
        </p:nvSpPr>
        <p:spPr>
          <a:xfrm>
            <a:off x="0" y="0"/>
            <a:ext cx="12191695" cy="6858000"/>
          </a:xfrm>
          <a:prstGeom prst="rect">
            <a:avLst/>
          </a:prstGeom>
          <a:solidFill>
            <a:srgbClr val="600810"/>
          </a:solidFill>
          <a:ln/>
        </p:spPr>
        <p:txBody>
          <a:bodyPr/>
          <a:lstStyle/>
          <a:p>
            <a:endParaRPr lang="es-PE" noProof="0" dirty="0"/>
          </a:p>
        </p:txBody>
      </p:sp>
      <p:sp>
        <p:nvSpPr>
          <p:cNvPr id="3" name="Text 1"/>
          <p:cNvSpPr/>
          <p:nvPr/>
        </p:nvSpPr>
        <p:spPr>
          <a:xfrm>
            <a:off x="822960" y="640080"/>
            <a:ext cx="10058400" cy="365760"/>
          </a:xfrm>
          <a:prstGeom prst="rect">
            <a:avLst/>
          </a:prstGeom>
          <a:noFill/>
          <a:ln/>
        </p:spPr>
        <p:txBody>
          <a:bodyPr wrap="square" rtlCol="0" anchor="ctr"/>
          <a:lstStyle/>
          <a:p>
            <a:pPr marL="0" indent="0">
              <a:buNone/>
            </a:pPr>
            <a:r>
              <a:rPr lang="es-PE" sz="1300" b="1" kern="0" spc="400" noProof="0" dirty="0">
                <a:solidFill>
                  <a:srgbClr val="E8C8CB"/>
                </a:solidFill>
                <a:latin typeface="Calibri" pitchFamily="34" charset="0"/>
                <a:ea typeface="Calibri" pitchFamily="34" charset="-122"/>
                <a:cs typeface="Calibri" pitchFamily="34" charset="-120"/>
              </a:rPr>
              <a:t>CONCLUSIONES Y CIERRE</a:t>
            </a:r>
            <a:endParaRPr lang="es-PE" sz="1300" noProof="0" dirty="0"/>
          </a:p>
        </p:txBody>
      </p:sp>
      <p:sp>
        <p:nvSpPr>
          <p:cNvPr id="4" name="Text 2"/>
          <p:cNvSpPr/>
          <p:nvPr/>
        </p:nvSpPr>
        <p:spPr>
          <a:xfrm>
            <a:off x="822960" y="1051560"/>
            <a:ext cx="7498080" cy="1097280"/>
          </a:xfrm>
          <a:prstGeom prst="rect">
            <a:avLst/>
          </a:prstGeom>
          <a:noFill/>
          <a:ln/>
        </p:spPr>
        <p:txBody>
          <a:bodyPr wrap="square" rtlCol="0" anchor="ctr"/>
          <a:lstStyle/>
          <a:p>
            <a:pPr marL="0" indent="0">
              <a:buNone/>
            </a:pPr>
            <a:r>
              <a:rPr lang="es-PE" sz="2600" b="1" noProof="0" dirty="0">
                <a:solidFill>
                  <a:srgbClr val="FFFFFF"/>
                </a:solidFill>
                <a:latin typeface="Cambria" pitchFamily="34" charset="0"/>
                <a:ea typeface="Cambria" pitchFamily="34" charset="-122"/>
                <a:cs typeface="Cambria" pitchFamily="34" charset="-120"/>
              </a:rPr>
              <a:t>De la cinemática al control con sustento matemático completo</a:t>
            </a:r>
            <a:endParaRPr lang="es-PE" sz="2600" noProof="0" dirty="0"/>
          </a:p>
        </p:txBody>
      </p:sp>
      <p:sp>
        <p:nvSpPr>
          <p:cNvPr id="5" name="Text 3"/>
          <p:cNvSpPr/>
          <p:nvPr/>
        </p:nvSpPr>
        <p:spPr>
          <a:xfrm>
            <a:off x="822960" y="2331720"/>
            <a:ext cx="457200" cy="548640"/>
          </a:xfrm>
          <a:prstGeom prst="rect">
            <a:avLst/>
          </a:prstGeom>
          <a:noFill/>
          <a:ln/>
        </p:spPr>
        <p:txBody>
          <a:bodyPr wrap="square" lIns="0" tIns="0" rIns="0" bIns="0" rtlCol="0" anchor="ctr"/>
          <a:lstStyle/>
          <a:p>
            <a:pPr marL="0" indent="0">
              <a:buNone/>
            </a:pPr>
            <a:r>
              <a:rPr lang="es-PE" sz="2200" b="1" noProof="0" dirty="0">
                <a:solidFill>
                  <a:srgbClr val="FF8A96"/>
                </a:solidFill>
                <a:latin typeface="Cambria" pitchFamily="34" charset="0"/>
                <a:ea typeface="Cambria" pitchFamily="34" charset="-122"/>
                <a:cs typeface="Cambria" pitchFamily="34" charset="-120"/>
              </a:rPr>
              <a:t>1</a:t>
            </a:r>
            <a:endParaRPr lang="es-PE" sz="2200" noProof="0" dirty="0"/>
          </a:p>
        </p:txBody>
      </p:sp>
      <p:sp>
        <p:nvSpPr>
          <p:cNvPr id="6" name="Text 4"/>
          <p:cNvSpPr/>
          <p:nvPr/>
        </p:nvSpPr>
        <p:spPr>
          <a:xfrm>
            <a:off x="1371600" y="2331720"/>
            <a:ext cx="6309360" cy="868680"/>
          </a:xfrm>
          <a:prstGeom prst="rect">
            <a:avLst/>
          </a:prstGeom>
          <a:noFill/>
          <a:ln/>
        </p:spPr>
        <p:txBody>
          <a:bodyPr wrap="square" lIns="0" tIns="0" rIns="0" bIns="0" rtlCol="0" anchor="t"/>
          <a:lstStyle/>
          <a:p>
            <a:pPr marL="0" indent="0">
              <a:buNone/>
            </a:pPr>
            <a:r>
              <a:rPr lang="es-PE" noProof="0" dirty="0">
                <a:solidFill>
                  <a:srgbClr val="FFFFFF"/>
                </a:solidFill>
                <a:latin typeface="Calibri" pitchFamily="34" charset="0"/>
                <a:ea typeface="Calibri" pitchFamily="34" charset="-122"/>
                <a:cs typeface="Calibri" pitchFamily="34" charset="-120"/>
              </a:rPr>
              <a:t>Modelo dinámico M(q)q̈+C q̇+G=τ obtenido por Jacobianos + Christoffel, sin Lagrange, verificado simétrico y definido positivo.</a:t>
            </a:r>
            <a:endParaRPr lang="es-PE" noProof="0" dirty="0"/>
          </a:p>
        </p:txBody>
      </p:sp>
      <p:sp>
        <p:nvSpPr>
          <p:cNvPr id="7" name="Text 5"/>
          <p:cNvSpPr/>
          <p:nvPr/>
        </p:nvSpPr>
        <p:spPr>
          <a:xfrm>
            <a:off x="822960" y="3264408"/>
            <a:ext cx="457200" cy="548640"/>
          </a:xfrm>
          <a:prstGeom prst="rect">
            <a:avLst/>
          </a:prstGeom>
          <a:noFill/>
          <a:ln/>
        </p:spPr>
        <p:txBody>
          <a:bodyPr wrap="square" lIns="0" tIns="0" rIns="0" bIns="0" rtlCol="0" anchor="ctr"/>
          <a:lstStyle/>
          <a:p>
            <a:pPr marL="0" indent="0">
              <a:buNone/>
            </a:pPr>
            <a:r>
              <a:rPr lang="es-PE" sz="2200" b="1" noProof="0" dirty="0">
                <a:solidFill>
                  <a:srgbClr val="FF8A96"/>
                </a:solidFill>
                <a:latin typeface="Cambria" pitchFamily="34" charset="0"/>
                <a:ea typeface="Cambria" pitchFamily="34" charset="-122"/>
                <a:cs typeface="Cambria" pitchFamily="34" charset="-120"/>
              </a:rPr>
              <a:t>2</a:t>
            </a:r>
            <a:endParaRPr lang="es-PE" sz="2200" noProof="0" dirty="0"/>
          </a:p>
        </p:txBody>
      </p:sp>
      <p:sp>
        <p:nvSpPr>
          <p:cNvPr id="8" name="Text 6"/>
          <p:cNvSpPr/>
          <p:nvPr/>
        </p:nvSpPr>
        <p:spPr>
          <a:xfrm>
            <a:off x="1371600" y="3264408"/>
            <a:ext cx="6309360" cy="868680"/>
          </a:xfrm>
          <a:prstGeom prst="rect">
            <a:avLst/>
          </a:prstGeom>
          <a:noFill/>
          <a:ln/>
        </p:spPr>
        <p:txBody>
          <a:bodyPr wrap="square" lIns="0" tIns="0" rIns="0" bIns="0" rtlCol="0" anchor="t"/>
          <a:lstStyle/>
          <a:p>
            <a:pPr marL="0" indent="0">
              <a:buNone/>
            </a:pPr>
            <a:r>
              <a:rPr lang="es-PE" noProof="0" dirty="0">
                <a:solidFill>
                  <a:srgbClr val="FFFFFF"/>
                </a:solidFill>
                <a:latin typeface="Calibri" pitchFamily="34" charset="0"/>
                <a:ea typeface="Calibri" pitchFamily="34" charset="-122"/>
                <a:cs typeface="Calibri" pitchFamily="34" charset="-120"/>
              </a:rPr>
              <a:t>Los 3 controladores validados en Simulink y en MATLAB puro (&lt;1% de diferencia); cada uno con su prueba de estabilidad.</a:t>
            </a:r>
            <a:endParaRPr lang="es-PE" noProof="0" dirty="0"/>
          </a:p>
        </p:txBody>
      </p:sp>
      <p:sp>
        <p:nvSpPr>
          <p:cNvPr id="9" name="Text 7"/>
          <p:cNvSpPr/>
          <p:nvPr/>
        </p:nvSpPr>
        <p:spPr>
          <a:xfrm>
            <a:off x="822960" y="4197096"/>
            <a:ext cx="457200" cy="548640"/>
          </a:xfrm>
          <a:prstGeom prst="rect">
            <a:avLst/>
          </a:prstGeom>
          <a:noFill/>
          <a:ln/>
        </p:spPr>
        <p:txBody>
          <a:bodyPr wrap="square" lIns="0" tIns="0" rIns="0" bIns="0" rtlCol="0" anchor="ctr"/>
          <a:lstStyle/>
          <a:p>
            <a:pPr marL="0" indent="0">
              <a:buNone/>
            </a:pPr>
            <a:r>
              <a:rPr lang="es-PE" sz="2200" b="1" noProof="0" dirty="0">
                <a:solidFill>
                  <a:srgbClr val="FF8A96"/>
                </a:solidFill>
                <a:latin typeface="Cambria" pitchFamily="34" charset="0"/>
                <a:ea typeface="Cambria" pitchFamily="34" charset="-122"/>
                <a:cs typeface="Cambria" pitchFamily="34" charset="-120"/>
              </a:rPr>
              <a:t>3</a:t>
            </a:r>
            <a:endParaRPr lang="es-PE" sz="2200" noProof="0" dirty="0"/>
          </a:p>
        </p:txBody>
      </p:sp>
      <p:sp>
        <p:nvSpPr>
          <p:cNvPr id="10" name="Text 8"/>
          <p:cNvSpPr/>
          <p:nvPr/>
        </p:nvSpPr>
        <p:spPr>
          <a:xfrm>
            <a:off x="1371600" y="4197096"/>
            <a:ext cx="6309360" cy="868680"/>
          </a:xfrm>
          <a:prstGeom prst="rect">
            <a:avLst/>
          </a:prstGeom>
          <a:noFill/>
          <a:ln/>
        </p:spPr>
        <p:txBody>
          <a:bodyPr wrap="square" lIns="0" tIns="0" rIns="0" bIns="0" rtlCol="0" anchor="t"/>
          <a:lstStyle/>
          <a:p>
            <a:pPr marL="0" indent="0">
              <a:buNone/>
            </a:pPr>
            <a:r>
              <a:rPr lang="es-PE" noProof="0" dirty="0">
                <a:solidFill>
                  <a:srgbClr val="FFFFFF"/>
                </a:solidFill>
                <a:latin typeface="Calibri" pitchFamily="34" charset="0"/>
                <a:ea typeface="Calibri" pitchFamily="34" charset="-122"/>
                <a:cs typeface="Calibri" pitchFamily="34" charset="-120"/>
              </a:rPr>
              <a:t>El par calculado es el más eficiente: reduce a </a:t>
            </a:r>
            <a:r>
              <a:rPr lang="es-PE" noProof="0" dirty="0" err="1">
                <a:solidFill>
                  <a:srgbClr val="FFFFFF"/>
                </a:solidFill>
                <a:latin typeface="Calibri" pitchFamily="34" charset="0"/>
                <a:ea typeface="Calibri" pitchFamily="34" charset="-122"/>
                <a:cs typeface="Calibri" pitchFamily="34" charset="-120"/>
              </a:rPr>
              <a:t>ë+Kd·ė+Kp·e</a:t>
            </a:r>
            <a:r>
              <a:rPr lang="es-PE" noProof="0" dirty="0">
                <a:solidFill>
                  <a:srgbClr val="FFFFFF"/>
                </a:solidFill>
                <a:latin typeface="Calibri" pitchFamily="34" charset="0"/>
                <a:ea typeface="Calibri" pitchFamily="34" charset="-122"/>
                <a:cs typeface="Calibri" pitchFamily="34" charset="-120"/>
              </a:rPr>
              <a:t>=0 y gana en tiempo de estabilización y torque máximo (el torque RMS es prácticamente igual en los tres).</a:t>
            </a:r>
            <a:endParaRPr lang="es-PE" noProof="0" dirty="0"/>
          </a:p>
        </p:txBody>
      </p:sp>
      <p:sp>
        <p:nvSpPr>
          <p:cNvPr id="11" name="Text 9"/>
          <p:cNvSpPr/>
          <p:nvPr/>
        </p:nvSpPr>
        <p:spPr>
          <a:xfrm>
            <a:off x="822960" y="5129784"/>
            <a:ext cx="457200" cy="548640"/>
          </a:xfrm>
          <a:prstGeom prst="rect">
            <a:avLst/>
          </a:prstGeom>
          <a:noFill/>
          <a:ln/>
        </p:spPr>
        <p:txBody>
          <a:bodyPr wrap="square" lIns="0" tIns="0" rIns="0" bIns="0" rtlCol="0" anchor="ctr"/>
          <a:lstStyle/>
          <a:p>
            <a:pPr marL="0" indent="0">
              <a:buNone/>
            </a:pPr>
            <a:r>
              <a:rPr lang="es-PE" sz="2200" b="1" noProof="0" dirty="0">
                <a:solidFill>
                  <a:srgbClr val="FF8A96"/>
                </a:solidFill>
                <a:latin typeface="Cambria" pitchFamily="34" charset="0"/>
                <a:ea typeface="Cambria" pitchFamily="34" charset="-122"/>
                <a:cs typeface="Cambria" pitchFamily="34" charset="-120"/>
              </a:rPr>
              <a:t>4</a:t>
            </a:r>
            <a:endParaRPr lang="es-PE" sz="2200" noProof="0" dirty="0"/>
          </a:p>
        </p:txBody>
      </p:sp>
      <p:sp>
        <p:nvSpPr>
          <p:cNvPr id="12" name="Text 10"/>
          <p:cNvSpPr/>
          <p:nvPr/>
        </p:nvSpPr>
        <p:spPr>
          <a:xfrm>
            <a:off x="1371600" y="5129784"/>
            <a:ext cx="6309360" cy="868680"/>
          </a:xfrm>
          <a:prstGeom prst="rect">
            <a:avLst/>
          </a:prstGeom>
          <a:noFill/>
          <a:ln/>
        </p:spPr>
        <p:txBody>
          <a:bodyPr wrap="square" lIns="0" tIns="0" rIns="0" bIns="0" rtlCol="0" anchor="t"/>
          <a:lstStyle/>
          <a:p>
            <a:pPr marL="0" indent="0">
              <a:buNone/>
            </a:pPr>
            <a:r>
              <a:rPr lang="es-PE" noProof="0" dirty="0">
                <a:solidFill>
                  <a:srgbClr val="FFFFFF"/>
                </a:solidFill>
                <a:latin typeface="Calibri" pitchFamily="34" charset="0"/>
                <a:ea typeface="Calibri" pitchFamily="34" charset="-122"/>
                <a:cs typeface="Calibri" pitchFamily="34" charset="-120"/>
              </a:rPr>
              <a:t>Planeación A* integrada: ruta libre de obstáculos convertida a trayectoria articular seguida sin perder precisión.</a:t>
            </a:r>
            <a:endParaRPr lang="es-PE" noProof="0" dirty="0"/>
          </a:p>
        </p:txBody>
      </p:sp>
      <p:sp>
        <p:nvSpPr>
          <p:cNvPr id="13" name="Text 11"/>
          <p:cNvSpPr/>
          <p:nvPr/>
        </p:nvSpPr>
        <p:spPr>
          <a:xfrm>
            <a:off x="8427906" y="2286000"/>
            <a:ext cx="3291840" cy="320040"/>
          </a:xfrm>
          <a:prstGeom prst="rect">
            <a:avLst/>
          </a:prstGeom>
          <a:noFill/>
          <a:ln/>
        </p:spPr>
        <p:txBody>
          <a:bodyPr wrap="square" rtlCol="0" anchor="ctr"/>
          <a:lstStyle/>
          <a:p>
            <a:pPr marL="0" indent="0">
              <a:buNone/>
            </a:pPr>
            <a:r>
              <a:rPr lang="es-PE" sz="1200" b="1" kern="0" spc="300" noProof="0" dirty="0">
                <a:solidFill>
                  <a:srgbClr val="E8C8CB"/>
                </a:solidFill>
                <a:latin typeface="Calibri" pitchFamily="34" charset="0"/>
                <a:ea typeface="Calibri" pitchFamily="34" charset="-122"/>
                <a:cs typeface="Calibri" pitchFamily="34" charset="-120"/>
              </a:rPr>
              <a:t>LAS CIFRAS</a:t>
            </a:r>
            <a:endParaRPr lang="es-PE" sz="1200" noProof="0" dirty="0"/>
          </a:p>
        </p:txBody>
      </p:sp>
      <p:sp>
        <p:nvSpPr>
          <p:cNvPr id="14" name="Text 12"/>
          <p:cNvSpPr/>
          <p:nvPr/>
        </p:nvSpPr>
        <p:spPr>
          <a:xfrm>
            <a:off x="8427906" y="2697480"/>
            <a:ext cx="3383280" cy="365760"/>
          </a:xfrm>
          <a:prstGeom prst="rect">
            <a:avLst/>
          </a:prstGeom>
          <a:noFill/>
          <a:ln/>
        </p:spPr>
        <p:txBody>
          <a:bodyPr wrap="square" lIns="0" tIns="0" rIns="0" bIns="0" rtlCol="0" anchor="ctr"/>
          <a:lstStyle/>
          <a:p>
            <a:pPr marL="0" indent="0">
              <a:buNone/>
            </a:pPr>
            <a:r>
              <a:rPr lang="es-PE" sz="3600" b="1" noProof="0" dirty="0">
                <a:solidFill>
                  <a:srgbClr val="FFFFFF"/>
                </a:solidFill>
                <a:latin typeface="Cambria" pitchFamily="34" charset="0"/>
                <a:ea typeface="Cambria" pitchFamily="34" charset="-122"/>
                <a:cs typeface="Cambria" pitchFamily="34" charset="-120"/>
              </a:rPr>
              <a:t>0.70 s</a:t>
            </a:r>
            <a:endParaRPr lang="es-PE" sz="3600" noProof="0" dirty="0"/>
          </a:p>
        </p:txBody>
      </p:sp>
      <p:sp>
        <p:nvSpPr>
          <p:cNvPr id="15" name="Text 13"/>
          <p:cNvSpPr/>
          <p:nvPr/>
        </p:nvSpPr>
        <p:spPr>
          <a:xfrm>
            <a:off x="8427906" y="3063240"/>
            <a:ext cx="3383280" cy="274320"/>
          </a:xfrm>
          <a:prstGeom prst="rect">
            <a:avLst/>
          </a:prstGeom>
          <a:noFill/>
          <a:ln/>
        </p:spPr>
        <p:txBody>
          <a:bodyPr wrap="square" lIns="0" tIns="0" rIns="0" bIns="0" rtlCol="0" anchor="ctr"/>
          <a:lstStyle/>
          <a:p>
            <a:pPr marL="0" indent="0">
              <a:buNone/>
            </a:pPr>
            <a:r>
              <a:rPr lang="es-PE" sz="1200" noProof="0" dirty="0">
                <a:solidFill>
                  <a:srgbClr val="F0D5D8"/>
                </a:solidFill>
                <a:latin typeface="Calibri" pitchFamily="34" charset="0"/>
                <a:ea typeface="Calibri" pitchFamily="34" charset="-122"/>
                <a:cs typeface="Calibri" pitchFamily="34" charset="-120"/>
              </a:rPr>
              <a:t>estabilización — par calculado</a:t>
            </a:r>
            <a:endParaRPr lang="es-PE" sz="1200" noProof="0" dirty="0"/>
          </a:p>
        </p:txBody>
      </p:sp>
      <p:sp>
        <p:nvSpPr>
          <p:cNvPr id="16" name="Text 14"/>
          <p:cNvSpPr/>
          <p:nvPr/>
        </p:nvSpPr>
        <p:spPr>
          <a:xfrm>
            <a:off x="8427906" y="3520440"/>
            <a:ext cx="3383280" cy="365760"/>
          </a:xfrm>
          <a:prstGeom prst="rect">
            <a:avLst/>
          </a:prstGeom>
          <a:noFill/>
          <a:ln/>
        </p:spPr>
        <p:txBody>
          <a:bodyPr wrap="square" lIns="0" tIns="0" rIns="0" bIns="0" rtlCol="0" anchor="ctr"/>
          <a:lstStyle/>
          <a:p>
            <a:pPr marL="0" indent="0">
              <a:buNone/>
            </a:pPr>
            <a:r>
              <a:rPr lang="es-PE" sz="3600" b="1" noProof="0" dirty="0">
                <a:solidFill>
                  <a:srgbClr val="FFFFFF"/>
                </a:solidFill>
                <a:latin typeface="Cambria" pitchFamily="34" charset="0"/>
                <a:ea typeface="Cambria" pitchFamily="34" charset="-122"/>
                <a:cs typeface="Cambria" pitchFamily="34" charset="-120"/>
              </a:rPr>
              <a:t>10.03 N·m</a:t>
            </a:r>
            <a:endParaRPr lang="es-PE" sz="3600" noProof="0" dirty="0"/>
          </a:p>
        </p:txBody>
      </p:sp>
      <p:sp>
        <p:nvSpPr>
          <p:cNvPr id="17" name="Text 15"/>
          <p:cNvSpPr/>
          <p:nvPr/>
        </p:nvSpPr>
        <p:spPr>
          <a:xfrm>
            <a:off x="8427906" y="3886200"/>
            <a:ext cx="3383280" cy="274320"/>
          </a:xfrm>
          <a:prstGeom prst="rect">
            <a:avLst/>
          </a:prstGeom>
          <a:noFill/>
          <a:ln/>
        </p:spPr>
        <p:txBody>
          <a:bodyPr wrap="square" lIns="0" tIns="0" rIns="0" bIns="0" rtlCol="0" anchor="ctr"/>
          <a:lstStyle/>
          <a:p>
            <a:pPr marL="0" indent="0">
              <a:buNone/>
            </a:pPr>
            <a:r>
              <a:rPr lang="es-PE" sz="1200" noProof="0" dirty="0">
                <a:solidFill>
                  <a:srgbClr val="F0D5D8"/>
                </a:solidFill>
                <a:latin typeface="Calibri" pitchFamily="34" charset="0"/>
                <a:ea typeface="Calibri" pitchFamily="34" charset="-122"/>
                <a:cs typeface="Calibri" pitchFamily="34" charset="-120"/>
              </a:rPr>
              <a:t>torque máximo — la mitad</a:t>
            </a:r>
            <a:endParaRPr lang="es-PE" sz="1200" noProof="0" dirty="0"/>
          </a:p>
        </p:txBody>
      </p:sp>
      <p:sp>
        <p:nvSpPr>
          <p:cNvPr id="18" name="Text 16"/>
          <p:cNvSpPr/>
          <p:nvPr/>
        </p:nvSpPr>
        <p:spPr>
          <a:xfrm>
            <a:off x="8427906" y="4343400"/>
            <a:ext cx="3383280" cy="365760"/>
          </a:xfrm>
          <a:prstGeom prst="rect">
            <a:avLst/>
          </a:prstGeom>
          <a:noFill/>
          <a:ln/>
        </p:spPr>
        <p:txBody>
          <a:bodyPr wrap="square" lIns="0" tIns="0" rIns="0" bIns="0" rtlCol="0" anchor="ctr"/>
          <a:lstStyle/>
          <a:p>
            <a:pPr marL="0" indent="0">
              <a:buNone/>
            </a:pPr>
            <a:r>
              <a:rPr lang="es-PE" sz="3600" b="1" noProof="0" dirty="0">
                <a:solidFill>
                  <a:srgbClr val="FFFFFF"/>
                </a:solidFill>
                <a:latin typeface="Cambria" pitchFamily="34" charset="0"/>
                <a:ea typeface="Cambria" pitchFamily="34" charset="-122"/>
                <a:cs typeface="Cambria" pitchFamily="34" charset="-120"/>
              </a:rPr>
              <a:t>Ṁ−2C ≈ 0</a:t>
            </a:r>
            <a:endParaRPr lang="es-PE" sz="3600" noProof="0" dirty="0"/>
          </a:p>
        </p:txBody>
      </p:sp>
      <p:sp>
        <p:nvSpPr>
          <p:cNvPr id="19" name="Text 17"/>
          <p:cNvSpPr/>
          <p:nvPr/>
        </p:nvSpPr>
        <p:spPr>
          <a:xfrm>
            <a:off x="8427906" y="4709160"/>
            <a:ext cx="3383280" cy="274320"/>
          </a:xfrm>
          <a:prstGeom prst="rect">
            <a:avLst/>
          </a:prstGeom>
          <a:noFill/>
          <a:ln/>
        </p:spPr>
        <p:txBody>
          <a:bodyPr wrap="square" lIns="0" tIns="0" rIns="0" bIns="0" rtlCol="0" anchor="ctr"/>
          <a:lstStyle/>
          <a:p>
            <a:pPr marL="0" indent="0">
              <a:buNone/>
            </a:pPr>
            <a:r>
              <a:rPr lang="es-PE" sz="1200" noProof="0" dirty="0">
                <a:solidFill>
                  <a:srgbClr val="F0D5D8"/>
                </a:solidFill>
                <a:latin typeface="Calibri" pitchFamily="34" charset="0"/>
                <a:ea typeface="Calibri" pitchFamily="34" charset="-122"/>
                <a:cs typeface="Calibri" pitchFamily="34" charset="-120"/>
              </a:rPr>
              <a:t>antisimetría — verificada</a:t>
            </a:r>
            <a:endParaRPr lang="es-PE" sz="1200" noProof="0" dirty="0"/>
          </a:p>
        </p:txBody>
      </p:sp>
      <p:sp>
        <p:nvSpPr>
          <p:cNvPr id="20" name="Text 18"/>
          <p:cNvSpPr/>
          <p:nvPr/>
        </p:nvSpPr>
        <p:spPr>
          <a:xfrm>
            <a:off x="8427906" y="5166360"/>
            <a:ext cx="3383280" cy="365760"/>
          </a:xfrm>
          <a:prstGeom prst="rect">
            <a:avLst/>
          </a:prstGeom>
          <a:noFill/>
          <a:ln/>
        </p:spPr>
        <p:txBody>
          <a:bodyPr wrap="square" lIns="0" tIns="0" rIns="0" bIns="0" rtlCol="0" anchor="ctr"/>
          <a:lstStyle/>
          <a:p>
            <a:pPr marL="0" indent="0">
              <a:buNone/>
            </a:pPr>
            <a:r>
              <a:rPr lang="es-PE" sz="3600" b="1" noProof="0" dirty="0">
                <a:solidFill>
                  <a:srgbClr val="FFFFFF"/>
                </a:solidFill>
                <a:latin typeface="Cambria" pitchFamily="34" charset="0"/>
                <a:ea typeface="Cambria" pitchFamily="34" charset="-122"/>
                <a:cs typeface="Cambria" pitchFamily="34" charset="-120"/>
              </a:rPr>
              <a:t>&lt; 1 %</a:t>
            </a:r>
            <a:endParaRPr lang="es-PE" sz="3600" noProof="0" dirty="0"/>
          </a:p>
        </p:txBody>
      </p:sp>
      <p:sp>
        <p:nvSpPr>
          <p:cNvPr id="21" name="Text 19"/>
          <p:cNvSpPr/>
          <p:nvPr/>
        </p:nvSpPr>
        <p:spPr>
          <a:xfrm>
            <a:off x="8427906" y="5532120"/>
            <a:ext cx="3383280" cy="274320"/>
          </a:xfrm>
          <a:prstGeom prst="rect">
            <a:avLst/>
          </a:prstGeom>
          <a:noFill/>
          <a:ln/>
        </p:spPr>
        <p:txBody>
          <a:bodyPr wrap="square" lIns="0" tIns="0" rIns="0" bIns="0" rtlCol="0" anchor="ctr"/>
          <a:lstStyle/>
          <a:p>
            <a:pPr marL="0" indent="0">
              <a:buNone/>
            </a:pPr>
            <a:r>
              <a:rPr lang="es-PE" sz="1200" noProof="0" dirty="0">
                <a:solidFill>
                  <a:srgbClr val="F0D5D8"/>
                </a:solidFill>
                <a:latin typeface="Calibri" pitchFamily="34" charset="0"/>
                <a:ea typeface="Calibri" pitchFamily="34" charset="-122"/>
                <a:cs typeface="Calibri" pitchFamily="34" charset="-120"/>
              </a:rPr>
              <a:t>Simulink vs. MATLAB</a:t>
            </a:r>
            <a:endParaRPr lang="es-PE" sz="1200" noProof="0" dirty="0"/>
          </a:p>
        </p:txBody>
      </p:sp>
      <p:sp>
        <p:nvSpPr>
          <p:cNvPr id="22" name="Text 20"/>
          <p:cNvSpPr/>
          <p:nvPr/>
        </p:nvSpPr>
        <p:spPr>
          <a:xfrm>
            <a:off x="822960" y="6309360"/>
            <a:ext cx="10058400" cy="274320"/>
          </a:xfrm>
          <a:prstGeom prst="rect">
            <a:avLst/>
          </a:prstGeom>
          <a:noFill/>
          <a:ln/>
        </p:spPr>
        <p:txBody>
          <a:bodyPr wrap="square" rtlCol="0" anchor="ctr"/>
          <a:lstStyle/>
          <a:p>
            <a:pPr marL="0" indent="0">
              <a:buNone/>
            </a:pPr>
            <a:r>
              <a:rPr lang="es-PE" sz="1100" i="1" noProof="0" dirty="0">
                <a:solidFill>
                  <a:srgbClr val="E8C8CB"/>
                </a:solidFill>
                <a:latin typeface="Calibri" pitchFamily="34" charset="0"/>
                <a:ea typeface="Calibri" pitchFamily="34" charset="-122"/>
                <a:cs typeface="Calibri" pitchFamily="34" charset="-120"/>
              </a:rPr>
              <a:t>Repositorio: github.com/webconceptos/Robotica3GDL</a:t>
            </a:r>
            <a:endParaRPr lang="es-PE" sz="1100" noProof="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990011"/>
        </a:solidFill>
        <a:effectLst/>
      </p:bgPr>
    </p:bg>
    <p:spTree>
      <p:nvGrpSpPr>
        <p:cNvPr id="1" name="">
          <a:extLst>
            <a:ext uri="{FF2B5EF4-FFF2-40B4-BE49-F238E27FC236}">
              <a16:creationId xmlns:a16="http://schemas.microsoft.com/office/drawing/2014/main" id="{637BFAEC-3730-5E4F-7BA9-0CA82EA7ED9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5FEC72A-824D-C4C2-A953-5DEF4141163E}"/>
              </a:ext>
            </a:extLst>
          </p:cNvPr>
          <p:cNvSpPr/>
          <p:nvPr/>
        </p:nvSpPr>
        <p:spPr>
          <a:xfrm>
            <a:off x="0" y="0"/>
            <a:ext cx="12191695" cy="6858000"/>
          </a:xfrm>
          <a:prstGeom prst="rect">
            <a:avLst/>
          </a:prstGeom>
          <a:solidFill>
            <a:srgbClr val="600810"/>
          </a:solidFill>
          <a:ln/>
        </p:spPr>
        <p:txBody>
          <a:bodyPr/>
          <a:lstStyle/>
          <a:p>
            <a:endParaRPr lang="es-PE" noProof="0" dirty="0"/>
          </a:p>
        </p:txBody>
      </p:sp>
      <p:sp>
        <p:nvSpPr>
          <p:cNvPr id="3" name="Text 1">
            <a:extLst>
              <a:ext uri="{FF2B5EF4-FFF2-40B4-BE49-F238E27FC236}">
                <a16:creationId xmlns:a16="http://schemas.microsoft.com/office/drawing/2014/main" id="{A6146F85-A51E-A17B-9FA8-5CC8B78E6254}"/>
              </a:ext>
            </a:extLst>
          </p:cNvPr>
          <p:cNvSpPr/>
          <p:nvPr/>
        </p:nvSpPr>
        <p:spPr>
          <a:xfrm>
            <a:off x="261100" y="269363"/>
            <a:ext cx="10058400" cy="365760"/>
          </a:xfrm>
          <a:prstGeom prst="rect">
            <a:avLst/>
          </a:prstGeom>
          <a:noFill/>
          <a:ln/>
        </p:spPr>
        <p:txBody>
          <a:bodyPr wrap="square" rtlCol="0" anchor="ctr"/>
          <a:lstStyle/>
          <a:p>
            <a:pPr marL="0" indent="0">
              <a:buNone/>
            </a:pPr>
            <a:r>
              <a:rPr lang="es-PE" sz="1300" b="1" kern="0" spc="400" noProof="0" dirty="0">
                <a:solidFill>
                  <a:srgbClr val="E8C8CB"/>
                </a:solidFill>
                <a:latin typeface="Calibri" pitchFamily="34" charset="0"/>
                <a:ea typeface="Calibri" pitchFamily="34" charset="-122"/>
                <a:cs typeface="Calibri" pitchFamily="34" charset="-120"/>
              </a:rPr>
              <a:t>Repositorio</a:t>
            </a:r>
            <a:endParaRPr lang="es-PE" sz="1300" noProof="0" dirty="0"/>
          </a:p>
        </p:txBody>
      </p:sp>
      <p:sp>
        <p:nvSpPr>
          <p:cNvPr id="4" name="Text 2">
            <a:extLst>
              <a:ext uri="{FF2B5EF4-FFF2-40B4-BE49-F238E27FC236}">
                <a16:creationId xmlns:a16="http://schemas.microsoft.com/office/drawing/2014/main" id="{D0CBA6B6-42EE-0E1B-950F-453586D30211}"/>
              </a:ext>
            </a:extLst>
          </p:cNvPr>
          <p:cNvSpPr/>
          <p:nvPr/>
        </p:nvSpPr>
        <p:spPr>
          <a:xfrm>
            <a:off x="1957698" y="128530"/>
            <a:ext cx="9731198" cy="633470"/>
          </a:xfrm>
          <a:prstGeom prst="rect">
            <a:avLst/>
          </a:prstGeom>
          <a:noFill/>
          <a:ln/>
        </p:spPr>
        <p:txBody>
          <a:bodyPr wrap="square" rtlCol="0" anchor="ctr"/>
          <a:lstStyle/>
          <a:p>
            <a:r>
              <a:rPr lang="es-PE" sz="2600" b="1" dirty="0">
                <a:solidFill>
                  <a:srgbClr val="FFFFFF"/>
                </a:solidFill>
                <a:latin typeface="Cambria" pitchFamily="34" charset="0"/>
                <a:ea typeface="Cambria" pitchFamily="34" charset="-122"/>
                <a:cs typeface="Cambria" pitchFamily="34" charset="-120"/>
              </a:rPr>
              <a:t>https://github.com/webconceptos/Robotica3GDL</a:t>
            </a:r>
            <a:endParaRPr lang="es-PE" sz="2600" noProof="0" dirty="0"/>
          </a:p>
        </p:txBody>
      </p:sp>
      <p:pic>
        <p:nvPicPr>
          <p:cNvPr id="5" name="Picture 4" descr="repo_screenshot_cropped.png"/>
          <p:cNvPicPr>
            <a:picLocks noChangeAspect="1"/>
          </p:cNvPicPr>
          <p:nvPr/>
        </p:nvPicPr>
        <p:blipFill>
          <a:blip r:embed="rId4"/>
          <a:stretch>
            <a:fillRect/>
          </a:stretch>
        </p:blipFill>
        <p:spPr>
          <a:xfrm>
            <a:off x="-305" y="902833"/>
            <a:ext cx="12192000" cy="5113942"/>
          </a:xfrm>
          <a:prstGeom prst="rect">
            <a:avLst/>
          </a:prstGeom>
        </p:spPr>
      </p:pic>
    </p:spTree>
    <p:extLst>
      <p:ext uri="{BB962C8B-B14F-4D97-AF65-F5344CB8AC3E}">
        <p14:creationId xmlns:p14="http://schemas.microsoft.com/office/powerpoint/2010/main" val="38802767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106</TotalTime>
  <Words>5767</Words>
  <Application>Microsoft Office PowerPoint</Application>
  <PresentationFormat>Panorámica</PresentationFormat>
  <Paragraphs>403</Paragraphs>
  <Slides>31</Slides>
  <Notes>31</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31</vt:i4>
      </vt:variant>
    </vt:vector>
  </HeadingPairs>
  <TitlesOfParts>
    <vt:vector size="37" baseType="lpstr">
      <vt:lpstr>Arial</vt:lpstr>
      <vt:lpstr>Arial Black</vt:lpstr>
      <vt:lpstr>Calibri</vt:lpstr>
      <vt:lpstr>Cambria</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de un Robot Antropomórfico de 3 GDL</dc:title>
  <dc:subject>Trabajo Final - Robótica y Sistemas Autónomos</dc:subject>
  <dc:creator>Fernando García Atúncar</dc:creator>
  <dc:description/>
  <cp:lastModifiedBy>Fernando García Atúncar</cp:lastModifiedBy>
  <cp:revision>7</cp:revision>
  <dcterms:created xsi:type="dcterms:W3CDTF">2026-08-03T01:51:20Z</dcterms:created>
  <dcterms:modified xsi:type="dcterms:W3CDTF">2026-08-05T05:36:09Z</dcterms:modified>
</cp:coreProperties>
</file>